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86" r:id="rId9"/>
    <p:sldId id="287" r:id="rId10"/>
    <p:sldId id="288" r:id="rId11"/>
    <p:sldId id="264" r:id="rId12"/>
    <p:sldId id="294" r:id="rId13"/>
    <p:sldId id="296" r:id="rId14"/>
    <p:sldId id="265" r:id="rId15"/>
    <p:sldId id="295" r:id="rId16"/>
    <p:sldId id="289" r:id="rId17"/>
    <p:sldId id="266" r:id="rId18"/>
    <p:sldId id="292" r:id="rId19"/>
    <p:sldId id="267" r:id="rId20"/>
    <p:sldId id="268" r:id="rId21"/>
    <p:sldId id="297" r:id="rId22"/>
    <p:sldId id="284" r:id="rId23"/>
    <p:sldId id="270" r:id="rId24"/>
    <p:sldId id="290" r:id="rId25"/>
    <p:sldId id="271" r:id="rId26"/>
    <p:sldId id="272" r:id="rId27"/>
    <p:sldId id="293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99" r:id="rId40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09" autoAdjust="0"/>
    <p:restoredTop sz="90929"/>
  </p:normalViewPr>
  <p:slideViewPr>
    <p:cSldViewPr>
      <p:cViewPr varScale="1">
        <p:scale>
          <a:sx n="80" d="100"/>
          <a:sy n="80" d="100"/>
        </p:scale>
        <p:origin x="6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528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r>
              <a:rPr lang="en-US" sz="1100" dirty="0">
                <a:latin typeface="+mn-lt"/>
              </a:rPr>
              <a:t>Definition of CPRL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r>
              <a:rPr lang="en-US" sz="1100" dirty="0">
                <a:latin typeface="+mn-lt"/>
              </a:rPr>
              <a:t>4-</a:t>
            </a:r>
            <a:fld id="{440A5CE0-3A25-4318-B90A-ECE7A4D6B272}" type="slidenum">
              <a:rPr lang="en-US" sz="1100">
                <a:latin typeface="+mn-lt"/>
              </a:rPr>
              <a:pPr/>
              <a:t>‹#›</a:t>
            </a:fld>
            <a:endParaRPr 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49595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l" defTabSz="966320">
              <a:defRPr sz="1200"/>
            </a:lvl1pPr>
          </a:lstStyle>
          <a:p>
            <a:r>
              <a:rPr lang="en-US"/>
              <a:t>Definition of CPRL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697"/>
            <a:ext cx="5364480" cy="43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l" defTabSz="966320">
              <a:defRPr sz="1200"/>
            </a:lvl1pPr>
          </a:lstStyle>
          <a:p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6" tIns="48315" rIns="96626" bIns="48315" numCol="1" anchor="b" anchorCtr="0" compatLnSpc="1">
            <a:prstTxWarp prst="textNoShape">
              <a:avLst/>
            </a:prstTxWarp>
          </a:bodyPr>
          <a:lstStyle>
            <a:lvl1pPr algn="r" defTabSz="966320">
              <a:defRPr sz="1200"/>
            </a:lvl1pPr>
          </a:lstStyle>
          <a:p>
            <a:fld id="{EA88ED40-D102-4320-A6DF-0161E7B8FD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393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Definition of CPRL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57E2C3-BE57-4FDF-AF71-ED5318041270}" type="slidenum">
              <a:rPr lang="en-US"/>
              <a:pPr/>
              <a:t>1</a:t>
            </a:fld>
            <a:endParaRPr lang="en-US"/>
          </a:p>
        </p:txBody>
      </p:sp>
      <p:sp>
        <p:nvSpPr>
          <p:cNvPr id="35842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4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050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1923" name="Rectangle 205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1924" name="Rectangle 205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81925" name="Line 2053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Rectangle 205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6F758699-0012-4DD4-AD84-D112694D7D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A389BBEE-9217-4607-B20A-4E4F28539A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F7863F4C-2E0C-4C59-A6D5-58714D9365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DA921650-AE0E-42BB-93C8-5B0E33F09A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4E1EA60D-F4A1-4F00-B7C4-A5E794EF11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098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0899" name="Rectangle 409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0900" name="Rectangle 410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80901" name="Rectangle 410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r>
              <a:rPr lang="en-US"/>
              <a:t>Slide </a:t>
            </a:r>
            <a:fld id="{10C8F459-5156-4919-904E-D283B51E771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0902" name="Line 4102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903" name="Line 4103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7" r:id="rId4"/>
    <p:sldLayoutId id="2147483658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Definition of the</a:t>
            </a:r>
            <a:br>
              <a:rPr lang="en-US" dirty="0"/>
            </a:br>
            <a:r>
              <a:rPr lang="en-US" dirty="0"/>
              <a:t>Programming Language CPRL</a:t>
            </a:r>
          </a:p>
        </p:txBody>
      </p:sp>
      <p:sp>
        <p:nvSpPr>
          <p:cNvPr id="2053" name="Subtitle 205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See Appendices C and D of the textbook for additional details on the definition of CPRL.</a:t>
            </a:r>
          </a:p>
          <a:p>
            <a:endParaRPr lang="en-US" dirty="0"/>
          </a:p>
        </p:txBody>
      </p:sp>
      <p:sp>
        <p:nvSpPr>
          <p:cNvPr id="4" name="Rectangle 205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Rectangle 205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1479613E-016C-4F76-8F7B-28F9628B75A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CPRL</a:t>
            </a:r>
            <a:br>
              <a:rPr lang="en-US" dirty="0"/>
            </a:br>
            <a:r>
              <a:rPr lang="en-US" sz="2400" dirty="0"/>
              <a:t>(for </a:t>
            </a:r>
            <a:r>
              <a:rPr lang="en-US" sz="2400" b="1" dirty="0"/>
              <a:t>C</a:t>
            </a:r>
            <a:r>
              <a:rPr lang="en-US" sz="2400" dirty="0"/>
              <a:t>ompiler </a:t>
            </a:r>
            <a:r>
              <a:rPr lang="en-US" sz="2400" b="1" dirty="0" err="1"/>
              <a:t>PR</a:t>
            </a:r>
            <a:r>
              <a:rPr lang="en-US" sz="2400" dirty="0" err="1"/>
              <a:t>oject</a:t>
            </a:r>
            <a:r>
              <a:rPr lang="en-US" sz="2400" dirty="0"/>
              <a:t> </a:t>
            </a:r>
            <a:r>
              <a:rPr lang="en-US" sz="2400" b="1" dirty="0"/>
              <a:t>L</a:t>
            </a:r>
            <a:r>
              <a:rPr lang="en-US" sz="2400" dirty="0"/>
              <a:t>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but complete programming language with constructs similar to those found in Ada and C-based languages such as Java, Kotlin, and C#.</a:t>
            </a:r>
          </a:p>
          <a:p>
            <a:r>
              <a:rPr lang="en-US" dirty="0"/>
              <a:t>Designed to be suitable for use as a project language in an advanced undergraduate or beginning graduate course on compiler design and construction.</a:t>
            </a:r>
          </a:p>
          <a:p>
            <a:r>
              <a:rPr lang="en-US" dirty="0"/>
              <a:t>CPRL features illustrate many of the basic techniques and problems associated with language translation.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2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Lexical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sensitive.  Upper‑case letters and lower‑case letters are considered to be distinct in all tokens, including reserved words.</a:t>
            </a:r>
          </a:p>
          <a:p>
            <a:r>
              <a:rPr lang="en-US" dirty="0"/>
              <a:t>White space characters separate tokens; otherwise, they are ignored.</a:t>
            </a:r>
          </a:p>
          <a:p>
            <a:r>
              <a:rPr lang="en-US" dirty="0"/>
              <a:t>No token can extend past an end‑of‑line.</a:t>
            </a:r>
          </a:p>
          <a:p>
            <a:r>
              <a:rPr lang="en-US" dirty="0"/>
              <a:t>Spaces may not appear in any token except character and string literals.</a:t>
            </a:r>
          </a:p>
          <a:p>
            <a:r>
              <a:rPr lang="en-US" dirty="0"/>
              <a:t>A comment begins with two forward slashes (</a:t>
            </a:r>
            <a:r>
              <a:rPr lang="en-US" dirty="0">
                <a:latin typeface="Consolas" panose="020B0609020204030204" pitchFamily="49" charset="0"/>
              </a:rPr>
              <a:t>//</a:t>
            </a:r>
            <a:r>
              <a:rPr lang="en-US" dirty="0"/>
              <a:t>) and extends to the end of the line.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7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Identifiers start with a letter and contain letters and digits.</a:t>
            </a:r>
          </a:p>
          <a:p>
            <a:r>
              <a:rPr lang="en-US" dirty="0"/>
              <a:t>An identifier must fit on a single line, and all characters of an identifier are significant.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identifier = letter { letter | digit } 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letter = 'A' .. 'Z' + </a:t>
            </a:r>
            <a:r>
              <a:rPr lang="en-US" dirty="0" err="1">
                <a:latin typeface="Consolas" panose="020B0609020204030204" pitchFamily="49" charset="0"/>
              </a:rPr>
              <a:t>'a</a:t>
            </a:r>
            <a:r>
              <a:rPr lang="en-US" dirty="0">
                <a:latin typeface="Consolas" panose="020B0609020204030204" pitchFamily="49" charset="0"/>
              </a:rPr>
              <a:t>' .. 'z'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    // regular expression character class: [A-Za-z]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digit  = '0' .. '9'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    // regular expression character class: [0-9]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37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Boolean  Byte     Char     Integer  String   and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array    class    const    else     exit     false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for      fun      if       in       loop     mod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not      of       or       private  proc     protected 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public   read     </a:t>
            </a:r>
            <a:r>
              <a:rPr lang="en-US" sz="1900" dirty="0" err="1">
                <a:latin typeface="Consolas" panose="020B0609020204030204" pitchFamily="49" charset="0"/>
              </a:rPr>
              <a:t>readln</a:t>
            </a:r>
            <a:r>
              <a:rPr lang="en-US" sz="1900" dirty="0">
                <a:latin typeface="Consolas" panose="020B0609020204030204" pitchFamily="49" charset="0"/>
              </a:rPr>
              <a:t>   record   return   then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true     type     var      when     while    write</a:t>
            </a: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 err="1">
                <a:latin typeface="Consolas" panose="020B0609020204030204" pitchFamily="49" charset="0"/>
              </a:rPr>
              <a:t>writeln</a:t>
            </a:r>
            <a:endParaRPr lang="en-US" sz="19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 </a:t>
            </a:r>
          </a:p>
          <a:p>
            <a:pPr marL="182880" indent="0">
              <a:spcBef>
                <a:spcPts val="1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1200"/>
              </a:spcBef>
              <a:buNone/>
            </a:pPr>
            <a:r>
              <a:rPr lang="en-US" sz="1900" dirty="0">
                <a:latin typeface="Consolas" panose="020B0609020204030204" pitchFamily="49" charset="0"/>
              </a:rPr>
              <a:t> </a:t>
            </a:r>
          </a:p>
          <a:p>
            <a:pPr marL="182880" indent="0">
              <a:spcBef>
                <a:spcPts val="1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272" y="4778514"/>
            <a:ext cx="775545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74320" indent="-274320" algn="l">
              <a:buSzPct val="125000"/>
              <a:buFont typeface="Arial" panose="020B0604020202020204" pitchFamily="34" charset="0"/>
              <a:buChar char="•"/>
            </a:pPr>
            <a:r>
              <a:rPr lang="en-US" sz="2000" dirty="0"/>
              <a:t>All keywords are reserved.</a:t>
            </a:r>
          </a:p>
          <a:p>
            <a:pPr marL="274320" indent="-274320" algn="l">
              <a:buSzPct val="125000"/>
              <a:buFont typeface="Arial" panose="020B0604020202020204" pitchFamily="34" charset="0"/>
              <a:buChar char="•"/>
            </a:pPr>
            <a:r>
              <a:rPr lang="en-US" sz="2000" dirty="0"/>
              <a:t>Some keywords such as </a:t>
            </a:r>
            <a:r>
              <a:rPr lang="en-US" sz="2000" dirty="0">
                <a:latin typeface="Consolas" panose="020B0609020204030204" pitchFamily="49" charset="0"/>
              </a:rPr>
              <a:t>class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private</a:t>
            </a:r>
            <a:r>
              <a:rPr lang="en-US" sz="2000" dirty="0"/>
              <a:t>, etc. are not currently</a:t>
            </a:r>
            <a:br>
              <a:rPr lang="en-US" sz="2000" dirty="0"/>
            </a:br>
            <a:r>
              <a:rPr lang="en-US" sz="2000" dirty="0"/>
              <a:t>used in CPRL but are reserved for possible future use.</a:t>
            </a:r>
          </a:p>
        </p:txBody>
      </p:sp>
    </p:spTree>
    <p:extLst>
      <p:ext uri="{BB962C8B-B14F-4D97-AF65-F5344CB8AC3E}">
        <p14:creationId xmlns:p14="http://schemas.microsoft.com/office/powerpoint/2010/main" val="376982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Integer literal: 1 or more digits, binary/hexadecimal allowed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1842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0b1101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0xFF18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300" dirty="0"/>
              <a:t>Boolean literal: “</a:t>
            </a:r>
            <a:r>
              <a:rPr lang="en-US" sz="2200" dirty="0">
                <a:latin typeface="Consolas" panose="020B0609020204030204" pitchFamily="49" charset="0"/>
              </a:rPr>
              <a:t>true</a:t>
            </a:r>
            <a:r>
              <a:rPr lang="en-US" sz="2300" dirty="0"/>
              <a:t>” or “</a:t>
            </a:r>
            <a:r>
              <a:rPr lang="en-US" sz="2200" dirty="0">
                <a:latin typeface="Consolas" panose="020B0609020204030204" pitchFamily="49" charset="0"/>
              </a:rPr>
              <a:t>false</a:t>
            </a:r>
            <a:r>
              <a:rPr lang="en-US" sz="2300" dirty="0"/>
              <a:t>”</a:t>
            </a:r>
          </a:p>
          <a:p>
            <a:r>
              <a:rPr lang="en-US" sz="2300" dirty="0"/>
              <a:t>Character literal – single character enclosed by a pair of apostrophes (sometimes called single quotes).</a:t>
            </a:r>
          </a:p>
          <a:p>
            <a:pPr lvl="1"/>
            <a:r>
              <a:rPr lang="en-US" dirty="0"/>
              <a:t>distinct from a string literal with length one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'A'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'x'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'\''</a:t>
            </a:r>
            <a:endParaRPr lang="en-US" dirty="0"/>
          </a:p>
          <a:p>
            <a:pPr lvl="1"/>
            <a:r>
              <a:rPr lang="en-US" dirty="0"/>
              <a:t>backslash (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) denotes escape sequences within character and string literals; e.g., </a:t>
            </a:r>
            <a:r>
              <a:rPr lang="en-US" dirty="0">
                <a:latin typeface="Consolas" panose="020B0609020204030204" pitchFamily="49" charset="0"/>
              </a:rPr>
              <a:t>\t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\n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\"</a:t>
            </a:r>
            <a:r>
              <a:rPr lang="en-US" dirty="0"/>
              <a:t> ,</a:t>
            </a:r>
            <a:r>
              <a:rPr lang="en-US" dirty="0">
                <a:latin typeface="Consolas" panose="020B0609020204030204" pitchFamily="49" charset="0"/>
              </a:rPr>
              <a:t> \'</a:t>
            </a:r>
          </a:p>
          <a:p>
            <a:r>
              <a:rPr lang="en-US" sz="2300" dirty="0"/>
              <a:t>String literal – zero or more printable characters enclosed by a pair of quotation marks (double quotes)</a:t>
            </a:r>
          </a:p>
          <a:p>
            <a:pPr lvl="1"/>
            <a:r>
              <a:rPr lang="en-US" sz="1900" dirty="0"/>
              <a:t>examples: </a:t>
            </a:r>
            <a:r>
              <a:rPr lang="en-US" sz="1900" dirty="0">
                <a:latin typeface="Consolas" panose="020B0609020204030204" pitchFamily="49" charset="0"/>
              </a:rPr>
              <a:t>"Hello, world."</a:t>
            </a:r>
            <a:r>
              <a:rPr lang="en-US" sz="1900" dirty="0"/>
              <a:t>, </a:t>
            </a:r>
            <a:r>
              <a:rPr lang="en-US" sz="1900" dirty="0">
                <a:latin typeface="Consolas" panose="020B0609020204030204" pitchFamily="49" charset="0"/>
              </a:rPr>
              <a:t>"Live long and prosper."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3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Symbols</a:t>
            </a:r>
            <a:br>
              <a:rPr lang="en-US" dirty="0"/>
            </a:br>
            <a:r>
              <a:rPr lang="en-US" sz="2400" dirty="0"/>
              <a:t>(Delimiters, Operators, and Special Symbols)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arithmetic, bitwise, and shift operators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+   -   *   /   |   ^   &amp;   ~   &lt;&lt;   &gt;&gt;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relational operators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=   !=   &lt;   &lt;=   &gt;   &gt;=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assignment, grouping, and other symbols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:=   (   )   [   ]   {   }   ,   :   ;   .   ..   ?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// special scanning symbols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EOF, unknown</a:t>
            </a:r>
          </a:p>
          <a:p>
            <a:pPr marL="182880" indent="0">
              <a:spcBef>
                <a:spcPts val="20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9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Declarations, Statements, and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three major syntactic categories in CPRL programs are declarations, statements, and expressions.</a:t>
            </a:r>
          </a:p>
          <a:p>
            <a:r>
              <a:rPr lang="en-US" dirty="0"/>
              <a:t>Declarations introduce new names (programmer-defined identifiers) into the program.</a:t>
            </a:r>
          </a:p>
          <a:p>
            <a:pPr lvl="1"/>
            <a:r>
              <a:rPr lang="en-US" dirty="0"/>
              <a:t>Examples include constant declarations, variable declarations, type declarations, and subprogram declarations.</a:t>
            </a:r>
          </a:p>
          <a:p>
            <a:pPr lvl="1"/>
            <a:r>
              <a:rPr lang="en-US" dirty="0"/>
              <a:t>Constant, variable, and type declarations must take place before the name being introduced can be used.</a:t>
            </a:r>
          </a:p>
          <a:p>
            <a:r>
              <a:rPr lang="en-US" dirty="0"/>
              <a:t>Statements perform basic actions or control the flow of execution.</a:t>
            </a:r>
          </a:p>
          <a:p>
            <a:pPr lvl="1"/>
            <a:r>
              <a:rPr lang="en-US" dirty="0"/>
              <a:t>Examples include assignment statements, loop statements, and if statements.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19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Declarations, Statements, and Expressions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Expressions are syntactic entities that have values, and the values have types such as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Boolean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Examples include</a:t>
            </a:r>
          </a:p>
          <a:p>
            <a:pPr lvl="2"/>
            <a:r>
              <a:rPr lang="en-US" dirty="0"/>
              <a:t>literals such as </a:t>
            </a:r>
            <a:r>
              <a:rPr lang="en-US" dirty="0">
                <a:latin typeface="Consolas" panose="020B0609020204030204" pitchFamily="49" charset="0"/>
              </a:rPr>
              <a:t>100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false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"Hello"</a:t>
            </a:r>
          </a:p>
          <a:p>
            <a:pPr lvl="2"/>
            <a:r>
              <a:rPr lang="en-US" dirty="0"/>
              <a:t>variable expressions (a.k.a., named values) such as </a:t>
            </a:r>
            <a:r>
              <a:rPr lang="en-US" dirty="0">
                <a:latin typeface="Consolas" panose="020B0609020204030204" pitchFamily="49" charset="0"/>
              </a:rPr>
              <a:t>i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max</a:t>
            </a:r>
          </a:p>
          <a:p>
            <a:pPr lvl="2"/>
            <a:r>
              <a:rPr lang="en-US" dirty="0"/>
              <a:t>compound expressions involving operators and operands such as</a:t>
            </a:r>
            <a:br>
              <a:rPr lang="en-US" dirty="0"/>
            </a:br>
            <a:r>
              <a:rPr lang="en-US" dirty="0"/>
              <a:t>x + 7 or </a:t>
            </a:r>
            <a:r>
              <a:rPr lang="en-US" dirty="0">
                <a:latin typeface="Consolas" panose="020B0609020204030204" pitchFamily="49" charset="0"/>
              </a:rPr>
              <a:t>i &lt; 100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0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D0CD-680C-47F0-B74B-F7FDCEBE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versus Statements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150E-8F8F-4602-A7BD-DCD7B1A4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some programming languages, CPRL makes a strong distinction between expressions and statements.  </a:t>
            </a:r>
          </a:p>
          <a:p>
            <a:r>
              <a:rPr lang="en-US" dirty="0"/>
              <a:t>For example, in C, any expression followed by a semicolon is considered a statement.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x &gt;= 5;   // valid statement in C but not in CPRL</a:t>
            </a:r>
          </a:p>
          <a:p>
            <a:r>
              <a:rPr lang="en-US" dirty="0"/>
              <a:t>In both Java and Kotlin we can call a function that returns a value without actually using the returned value.</a:t>
            </a:r>
          </a:p>
          <a:p>
            <a:pPr lvl="1"/>
            <a:r>
              <a:rPr lang="en-US" dirty="0"/>
              <a:t>In CPRL all function calls return values, and all function calls are considered to be expressions.  The value returned from a function call can’t be ignored.</a:t>
            </a:r>
          </a:p>
          <a:p>
            <a:pPr lvl="1"/>
            <a:r>
              <a:rPr lang="en-US" dirty="0"/>
              <a:t>A procedure in CPRL does not return a value (analogous to a </a:t>
            </a:r>
            <a:r>
              <a:rPr lang="en-US" dirty="0">
                <a:latin typeface="Consolas" panose="020B0609020204030204" pitchFamily="49" charset="0"/>
              </a:rPr>
              <a:t>void</a:t>
            </a:r>
            <a:r>
              <a:rPr lang="en-US" dirty="0"/>
              <a:t> function in Java/C# or a </a:t>
            </a:r>
            <a:r>
              <a:rPr lang="en-US" dirty="0">
                <a:latin typeface="Consolas" panose="020B0609020204030204" pitchFamily="49" charset="0"/>
              </a:rPr>
              <a:t>Unit</a:t>
            </a:r>
            <a:r>
              <a:rPr lang="en-US" dirty="0"/>
              <a:t> function in Kotlin), and a procedure call is considered to be a statement.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68C81-AB6A-41B7-AEA8-2DE7FE28A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8446-C6D0-4675-ABA7-104A66E52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Nomenclature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CPRL is a </a:t>
            </a:r>
            <a:r>
              <a:rPr lang="en-US" b="1" dirty="0"/>
              <a:t>statically-typed</a:t>
            </a:r>
            <a:r>
              <a:rPr lang="en-US" dirty="0"/>
              <a:t> language.</a:t>
            </a:r>
          </a:p>
          <a:p>
            <a:pPr lvl="1"/>
            <a:r>
              <a:rPr lang="en-US" dirty="0"/>
              <a:t>Every variable or constant in the language belongs to exactly one type.</a:t>
            </a:r>
          </a:p>
          <a:p>
            <a:pPr lvl="1"/>
            <a:r>
              <a:rPr lang="en-US" dirty="0"/>
              <a:t>Type is a static property and can be determined by the compiler.  (Allows error detection at compile time.)</a:t>
            </a:r>
          </a:p>
          <a:p>
            <a:r>
              <a:rPr lang="en-US" dirty="0"/>
              <a:t>A </a:t>
            </a:r>
            <a:r>
              <a:rPr lang="en-US" b="1" dirty="0"/>
              <a:t>composite type</a:t>
            </a:r>
            <a:r>
              <a:rPr lang="en-US" dirty="0"/>
              <a:t> has individually-accessible components of other types.</a:t>
            </a:r>
          </a:p>
          <a:p>
            <a:pPr lvl="1"/>
            <a:r>
              <a:rPr lang="en-US" dirty="0"/>
              <a:t>common example: array type</a:t>
            </a:r>
          </a:p>
          <a:p>
            <a:r>
              <a:rPr lang="en-US" dirty="0"/>
              <a:t>A </a:t>
            </a:r>
            <a:r>
              <a:rPr lang="en-US" b="1" dirty="0"/>
              <a:t>scalar type</a:t>
            </a:r>
            <a:r>
              <a:rPr lang="en-US" dirty="0"/>
              <a:t> does not have individual components.</a:t>
            </a:r>
          </a:p>
          <a:p>
            <a:pPr marL="457200" lvl="1" indent="0">
              <a:buNone/>
            </a:pPr>
            <a:r>
              <a:rPr lang="en-US" dirty="0"/>
              <a:t>(but technically we know that they are composed of bits and bytes)</a:t>
            </a:r>
          </a:p>
          <a:p>
            <a:pPr lvl="1"/>
            <a:r>
              <a:rPr lang="en-US" dirty="0"/>
              <a:t>common example: an integer type.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5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0801-7AC1-7453-AAD4-6214E41F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0688-30CC-9612-A3A0-687ADC2B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Structure of CPRL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4D062-0705-6AB6-9248-2A4C1D781A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A7E5F-32E8-B243-4CAB-FE39EDFE42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DA921650-AE0E-42BB-93C8-5B0E33F09A28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5060E9-B1E2-F165-266E-78E18479BF87}"/>
              </a:ext>
            </a:extLst>
          </p:cNvPr>
          <p:cNvGrpSpPr/>
          <p:nvPr/>
        </p:nvGrpSpPr>
        <p:grpSpPr>
          <a:xfrm>
            <a:off x="551385" y="1676400"/>
            <a:ext cx="8041231" cy="2299648"/>
            <a:chOff x="1085010" y="2152891"/>
            <a:chExt cx="8041231" cy="22996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6551F9-D9F2-95F6-E16C-68CAF65349CE}"/>
                </a:ext>
              </a:extLst>
            </p:cNvPr>
            <p:cNvSpPr txBox="1"/>
            <p:nvPr/>
          </p:nvSpPr>
          <p:spPr>
            <a:xfrm>
              <a:off x="4836426" y="2152891"/>
              <a:ext cx="11179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CPRL Types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8F3FB6-FFA2-C784-08F2-DD39FC0B1687}"/>
                </a:ext>
              </a:extLst>
            </p:cNvPr>
            <p:cNvSpPr txBox="1"/>
            <p:nvPr/>
          </p:nvSpPr>
          <p:spPr>
            <a:xfrm>
              <a:off x="2676224" y="3133438"/>
              <a:ext cx="1197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Scalar Types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17F483-3B37-241F-7FEF-DA0BC284C175}"/>
                </a:ext>
              </a:extLst>
            </p:cNvPr>
            <p:cNvSpPr txBox="1"/>
            <p:nvPr/>
          </p:nvSpPr>
          <p:spPr>
            <a:xfrm>
              <a:off x="6916605" y="3133438"/>
              <a:ext cx="1598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Composite Types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C0C6DA-3AD7-B97E-D2BB-6742C55F5452}"/>
                </a:ext>
              </a:extLst>
            </p:cNvPr>
            <p:cNvSpPr txBox="1"/>
            <p:nvPr/>
          </p:nvSpPr>
          <p:spPr>
            <a:xfrm>
              <a:off x="1085010" y="4113985"/>
              <a:ext cx="8691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Boolean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158654-6AC9-7842-A357-6F9BB4985D92}"/>
                </a:ext>
              </a:extLst>
            </p:cNvPr>
            <p:cNvSpPr txBox="1"/>
            <p:nvPr/>
          </p:nvSpPr>
          <p:spPr>
            <a:xfrm>
              <a:off x="4596245" y="4113985"/>
              <a:ext cx="779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Integer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2029DE-0B4E-DC5F-39FD-2393782278DD}"/>
                </a:ext>
              </a:extLst>
            </p:cNvPr>
            <p:cNvSpPr txBox="1"/>
            <p:nvPr/>
          </p:nvSpPr>
          <p:spPr>
            <a:xfrm>
              <a:off x="2676993" y="4113985"/>
              <a:ext cx="5709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Char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F4F321-C582-6A45-8C5B-0814B79B9279}"/>
                </a:ext>
              </a:extLst>
            </p:cNvPr>
            <p:cNvSpPr txBox="1"/>
            <p:nvPr/>
          </p:nvSpPr>
          <p:spPr>
            <a:xfrm>
              <a:off x="5825608" y="4113985"/>
              <a:ext cx="11499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Array Types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54F736-C83D-B4A0-48FD-32AC1D694F27}"/>
                </a:ext>
              </a:extLst>
            </p:cNvPr>
            <p:cNvSpPr txBox="1"/>
            <p:nvPr/>
          </p:nvSpPr>
          <p:spPr>
            <a:xfrm>
              <a:off x="7072674" y="4113985"/>
              <a:ext cx="1286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Record Types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F502A0-C0AE-F721-118E-A250FC31AD0C}"/>
                </a:ext>
              </a:extLst>
            </p:cNvPr>
            <p:cNvSpPr txBox="1"/>
            <p:nvPr/>
          </p:nvSpPr>
          <p:spPr>
            <a:xfrm>
              <a:off x="8455865" y="4113985"/>
              <a:ext cx="670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String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CC39F00-9915-EE97-D3C6-A3BB0096636F}"/>
                </a:ext>
              </a:extLst>
            </p:cNvPr>
            <p:cNvCxnSpPr>
              <a:stCxn id="11" idx="2"/>
              <a:endCxn id="18" idx="0"/>
            </p:cNvCxnSpPr>
            <p:nvPr/>
          </p:nvCxnSpPr>
          <p:spPr>
            <a:xfrm rot="5400000">
              <a:off x="4014303" y="1752346"/>
              <a:ext cx="641993" cy="2120191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1ECC022A-8265-AB63-6FD2-9B08F3905E2D}"/>
                </a:ext>
              </a:extLst>
            </p:cNvPr>
            <p:cNvCxnSpPr>
              <a:stCxn id="11" idx="2"/>
              <a:endCxn id="19" idx="0"/>
            </p:cNvCxnSpPr>
            <p:nvPr/>
          </p:nvCxnSpPr>
          <p:spPr>
            <a:xfrm rot="16200000" flipH="1">
              <a:off x="6234568" y="1652271"/>
              <a:ext cx="641993" cy="2320340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4C64C6E6-D5F2-CCB0-192D-BF344511A3E3}"/>
                </a:ext>
              </a:extLst>
            </p:cNvPr>
            <p:cNvCxnSpPr>
              <a:stCxn id="18" idx="2"/>
              <a:endCxn id="24" idx="0"/>
            </p:cNvCxnSpPr>
            <p:nvPr/>
          </p:nvCxnSpPr>
          <p:spPr>
            <a:xfrm rot="5400000">
              <a:off x="2076398" y="2915179"/>
              <a:ext cx="641993" cy="1755618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9">
              <a:extLst>
                <a:ext uri="{FF2B5EF4-FFF2-40B4-BE49-F238E27FC236}">
                  <a16:creationId xmlns:a16="http://schemas.microsoft.com/office/drawing/2014/main" id="{30DD7746-DCE5-E56A-46A8-F603ABDE8AC0}"/>
                </a:ext>
              </a:extLst>
            </p:cNvPr>
            <p:cNvCxnSpPr>
              <a:stCxn id="18" idx="2"/>
              <a:endCxn id="27" idx="0"/>
            </p:cNvCxnSpPr>
            <p:nvPr/>
          </p:nvCxnSpPr>
          <p:spPr>
            <a:xfrm rot="5400000">
              <a:off x="2797850" y="3636631"/>
              <a:ext cx="641993" cy="31271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CE39DD88-78FC-D931-8A64-F2F09D711FB5}"/>
                </a:ext>
              </a:extLst>
            </p:cNvPr>
            <p:cNvCxnSpPr>
              <a:stCxn id="18" idx="2"/>
              <a:endCxn id="26" idx="0"/>
            </p:cNvCxnSpPr>
            <p:nvPr/>
          </p:nvCxnSpPr>
          <p:spPr>
            <a:xfrm rot="16200000" flipH="1">
              <a:off x="3809717" y="2937477"/>
              <a:ext cx="641993" cy="1711021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D1DF6836-990E-4166-5969-7C1DA230C9FC}"/>
                </a:ext>
              </a:extLst>
            </p:cNvPr>
            <p:cNvCxnSpPr>
              <a:stCxn id="19" idx="2"/>
              <a:endCxn id="28" idx="0"/>
            </p:cNvCxnSpPr>
            <p:nvPr/>
          </p:nvCxnSpPr>
          <p:spPr>
            <a:xfrm rot="5400000">
              <a:off x="6737174" y="3135424"/>
              <a:ext cx="641993" cy="1315128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25">
              <a:extLst>
                <a:ext uri="{FF2B5EF4-FFF2-40B4-BE49-F238E27FC236}">
                  <a16:creationId xmlns:a16="http://schemas.microsoft.com/office/drawing/2014/main" id="{8B488FFA-F4E7-7B6D-CB79-32F67063C37D}"/>
                </a:ext>
              </a:extLst>
            </p:cNvPr>
            <p:cNvCxnSpPr>
              <a:stCxn id="19" idx="2"/>
              <a:endCxn id="30" idx="0"/>
            </p:cNvCxnSpPr>
            <p:nvPr/>
          </p:nvCxnSpPr>
          <p:spPr>
            <a:xfrm rot="16200000" flipH="1">
              <a:off x="7394738" y="3792987"/>
              <a:ext cx="641993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D68BEA3F-0815-B0FC-BAC2-53151B18EA66}"/>
                </a:ext>
              </a:extLst>
            </p:cNvPr>
            <p:cNvCxnSpPr>
              <a:stCxn id="19" idx="2"/>
              <a:endCxn id="31" idx="0"/>
            </p:cNvCxnSpPr>
            <p:nvPr/>
          </p:nvCxnSpPr>
          <p:spPr>
            <a:xfrm rot="16200000" flipH="1">
              <a:off x="7932397" y="3255328"/>
              <a:ext cx="641993" cy="1075319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0093A9-3615-CE40-BFF1-34676B895E21}"/>
                </a:ext>
              </a:extLst>
            </p:cNvPr>
            <p:cNvSpPr txBox="1"/>
            <p:nvPr/>
          </p:nvSpPr>
          <p:spPr>
            <a:xfrm>
              <a:off x="2036461" y="4113985"/>
              <a:ext cx="5582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Byte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7CED9114-FA69-145D-CF6A-B58C4D0D50F5}"/>
                </a:ext>
              </a:extLst>
            </p:cNvPr>
            <p:cNvCxnSpPr>
              <a:stCxn id="18" idx="2"/>
              <a:endCxn id="40" idx="0"/>
            </p:cNvCxnSpPr>
            <p:nvPr/>
          </p:nvCxnSpPr>
          <p:spPr>
            <a:xfrm rot="5400000">
              <a:off x="2474394" y="3313175"/>
              <a:ext cx="641993" cy="959627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2FD6AC-00FE-254E-202F-E9FC825ABD37}"/>
                </a:ext>
              </a:extLst>
            </p:cNvPr>
            <p:cNvSpPr txBox="1"/>
            <p:nvPr/>
          </p:nvSpPr>
          <p:spPr>
            <a:xfrm>
              <a:off x="3330285" y="4113985"/>
              <a:ext cx="11836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Enum Types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9B88B4BF-83CA-A733-F0A4-149BBDC6E750}"/>
                </a:ext>
              </a:extLst>
            </p:cNvPr>
            <p:cNvCxnSpPr>
              <a:stCxn id="18" idx="2"/>
              <a:endCxn id="42" idx="0"/>
            </p:cNvCxnSpPr>
            <p:nvPr/>
          </p:nvCxnSpPr>
          <p:spPr>
            <a:xfrm rot="16200000" flipH="1">
              <a:off x="3277662" y="3469532"/>
              <a:ext cx="641993" cy="646911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017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942A-D578-52EB-3ED2-4287214D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DF9F-DAC7-307A-A20E-AF9DC372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46A85-1D4D-792A-0D46-34ED4031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Predefined Scalar Types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Boolean			– Byte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			– Integer</a:t>
            </a:r>
            <a:endParaRPr lang="en-US" dirty="0"/>
          </a:p>
          <a:p>
            <a:r>
              <a:rPr lang="en-US" dirty="0"/>
              <a:t>Enumerated Types</a:t>
            </a:r>
          </a:p>
          <a:p>
            <a:pPr lvl="1"/>
            <a:r>
              <a:rPr lang="en-US" dirty="0"/>
              <a:t>programmer-defined scalar type</a:t>
            </a:r>
          </a:p>
          <a:p>
            <a:pPr lvl="1"/>
            <a:r>
              <a:rPr lang="en-US" dirty="0"/>
              <a:t>values are enclosed in angle brackets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Day = &lt;Sun, Mon, Tue, Wed, Thu, Fri, Sat&gt;;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BD8CD-B6A1-440C-5465-53D189BAAB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0D851-9F60-6007-C9D1-5EB8DA0AF8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1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Types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Types</a:t>
            </a:r>
          </a:p>
          <a:p>
            <a:pPr lvl="1"/>
            <a:r>
              <a:rPr lang="en-US" dirty="0"/>
              <a:t>one dimensional arrays (but arrays of arrays can be declared)</a:t>
            </a:r>
          </a:p>
          <a:p>
            <a:pPr lvl="1"/>
            <a:r>
              <a:rPr lang="en-US" dirty="0"/>
              <a:t>defined by number of elements in the array and component type</a:t>
            </a:r>
          </a:p>
          <a:p>
            <a:pPr lvl="1"/>
            <a:r>
              <a:rPr lang="en-US" dirty="0"/>
              <a:t>examples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T1 = array[10] of Boolean;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T2 = array[10] of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T3 = array[10] of T2;</a:t>
            </a:r>
          </a:p>
          <a:p>
            <a:pPr lvl="1"/>
            <a:r>
              <a:rPr lang="en-US" dirty="0"/>
              <a:t>indices range from </a:t>
            </a:r>
            <a:r>
              <a:rPr lang="en-US" dirty="0">
                <a:latin typeface="Consolas" panose="020B0609020204030204" pitchFamily="49" charset="0"/>
              </a:rPr>
              <a:t>0</a:t>
            </a:r>
            <a:r>
              <a:rPr lang="en-US" dirty="0"/>
              <a:t> to </a:t>
            </a:r>
            <a:r>
              <a:rPr lang="en-US" dirty="0">
                <a:latin typeface="Consolas" panose="020B0609020204030204" pitchFamily="49" charset="0"/>
              </a:rPr>
              <a:t>n-1</a:t>
            </a:r>
            <a:r>
              <a:rPr lang="en-US" dirty="0"/>
              <a:t>, where </a:t>
            </a:r>
            <a:r>
              <a:rPr lang="en-US" dirty="0">
                <a:latin typeface="Consolas" panose="020B0609020204030204" pitchFamily="49" charset="0"/>
              </a:rPr>
              <a:t>n</a:t>
            </a:r>
            <a:r>
              <a:rPr lang="en-US" dirty="0"/>
              <a:t> is the number of elements in the array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42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A69C-0440-2BED-B9A6-AE88273A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9707-3843-38C4-D038-6B0A95BF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Types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D32D-3012-D7DA-8EE1-AB0CA6B4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Types (similar to </a:t>
            </a:r>
            <a:r>
              <a:rPr lang="en-US" dirty="0">
                <a:latin typeface="Consolas" panose="020B0609020204030204" pitchFamily="49" charset="0"/>
              </a:rPr>
              <a:t>structs</a:t>
            </a:r>
            <a:r>
              <a:rPr lang="en-US" dirty="0"/>
              <a:t> in C)</a:t>
            </a:r>
          </a:p>
          <a:p>
            <a:pPr lvl="1"/>
            <a:r>
              <a:rPr lang="en-US" dirty="0"/>
              <a:t>Fields are accessed using the “.” notation.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type Point = record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x :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y : Integer;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19607-917E-341C-0835-E8ABFFE71E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9B3F2-6541-6506-684D-490E169174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55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Types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</a:p>
          <a:p>
            <a:pPr lvl="1"/>
            <a:r>
              <a:rPr lang="en-US" dirty="0"/>
              <a:t>predefined composite type similar to type </a:t>
            </a:r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/>
              <a:t>in Java</a:t>
            </a:r>
          </a:p>
          <a:p>
            <a:pPr lvl="1"/>
            <a:r>
              <a:rPr lang="en-US" dirty="0"/>
              <a:t>variables can be initialized using string literals or declared string constants</a:t>
            </a:r>
          </a:p>
          <a:p>
            <a:pPr lvl="1"/>
            <a:r>
              <a:rPr lang="en-US" dirty="0"/>
              <a:t>string length use the dot notation: </a:t>
            </a:r>
            <a:r>
              <a:rPr lang="en-US" dirty="0" err="1">
                <a:latin typeface="Consolas" panose="020B0609020204030204" pitchFamily="49" charset="0"/>
              </a:rPr>
              <a:t>s.length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individual characters are accessed using bracket notation: </a:t>
            </a:r>
            <a:r>
              <a:rPr lang="en-US" dirty="0">
                <a:latin typeface="Consolas" panose="020B0609020204030204" pitchFamily="49" charset="0"/>
              </a:rPr>
              <a:t>s[i]</a:t>
            </a:r>
          </a:p>
          <a:p>
            <a:pPr lvl="1"/>
            <a:r>
              <a:rPr lang="en-US" dirty="0"/>
              <a:t>plus operator used for string concatenation: </a:t>
            </a:r>
            <a:r>
              <a:rPr lang="en-US" dirty="0">
                <a:latin typeface="Consolas" panose="020B0609020204030204" pitchFamily="49" charset="0"/>
              </a:rPr>
              <a:t>s := s1 + s2</a:t>
            </a:r>
          </a:p>
          <a:p>
            <a:pPr lvl="1"/>
            <a:r>
              <a:rPr lang="en-US" dirty="0"/>
              <a:t>examples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var name : String := "Davis";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var greeting : String;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read greeting;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Constants, types, and variables must be declared before they can be referenced.</a:t>
            </a:r>
          </a:p>
          <a:p>
            <a:r>
              <a:rPr lang="en-US" dirty="0"/>
              <a:t>Constants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maxIndex</a:t>
            </a:r>
            <a:r>
              <a:rPr lang="en-US" dirty="0">
                <a:latin typeface="Consolas" panose="020B0609020204030204" pitchFamily="49" charset="0"/>
              </a:rPr>
              <a:t> := 100;</a:t>
            </a:r>
          </a:p>
          <a:p>
            <a:pPr lvl="1"/>
            <a:r>
              <a:rPr lang="en-US" dirty="0"/>
              <a:t>type of the constant identifier is inferred from the type of the literal value</a:t>
            </a:r>
          </a:p>
          <a:p>
            <a:r>
              <a:rPr lang="en-US" dirty="0"/>
              <a:t>Variables (can be initialized when declared)</a:t>
            </a:r>
          </a:p>
          <a:p>
            <a:pPr marL="64008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var x1, x2 : Integer;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var y : Integer := 13;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var found : Boolean := false;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type </a:t>
            </a:r>
            <a:r>
              <a:rPr lang="en-US" dirty="0" err="1">
                <a:latin typeface="Consolas" panose="020B0609020204030204" pitchFamily="49" charset="0"/>
              </a:rPr>
              <a:t>IntArray</a:t>
            </a:r>
            <a:r>
              <a:rPr lang="en-US" dirty="0">
                <a:latin typeface="Consolas" panose="020B0609020204030204" pitchFamily="49" charset="0"/>
              </a:rPr>
              <a:t> = array[100] of Integer;</a:t>
            </a:r>
          </a:p>
          <a:p>
            <a:pPr marL="640080" lvl="2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table : </a:t>
            </a:r>
            <a:r>
              <a:rPr lang="en-US" dirty="0" err="1">
                <a:latin typeface="Consolas" panose="020B0609020204030204" pitchFamily="49" charset="0"/>
              </a:rPr>
              <a:t>IntArray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19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Constants and Variables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Array variables can be declared without first having to create a new array type.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a : array[10] of Integer; </a:t>
            </a:r>
          </a:p>
          <a:p>
            <a:r>
              <a:rPr lang="en-US" dirty="0"/>
              <a:t>Array and record variables can be initialized with composite values enclosed in 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“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”.  Nested composite literal values are used for nested composite types; e.g., arrays of arrays or arrays of records.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type </a:t>
            </a:r>
            <a:r>
              <a:rPr lang="en-US" sz="1800" dirty="0" err="1">
                <a:latin typeface="Consolas" panose="020B0609020204030204" pitchFamily="49" charset="0"/>
              </a:rPr>
              <a:t>IntArray</a:t>
            </a:r>
            <a:r>
              <a:rPr lang="en-US" sz="1800" dirty="0">
                <a:latin typeface="Consolas" panose="020B0609020204030204" pitchFamily="49" charset="0"/>
              </a:rPr>
              <a:t> =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var table : </a:t>
            </a:r>
            <a:r>
              <a:rPr lang="en-US" sz="1800" dirty="0" err="1">
                <a:latin typeface="Consolas" panose="020B0609020204030204" pitchFamily="49" charset="0"/>
              </a:rPr>
              <a:t>IntArray</a:t>
            </a:r>
            <a:r>
              <a:rPr lang="en-US" sz="1800" dirty="0">
                <a:latin typeface="Consolas" panose="020B0609020204030204" pitchFamily="49" charset="0"/>
              </a:rPr>
              <a:t> := { 0, 1, 2, 3, 4, 5, 6, 7, 8, 9 };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8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88" y="1312863"/>
            <a:ext cx="8532812" cy="49355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operators, in order of precedence, are as follows.</a:t>
            </a:r>
          </a:p>
          <a:p>
            <a:pPr marL="0" indent="0">
              <a:buNone/>
            </a:pPr>
            <a:r>
              <a:rPr lang="en-US" sz="2000" dirty="0"/>
              <a:t>1.  Boolean/bitwise negation	  </a:t>
            </a:r>
            <a:r>
              <a:rPr lang="en-US" sz="2000" dirty="0">
                <a:latin typeface="Consolas" panose="020B0609020204030204" pitchFamily="49" charset="0"/>
              </a:rPr>
              <a:t>not  ~        </a:t>
            </a:r>
            <a:r>
              <a:rPr lang="en-US" sz="2000" dirty="0"/>
              <a:t>(highest precedence)</a:t>
            </a:r>
          </a:p>
          <a:p>
            <a:pPr marL="0" indent="0">
              <a:buNone/>
            </a:pPr>
            <a:r>
              <a:rPr lang="en-US" sz="2000" dirty="0"/>
              <a:t>2.  Multiplying/shift operators	  </a:t>
            </a:r>
            <a:r>
              <a:rPr lang="en-US" sz="2000" dirty="0">
                <a:latin typeface="Consolas" panose="020B0609020204030204" pitchFamily="49" charset="0"/>
              </a:rPr>
              <a:t>*    /   mod  &amp;   &lt;&lt;   &gt;&gt;</a:t>
            </a:r>
          </a:p>
          <a:p>
            <a:pPr marL="0" indent="0">
              <a:buNone/>
            </a:pPr>
            <a:r>
              <a:rPr lang="en-US" sz="2000" dirty="0"/>
              <a:t>3.  Unary sign operators		  </a:t>
            </a:r>
            <a:r>
              <a:rPr lang="en-US" sz="2000" dirty="0">
                <a:latin typeface="Consolas" panose="020B0609020204030204" pitchFamily="49" charset="0"/>
              </a:rPr>
              <a:t>+    -</a:t>
            </a:r>
          </a:p>
          <a:p>
            <a:pPr marL="0" indent="0">
              <a:buNone/>
            </a:pPr>
            <a:r>
              <a:rPr lang="en-US" sz="2000" dirty="0"/>
              <a:t>4.  Adding/bitwise operators	  </a:t>
            </a:r>
            <a:r>
              <a:rPr lang="en-US" sz="2000" dirty="0">
                <a:latin typeface="Consolas" panose="020B0609020204030204" pitchFamily="49" charset="0"/>
              </a:rPr>
              <a:t>+    -    |   ^</a:t>
            </a:r>
          </a:p>
          <a:p>
            <a:pPr marL="0" indent="0">
              <a:buNone/>
            </a:pPr>
            <a:r>
              <a:rPr lang="en-US" sz="2000" dirty="0"/>
              <a:t>5.  Relational operators	</a:t>
            </a: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dirty="0"/>
              <a:t>  </a:t>
            </a:r>
            <a:r>
              <a:rPr lang="en-US" sz="2000" dirty="0">
                <a:latin typeface="Consolas" panose="020B0609020204030204" pitchFamily="49" charset="0"/>
              </a:rPr>
              <a:t>=    !=   &lt;   &lt;=   &gt;   &gt;=</a:t>
            </a:r>
          </a:p>
          <a:p>
            <a:pPr marL="0" indent="0">
              <a:buNone/>
            </a:pPr>
            <a:r>
              <a:rPr lang="en-US" sz="2000" dirty="0"/>
              <a:t>6.  Logical/conditional operators	  </a:t>
            </a:r>
            <a:r>
              <a:rPr lang="en-US" sz="2000" dirty="0">
                <a:latin typeface="Consolas" panose="020B0609020204030204" pitchFamily="49" charset="0"/>
              </a:rPr>
              <a:t>and  or   ?:   </a:t>
            </a:r>
            <a:r>
              <a:rPr lang="en-US" sz="2000" dirty="0"/>
              <a:t>(lowest precedence)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90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CPRL uses</a:t>
            </a:r>
          </a:p>
          <a:p>
            <a:pPr lvl="1"/>
            <a:r>
              <a:rPr lang="en-US" dirty="0"/>
              <a:t>reserved word </a:t>
            </a:r>
            <a:r>
              <a:rPr lang="en-US" dirty="0">
                <a:latin typeface="Consolas" panose="020B0609020204030204" pitchFamily="49" charset="0"/>
              </a:rPr>
              <a:t>not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!</a:t>
            </a:r>
            <a:r>
              <a:rPr lang="en-US" dirty="0"/>
              <a:t>) for </a:t>
            </a:r>
            <a:r>
              <a:rPr lang="en-US" dirty="0" err="1"/>
              <a:t>boolean</a:t>
            </a:r>
            <a:r>
              <a:rPr lang="en-US" dirty="0"/>
              <a:t> negation</a:t>
            </a:r>
          </a:p>
          <a:p>
            <a:pPr lvl="1"/>
            <a:r>
              <a:rPr lang="en-US" dirty="0"/>
              <a:t>reserved word </a:t>
            </a:r>
            <a:r>
              <a:rPr lang="en-US" dirty="0">
                <a:latin typeface="Consolas" panose="020B0609020204030204" pitchFamily="49" charset="0"/>
              </a:rPr>
              <a:t>mod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%</a:t>
            </a:r>
            <a:r>
              <a:rPr lang="en-US" dirty="0"/>
              <a:t>) for the modulo operator</a:t>
            </a:r>
          </a:p>
          <a:p>
            <a:pPr lvl="1"/>
            <a:r>
              <a:rPr lang="en-US" dirty="0"/>
              <a:t>reserved words </a:t>
            </a:r>
            <a:r>
              <a:rPr lang="en-US" dirty="0">
                <a:latin typeface="Consolas" panose="020B0609020204030204" pitchFamily="49" charset="0"/>
              </a:rPr>
              <a:t>and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or</a:t>
            </a:r>
            <a:r>
              <a:rPr lang="en-US" dirty="0"/>
              <a:t> (instead of </a:t>
            </a:r>
            <a:r>
              <a:rPr lang="en-US" dirty="0">
                <a:latin typeface="Consolas" panose="020B0609020204030204" pitchFamily="49" charset="0"/>
              </a:rPr>
              <a:t>&amp;&amp;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||</a:t>
            </a:r>
            <a:r>
              <a:rPr lang="en-US" dirty="0"/>
              <a:t>) for logical operators</a:t>
            </a:r>
          </a:p>
          <a:p>
            <a:r>
              <a:rPr lang="en-US" sz="2300" dirty="0"/>
              <a:t>Logical expressions (expressions involving logical operators </a:t>
            </a:r>
            <a:r>
              <a:rPr lang="en-US" sz="2300" dirty="0">
                <a:latin typeface="Consolas" panose="020B0609020204030204" pitchFamily="49" charset="0"/>
              </a:rPr>
              <a:t>and</a:t>
            </a:r>
            <a:r>
              <a:rPr lang="en-US" sz="2300" dirty="0"/>
              <a:t>/</a:t>
            </a:r>
            <a:r>
              <a:rPr lang="en-US" sz="2300" dirty="0">
                <a:latin typeface="Consolas" panose="020B0609020204030204" pitchFamily="49" charset="0"/>
              </a:rPr>
              <a:t>or</a:t>
            </a:r>
            <a:r>
              <a:rPr lang="en-US" sz="2300" dirty="0"/>
              <a:t>) use short-circuit evaluation.</a:t>
            </a:r>
          </a:p>
          <a:p>
            <a:r>
              <a:rPr lang="en-US" sz="2300" dirty="0"/>
              <a:t>For expressions with binary operators, both operands must have the same or closely-related types.</a:t>
            </a:r>
          </a:p>
          <a:p>
            <a:pPr lvl="1"/>
            <a:r>
              <a:rPr lang="en-US" sz="1900" dirty="0"/>
              <a:t>can add </a:t>
            </a:r>
            <a:r>
              <a:rPr lang="en-US" sz="1900" dirty="0">
                <a:latin typeface="Consolas" panose="020B0609020204030204" pitchFamily="49" charset="0"/>
              </a:rPr>
              <a:t>Byte</a:t>
            </a:r>
            <a:r>
              <a:rPr lang="en-US" sz="1900" dirty="0"/>
              <a:t> and </a:t>
            </a:r>
            <a:r>
              <a:rPr lang="en-US" sz="1900" dirty="0">
                <a:latin typeface="Consolas" panose="020B0609020204030204" pitchFamily="49" charset="0"/>
              </a:rPr>
              <a:t>Integer</a:t>
            </a:r>
            <a:endParaRPr lang="en-US" dirty="0"/>
          </a:p>
          <a:p>
            <a:r>
              <a:rPr lang="en-US" sz="2300" dirty="0"/>
              <a:t>Objects are considered to have the same type only if they have the same type name or they are declared using identical type constructors.  (“name equivalence” of types)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35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A795-F4C4-108A-2724-8C2E90FA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EE25C-491A-1835-6EEC-5169BE98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sz="2300" dirty="0"/>
              <a:t>Similar to most C-based languages, CPRL has a ternary conditional operator “</a:t>
            </a:r>
            <a:r>
              <a:rPr lang="en-US" sz="2300" dirty="0">
                <a:latin typeface="Consolas" panose="020B0609020204030204" pitchFamily="49" charset="0"/>
              </a:rPr>
              <a:t>?:</a:t>
            </a:r>
            <a:r>
              <a:rPr lang="en-US" sz="2300" dirty="0"/>
              <a:t>” that uses two symbols and three expressions.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expr</a:t>
            </a:r>
            <a:r>
              <a:rPr lang="en-US" baseline="-25000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? expr</a:t>
            </a:r>
            <a:r>
              <a:rPr lang="en-US" baseline="-25000" dirty="0"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: expr</a:t>
            </a:r>
            <a:r>
              <a:rPr lang="en-US" baseline="-25000" dirty="0">
                <a:latin typeface="Consolas" panose="020B0609020204030204" pitchFamily="49" charset="0"/>
              </a:rPr>
              <a:t>3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sz="2300" dirty="0"/>
              <a:t>The first expression, </a:t>
            </a:r>
            <a:r>
              <a:rPr lang="en-US" sz="2300" dirty="0">
                <a:latin typeface="Consolas" panose="020B0609020204030204" pitchFamily="49" charset="0"/>
              </a:rPr>
              <a:t>expr</a:t>
            </a:r>
            <a:r>
              <a:rPr lang="en-US" sz="2300" baseline="-25000" dirty="0">
                <a:latin typeface="Consolas" panose="020B0609020204030204" pitchFamily="49" charset="0"/>
              </a:rPr>
              <a:t>1</a:t>
            </a:r>
            <a:r>
              <a:rPr lang="en-US" sz="2300" dirty="0"/>
              <a:t>, should have type </a:t>
            </a:r>
            <a:r>
              <a:rPr lang="en-US" sz="2300" dirty="0">
                <a:latin typeface="Consolas" panose="020B0609020204030204" pitchFamily="49" charset="0"/>
              </a:rPr>
              <a:t>Boolean</a:t>
            </a:r>
            <a:r>
              <a:rPr lang="en-US" sz="2300" dirty="0"/>
              <a:t>, and the second and third expressions (</a:t>
            </a:r>
            <a:r>
              <a:rPr lang="en-US" sz="2300" dirty="0">
                <a:latin typeface="Consolas" panose="020B0609020204030204" pitchFamily="49" charset="0"/>
              </a:rPr>
              <a:t>expr</a:t>
            </a:r>
            <a:r>
              <a:rPr lang="en-US" sz="2300" baseline="-25000" dirty="0">
                <a:latin typeface="Consolas" panose="020B0609020204030204" pitchFamily="49" charset="0"/>
              </a:rPr>
              <a:t>2</a:t>
            </a:r>
            <a:r>
              <a:rPr lang="en-US" sz="2300" dirty="0"/>
              <a:t> and </a:t>
            </a:r>
            <a:r>
              <a:rPr lang="en-US" sz="2300" dirty="0">
                <a:latin typeface="Consolas" panose="020B0609020204030204" pitchFamily="49" charset="0"/>
              </a:rPr>
              <a:t>expr</a:t>
            </a:r>
            <a:r>
              <a:rPr lang="en-US" sz="2300" baseline="-25000" dirty="0">
                <a:latin typeface="Consolas" panose="020B0609020204030204" pitchFamily="49" charset="0"/>
              </a:rPr>
              <a:t>3</a:t>
            </a:r>
            <a:r>
              <a:rPr lang="en-US" sz="2300" dirty="0"/>
              <a:t>) should have the same type.</a:t>
            </a:r>
          </a:p>
          <a:p>
            <a:r>
              <a:rPr lang="en-US" sz="2300" dirty="0"/>
              <a:t>If the first expression is </a:t>
            </a:r>
            <a:r>
              <a:rPr lang="en-US" sz="2300" dirty="0">
                <a:latin typeface="Consolas" panose="020B0609020204030204" pitchFamily="49" charset="0"/>
              </a:rPr>
              <a:t>true</a:t>
            </a:r>
            <a:r>
              <a:rPr lang="en-US" sz="2300" dirty="0"/>
              <a:t>, the value of the conditional expression is the second expression.  Otherwise, the value of the conditional expression is the third expression.</a:t>
            </a:r>
          </a:p>
          <a:p>
            <a:r>
              <a:rPr lang="en-US" dirty="0"/>
              <a:t>Example.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max := x &gt; y ? x : y;   // compute max of x and 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7974D-9195-59E2-5570-B358EC667A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C77DD-D771-B51B-1241-BEE311C458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40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Examples: 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Example 1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var x :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y : array[10] of Integer;</a:t>
            </a:r>
          </a:p>
          <a:p>
            <a:pPr marL="457200" lvl="1" indent="0">
              <a:buNone/>
            </a:pPr>
            <a:r>
              <a:rPr lang="en-US" dirty="0"/>
              <a:t>In this example,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y</a:t>
            </a:r>
            <a:r>
              <a:rPr lang="en-US" dirty="0"/>
              <a:t> have the same type – identical array type constructors.</a:t>
            </a:r>
          </a:p>
          <a:p>
            <a:r>
              <a:rPr lang="en-US" dirty="0"/>
              <a:t>Example 2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type T1 = array[10] of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type T2 = array[10] of Integer;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x : T1;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y : T1;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var z : T2;</a:t>
            </a:r>
          </a:p>
          <a:p>
            <a:pPr marL="457200" lvl="1" indent="0">
              <a:buNone/>
            </a:pPr>
            <a:r>
              <a:rPr lang="en-US" dirty="0"/>
              <a:t>In this example,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y</a:t>
            </a:r>
            <a:r>
              <a:rPr lang="en-US" dirty="0"/>
              <a:t> have the same type, but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z</a:t>
            </a:r>
            <a:r>
              <a:rPr lang="en-US" dirty="0"/>
              <a:t> do not even though they have the same structure.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0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50" dirty="0"/>
              <a:t>The assignment symbol is “</a:t>
            </a:r>
            <a:r>
              <a:rPr lang="en-US" sz="2350" dirty="0">
                <a:latin typeface="Consolas" panose="020B0609020204030204" pitchFamily="49" charset="0"/>
              </a:rPr>
              <a:t>:=</a:t>
            </a:r>
            <a:r>
              <a:rPr lang="en-US" sz="2350" dirty="0"/>
              <a:t>”.  An assignment statement has the form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variable := expression;</a:t>
            </a:r>
          </a:p>
          <a:p>
            <a:r>
              <a:rPr lang="en-US" sz="2350" dirty="0"/>
              <a:t>Example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 := 2*i + 5;</a:t>
            </a:r>
          </a:p>
          <a:p>
            <a:r>
              <a:rPr lang="en-US" sz="2350" dirty="0"/>
              <a:t>The variable and the expression must have assignment compatible types.</a:t>
            </a:r>
          </a:p>
          <a:p>
            <a:r>
              <a:rPr lang="en-US" sz="2350" dirty="0"/>
              <a:t>String literals may be assigned to string variables.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var name : String;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name := "Caleb";      // length = 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54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4C41-F9D0-4DA8-A9A7-DA5505EF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EAB5-D627-4488-88B9-06E0F0A30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sequence of zero or more statements enclosed in 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can be used anywhere a single statement can be used.</a:t>
            </a:r>
          </a:p>
          <a:p>
            <a:pPr lvl="1"/>
            <a:r>
              <a:rPr lang="en-US" dirty="0"/>
              <a:t>commonly used in conjunction with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loop</a:t>
            </a:r>
            <a:r>
              <a:rPr lang="en-US" dirty="0"/>
              <a:t> statements</a:t>
            </a:r>
          </a:p>
          <a:p>
            <a:r>
              <a:rPr lang="en-US" dirty="0"/>
              <a:t>Example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while i &lt; length loop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a[i];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 := i + 1;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4430-DF7C-4CF9-A736-6B98A251BC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BE122-75F4-44C9-B1B3-8BBF0FCD0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CCA01C-BD8B-A538-78F5-002F56BF7D86}"/>
              </a:ext>
            </a:extLst>
          </p:cNvPr>
          <p:cNvGrpSpPr/>
          <p:nvPr/>
        </p:nvGrpSpPr>
        <p:grpSpPr>
          <a:xfrm>
            <a:off x="4052055" y="3810000"/>
            <a:ext cx="2272545" cy="1097280"/>
            <a:chOff x="4585455" y="3886200"/>
            <a:chExt cx="2272545" cy="1097280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B8E80389-0E35-5F73-4D62-7E581957BE8D}"/>
                </a:ext>
              </a:extLst>
            </p:cNvPr>
            <p:cNvSpPr/>
            <p:nvPr/>
          </p:nvSpPr>
          <p:spPr>
            <a:xfrm>
              <a:off x="4585455" y="3886200"/>
              <a:ext cx="182880" cy="1097280"/>
            </a:xfrm>
            <a:prstGeom prst="rightBrac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A3673A-0E71-4FDA-50F9-E387579B54B4}"/>
                </a:ext>
              </a:extLst>
            </p:cNvPr>
            <p:cNvSpPr txBox="1"/>
            <p:nvPr/>
          </p:nvSpPr>
          <p:spPr>
            <a:xfrm>
              <a:off x="4756143" y="4265563"/>
              <a:ext cx="21018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compound statement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42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with the keyword “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” and may contain an optional </a:t>
            </a:r>
            <a:r>
              <a:rPr lang="en-US" dirty="0">
                <a:latin typeface="Consolas" panose="020B0609020204030204" pitchFamily="49" charset="0"/>
              </a:rPr>
              <a:t>else</a:t>
            </a:r>
            <a:r>
              <a:rPr lang="en-US" dirty="0"/>
              <a:t> clause.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if x &gt;= y then           if x &lt; y then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max := x;      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else                         // swap x and y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max := y;                temp :=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x := y;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y := temp;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5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and Exit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A loop statement consist of the keyword “</a:t>
            </a:r>
            <a:r>
              <a:rPr lang="en-US" dirty="0">
                <a:latin typeface="Consolas" panose="020B0609020204030204" pitchFamily="49" charset="0"/>
              </a:rPr>
              <a:t>loop</a:t>
            </a:r>
            <a:r>
              <a:rPr lang="en-US" dirty="0"/>
              <a:t>” followed by a statement, which is often a compound statement.</a:t>
            </a:r>
          </a:p>
          <a:p>
            <a:pPr lvl="1"/>
            <a:r>
              <a:rPr lang="en-US" dirty="0"/>
              <a:t>may be preceded by an optional 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 clause</a:t>
            </a:r>
          </a:p>
          <a:p>
            <a:r>
              <a:rPr lang="en-US" dirty="0"/>
              <a:t>An </a:t>
            </a:r>
            <a:r>
              <a:rPr lang="en-US" dirty="0">
                <a:latin typeface="Consolas" panose="020B0609020204030204" pitchFamily="49" charset="0"/>
              </a:rPr>
              <a:t>exit</a:t>
            </a:r>
            <a:r>
              <a:rPr lang="en-US" dirty="0"/>
              <a:t> statement can be used to exit the inner most loop that contains it.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while i &lt; n loop             </a:t>
            </a:r>
            <a:r>
              <a:rPr lang="en-US" sz="1800" dirty="0" err="1">
                <a:latin typeface="Consolas" panose="020B0609020204030204" pitchFamily="49" charset="0"/>
              </a:rPr>
              <a:t>loop</a:t>
            </a: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                    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sum := sum + a[i];           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 := i + 1;                  exit when x = SIGNAL;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                              process(x);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8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and Exit Statements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CPRL also permits an optional “</a:t>
            </a:r>
            <a:r>
              <a:rPr lang="en-US" dirty="0">
                <a:latin typeface="Consolas" panose="020B0609020204030204" pitchFamily="49" charset="0"/>
              </a:rPr>
              <a:t>for</a:t>
            </a:r>
            <a:r>
              <a:rPr lang="en-US" dirty="0"/>
              <a:t>” prefix for a loop.</a:t>
            </a:r>
            <a:br>
              <a:rPr lang="en-US" dirty="0"/>
            </a:br>
            <a:r>
              <a:rPr lang="en-US" sz="2000" dirty="0"/>
              <a:t>(convenient for looping over elements in an array)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for i in 0..99 loop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a[i] := a[i] + 1;</a:t>
            </a: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for-loop</a:t>
            </a:r>
            <a:r>
              <a:rPr lang="en-US" dirty="0"/>
              <a:t> variable, </a:t>
            </a:r>
            <a:r>
              <a:rPr lang="en-US" dirty="0">
                <a:latin typeface="Consolas" panose="020B0609020204030204" pitchFamily="49" charset="0"/>
              </a:rPr>
              <a:t>i</a:t>
            </a:r>
            <a:r>
              <a:rPr lang="en-US" dirty="0"/>
              <a:t> in the above example, is implicitly declared as a variable of type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 and is scoped to the loop.</a:t>
            </a:r>
          </a:p>
          <a:p>
            <a:r>
              <a:rPr lang="en-US" dirty="0"/>
              <a:t>The range of values in a for-loop can also have an enumerated type.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for d in Day.Sun..</a:t>
            </a:r>
            <a:r>
              <a:rPr lang="en-US" sz="1800" dirty="0" err="1">
                <a:latin typeface="Consolas" panose="020B0609020204030204" pitchFamily="49" charset="0"/>
              </a:rPr>
              <a:t>Day.Sat</a:t>
            </a:r>
            <a:r>
              <a:rPr lang="en-US" sz="1800" dirty="0">
                <a:latin typeface="Consolas" panose="020B0609020204030204" pitchFamily="49" charset="0"/>
              </a:rPr>
              <a:t> loop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dayNames</a:t>
            </a:r>
            <a:r>
              <a:rPr lang="en-US" sz="1800" dirty="0">
                <a:latin typeface="Consolas" panose="020B0609020204030204" pitchFamily="49" charset="0"/>
              </a:rPr>
              <a:t>[d];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60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Input/Output</a:t>
            </a:r>
            <a:r>
              <a:rPr lang="en-US" dirty="0"/>
              <a:t>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CPRL defines only sequential text I/O for two basic character streams, standard input and standard output.</a:t>
            </a:r>
          </a:p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write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writeln</a:t>
            </a:r>
            <a:r>
              <a:rPr lang="en-US" dirty="0"/>
              <a:t> statements can have multiple expressions separated by commas.</a:t>
            </a:r>
          </a:p>
          <a:p>
            <a:r>
              <a:rPr lang="en-US" dirty="0"/>
              <a:t>Input is supported for integers, characters, and strings.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writeln "The answer is ", 2*x + 1;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36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has an optional list of initial declarations (</a:t>
            </a:r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var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declarations) followed by one or more subprogram declarations.</a:t>
            </a:r>
          </a:p>
          <a:p>
            <a:r>
              <a:rPr lang="en-US" dirty="0"/>
              <a:t>One of the subprograms must be a parameterless procedure named “</a:t>
            </a:r>
            <a:r>
              <a:rPr lang="en-US" dirty="0">
                <a:latin typeface="Consolas" panose="020B0609020204030204" pitchFamily="49" charset="0"/>
              </a:rPr>
              <a:t>main()</a:t>
            </a:r>
            <a:r>
              <a:rPr lang="en-US" dirty="0"/>
              <a:t>”, which serves as the starting point for program execution.</a:t>
            </a:r>
          </a:p>
          <a:p>
            <a:r>
              <a:rPr lang="en-US" dirty="0"/>
              <a:t>Examples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proc main()                       var x : Integer;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                               proc main()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"Hello, world.";      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                                   read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  </a:t>
            </a:r>
            <a:r>
              <a:rPr lang="en-US" sz="1800" dirty="0" err="1">
                <a:latin typeface="Consolas" panose="020B0609020204030204" pitchFamily="49" charset="0"/>
              </a:rPr>
              <a:t>writeln</a:t>
            </a:r>
            <a:r>
              <a:rPr lang="en-US" sz="1800" dirty="0">
                <a:latin typeface="Consolas" panose="020B0609020204030204" pitchFamily="49" charset="0"/>
              </a:rPr>
              <a:t> "x = ", x;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58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CPRL provides two separate forms of subprograms – procedures and functions</a:t>
            </a:r>
          </a:p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similar to a void function in C or C++</a:t>
            </a:r>
          </a:p>
          <a:p>
            <a:pPr lvl="1"/>
            <a:r>
              <a:rPr lang="en-US" dirty="0"/>
              <a:t>does not return a value</a:t>
            </a:r>
          </a:p>
          <a:p>
            <a:pPr lvl="1"/>
            <a:r>
              <a:rPr lang="en-US" dirty="0"/>
              <a:t>invoked through a procedure call statement</a:t>
            </a:r>
          </a:p>
          <a:p>
            <a:r>
              <a:rPr lang="en-US" dirty="0"/>
              <a:t>Function</a:t>
            </a:r>
          </a:p>
          <a:p>
            <a:pPr lvl="1"/>
            <a:r>
              <a:rPr lang="en-US" dirty="0"/>
              <a:t>must return a value</a:t>
            </a:r>
          </a:p>
          <a:p>
            <a:pPr lvl="1"/>
            <a:r>
              <a:rPr lang="en-US" dirty="0"/>
              <a:t>invoked as part of an expression</a:t>
            </a:r>
          </a:p>
          <a:p>
            <a:r>
              <a:rPr lang="en-US" dirty="0"/>
              <a:t>Keywords “</a:t>
            </a:r>
            <a:r>
              <a:rPr lang="en-US" dirty="0">
                <a:latin typeface="Consolas" panose="020B0609020204030204" pitchFamily="49" charset="0"/>
              </a:rPr>
              <a:t>proc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fun</a:t>
            </a:r>
            <a:r>
              <a:rPr lang="en-US" dirty="0"/>
              <a:t>” are used to start the declarations of procedures and functions, respectively.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42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invocations of subprograms are allowed.  </a:t>
            </a:r>
          </a:p>
          <a:p>
            <a:r>
              <a:rPr lang="en-US" dirty="0"/>
              <a:t>Subprograms are not required to be declared before they are called.</a:t>
            </a:r>
          </a:p>
          <a:p>
            <a:r>
              <a:rPr lang="en-US" dirty="0"/>
              <a:t>All subprogram names in a program must be distinct.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7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7" y="1363663"/>
            <a:ext cx="8229600" cy="4935537"/>
          </a:xfrm>
        </p:spPr>
        <p:txBody>
          <a:bodyPr/>
          <a:lstStyle/>
          <a:p>
            <a:r>
              <a:rPr lang="en-US" dirty="0"/>
              <a:t>Similar to void functions in C</a:t>
            </a:r>
          </a:p>
          <a:p>
            <a:pPr lvl="1"/>
            <a:r>
              <a:rPr lang="en-US" dirty="0"/>
              <a:t>braces enclose initial declarations followed by statements </a:t>
            </a:r>
          </a:p>
          <a:p>
            <a:pPr lvl="1"/>
            <a:r>
              <a:rPr lang="en-US" dirty="0"/>
              <a:t>explicit “return” statements are allowed but </a:t>
            </a:r>
            <a:r>
              <a:rPr lang="en-US" dirty="0">
                <a:latin typeface="Consolas" panose="020B0609020204030204" pitchFamily="49" charset="0"/>
              </a:rPr>
              <a:t>return</a:t>
            </a:r>
            <a:r>
              <a:rPr lang="en-US" dirty="0"/>
              <a:t> must not be followed by an expression</a:t>
            </a:r>
          </a:p>
          <a:p>
            <a:r>
              <a:rPr lang="en-US" dirty="0"/>
              <a:t>Procedures are called by simply giving their name followed by a comma-separated list of actual parameters enclosed in parentheses followed by a semicolon.</a:t>
            </a:r>
          </a:p>
          <a:p>
            <a:pPr lvl="1"/>
            <a:r>
              <a:rPr lang="en-US" dirty="0"/>
              <a:t>empty parentheses if no parameters</a:t>
            </a:r>
          </a:p>
          <a:p>
            <a:r>
              <a:rPr lang="en-US" dirty="0"/>
              <a:t>Procedure calls are statements.</a:t>
            </a:r>
          </a:p>
          <a:p>
            <a:pPr marL="457200" lvl="1" indent="0">
              <a:buNone/>
            </a:pPr>
            <a:r>
              <a:rPr lang="en-US" sz="1750" dirty="0" err="1">
                <a:latin typeface="Consolas" panose="020B0609020204030204" pitchFamily="49" charset="0"/>
              </a:rPr>
              <a:t>procedureCallStmt</a:t>
            </a:r>
            <a:r>
              <a:rPr lang="en-US" sz="1750" dirty="0">
                <a:latin typeface="Consolas" panose="020B0609020204030204" pitchFamily="49" charset="0"/>
              </a:rPr>
              <a:t> = </a:t>
            </a:r>
            <a:r>
              <a:rPr lang="en-US" sz="1750" dirty="0" err="1">
                <a:latin typeface="Consolas" panose="020B0609020204030204" pitchFamily="49" charset="0"/>
              </a:rPr>
              <a:t>procId</a:t>
            </a:r>
            <a:r>
              <a:rPr lang="en-US" sz="1750" dirty="0">
                <a:latin typeface="Consolas" panose="020B0609020204030204" pitchFamily="49" charset="0"/>
              </a:rPr>
              <a:t> "(" [ </a:t>
            </a:r>
            <a:r>
              <a:rPr lang="en-US" sz="1750" dirty="0" err="1">
                <a:latin typeface="Consolas" panose="020B0609020204030204" pitchFamily="49" charset="0"/>
              </a:rPr>
              <a:t>actualParameters</a:t>
            </a:r>
            <a:r>
              <a:rPr lang="en-US" sz="1750" dirty="0">
                <a:latin typeface="Consolas" panose="020B0609020204030204" pitchFamily="49" charset="0"/>
              </a:rPr>
              <a:t> ] ")" ";" .</a:t>
            </a:r>
          </a:p>
          <a:p>
            <a:pPr marL="457200" lvl="1" indent="0">
              <a:buNone/>
            </a:pPr>
            <a:r>
              <a:rPr lang="en-US" sz="1750" dirty="0" err="1">
                <a:latin typeface="Consolas" panose="020B0609020204030204" pitchFamily="49" charset="0"/>
              </a:rPr>
              <a:t>actualParameters</a:t>
            </a:r>
            <a:r>
              <a:rPr lang="en-US" sz="1750" dirty="0">
                <a:latin typeface="Consolas" panose="020B0609020204030204" pitchFamily="49" charset="0"/>
              </a:rPr>
              <a:t> = expression { "," expression } 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1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writeBoolean</a:t>
            </a:r>
            <a:r>
              <a:rPr lang="en-US" sz="1800" dirty="0">
                <a:latin typeface="Consolas" panose="020B0609020204030204" pitchFamily="49" charset="0"/>
              </a:rPr>
              <a:t>(b : Boolean)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if b then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write "true";        // equivalent to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else                     write b ? "true" : "false";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write "false";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27432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1E9DCEF-CA7E-88E9-3966-0477ABD90457}"/>
              </a:ext>
            </a:extLst>
          </p:cNvPr>
          <p:cNvSpPr/>
          <p:nvPr/>
        </p:nvSpPr>
        <p:spPr bwMode="auto">
          <a:xfrm>
            <a:off x="4038600" y="1962912"/>
            <a:ext cx="152400" cy="11430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479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procedures except that functions return values.</a:t>
            </a:r>
          </a:p>
          <a:p>
            <a:r>
              <a:rPr lang="en-US" dirty="0"/>
              <a:t>Function calls are expressions.</a:t>
            </a:r>
          </a:p>
          <a:p>
            <a:r>
              <a:rPr lang="en-US" dirty="0"/>
              <a:t>A function returns a value by executing a “</a:t>
            </a:r>
            <a:r>
              <a:rPr lang="en-US" dirty="0">
                <a:latin typeface="Consolas" panose="020B0609020204030204" pitchFamily="49" charset="0"/>
              </a:rPr>
              <a:t>return</a:t>
            </a:r>
            <a:r>
              <a:rPr lang="en-US" dirty="0"/>
              <a:t>” statement of the form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return &lt;expression&gt;;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64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max(x : Integer, y : Integer) : Integer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if x &gt;= y then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x;        // equivalent to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else                 return x &gt;= y ? x : y;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y;</a:t>
            </a:r>
          </a:p>
          <a:p>
            <a:pPr marL="27432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274320" lvl="1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81B44B-3A9F-C488-87AE-9DBD855E3A10}"/>
              </a:ext>
            </a:extLst>
          </p:cNvPr>
          <p:cNvSpPr/>
          <p:nvPr/>
        </p:nvSpPr>
        <p:spPr bwMode="auto">
          <a:xfrm>
            <a:off x="3617976" y="2057400"/>
            <a:ext cx="152400" cy="11430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16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parameter modes in CPRL, value parameters and variable parameters.</a:t>
            </a:r>
          </a:p>
          <a:p>
            <a:r>
              <a:rPr lang="en-US" dirty="0"/>
              <a:t>Value parameters are passed by value (a.k.a. copy-in) and are the default.</a:t>
            </a:r>
          </a:p>
          <a:p>
            <a:r>
              <a:rPr lang="en-US" dirty="0"/>
              <a:t>Variable parameters are passed by reference and must be explicitly declared using the “</a:t>
            </a:r>
            <a:r>
              <a:rPr lang="en-US" dirty="0">
                <a:latin typeface="Consolas" panose="020B0609020204030204" pitchFamily="49" charset="0"/>
              </a:rPr>
              <a:t>var</a:t>
            </a:r>
            <a:r>
              <a:rPr lang="en-US" dirty="0"/>
              <a:t>” keyword as in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inc</a:t>
            </a:r>
            <a:r>
              <a:rPr lang="en-US" sz="1800" dirty="0">
                <a:latin typeface="Consolas" panose="020B0609020204030204" pitchFamily="49" charset="0"/>
              </a:rPr>
              <a:t>(var x : Integer)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x := x + 1;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Functions cannot declare variable parameters.</a:t>
            </a:r>
          </a:p>
          <a:p>
            <a:pPr marL="457200" lvl="1" indent="0">
              <a:buNone/>
            </a:pPr>
            <a:r>
              <a:rPr lang="en-US" dirty="0"/>
              <a:t>(but arrays are always passed by reference, even for functions)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60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return statement terminates execution of a subprogram and returns control back to the point where the subprogram was called.</a:t>
            </a:r>
          </a:p>
          <a:p>
            <a:r>
              <a:rPr lang="en-US" dirty="0"/>
              <a:t>A return statement within a function must be followed by an expression whose value is returned by the function.</a:t>
            </a:r>
          </a:p>
          <a:p>
            <a:pPr lvl="1"/>
            <a:r>
              <a:rPr lang="en-US" dirty="0"/>
              <a:t>type of the expression must be the same as the declared return type of the function</a:t>
            </a:r>
          </a:p>
          <a:p>
            <a:r>
              <a:rPr lang="en-US" dirty="0"/>
              <a:t>A return statement within a procedure must not be followed by an expression – it simply returns control to the statement following the procedure call statement.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2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procedure has an implied return statement as its last statement, and therefore most procedures will not have an explicit return statement.</a:t>
            </a:r>
          </a:p>
          <a:p>
            <a:r>
              <a:rPr lang="en-US" dirty="0"/>
              <a:t>A function requires one or more return statements to return the function value.  There is no implicit return statement at the end of a function.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38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E64AB-2F2B-F79E-BDC9-F2AB65D6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Subprograms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A037-C95F-B397-A365-AC86DD556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63663"/>
            <a:ext cx="8503920" cy="4935537"/>
          </a:xfrm>
        </p:spPr>
        <p:txBody>
          <a:bodyPr/>
          <a:lstStyle/>
          <a:p>
            <a:r>
              <a:rPr lang="en-US" dirty="0"/>
              <a:t>CPRL provides four built-in subprograms.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fun chr(n : Integer) : Char  // returns the character with the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// specified Unicode code point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eof</a:t>
            </a:r>
            <a:r>
              <a:rPr lang="en-US" sz="1800" dirty="0">
                <a:latin typeface="Consolas" panose="020B0609020204030204" pitchFamily="49" charset="0"/>
              </a:rPr>
              <a:t>() : Boolean          // returns true if standard input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// has reached the end of file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inc</a:t>
            </a:r>
            <a:r>
              <a:rPr lang="en-US" sz="1800" dirty="0">
                <a:latin typeface="Consolas" panose="020B0609020204030204" pitchFamily="49" charset="0"/>
              </a:rPr>
              <a:t>(var n : Integer)    // increments n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fun </a:t>
            </a:r>
            <a:r>
              <a:rPr lang="en-US" sz="1800" dirty="0" err="1">
                <a:latin typeface="Consolas" panose="020B0609020204030204" pitchFamily="49" charset="0"/>
              </a:rPr>
              <a:t>ord</a:t>
            </a:r>
            <a:r>
              <a:rPr lang="en-US" sz="1800" dirty="0">
                <a:latin typeface="Consolas" panose="020B0609020204030204" pitchFamily="49" charset="0"/>
              </a:rPr>
              <a:t>(c : Char) : Integer  // returns the ordinal value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// of a character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ord</a:t>
            </a:r>
            <a:r>
              <a:rPr lang="en-US" dirty="0">
                <a:latin typeface="Consolas" panose="020B0609020204030204" pitchFamily="49" charset="0"/>
              </a:rPr>
              <a:t>('A')</a:t>
            </a:r>
            <a:r>
              <a:rPr lang="en-US" dirty="0"/>
              <a:t> returns the value </a:t>
            </a:r>
            <a:r>
              <a:rPr lang="en-US" dirty="0">
                <a:latin typeface="Consolas" panose="020B0609020204030204" pitchFamily="49" charset="0"/>
              </a:rPr>
              <a:t>65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chr(0x20AC)</a:t>
            </a:r>
            <a:r>
              <a:rPr lang="en-US" dirty="0"/>
              <a:t> returns the Euro sign </a:t>
            </a:r>
            <a:r>
              <a:rPr lang="en-US" dirty="0">
                <a:latin typeface="Consolas" panose="020B0609020204030204" pitchFamily="49" charset="0"/>
              </a:rPr>
              <a:t>'€'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8DBFB-47E9-B0BD-A98E-C106DAFDC6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DA3F2-C86D-E74C-99EA-6E32240CEA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A389BBEE-9217-4607-B20A-4E4F28539A3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25410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4438</TotalTime>
  <Words>3154</Words>
  <Application>Microsoft Office PowerPoint</Application>
  <PresentationFormat>On-screen Show (4:3)</PresentationFormat>
  <Paragraphs>413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Times New Roman</vt:lpstr>
      <vt:lpstr>SoftMoore2</vt:lpstr>
      <vt:lpstr>Definition of the Programming Language CPRL</vt:lpstr>
      <vt:lpstr>CPRL (for Compiler PRoject Language)</vt:lpstr>
      <vt:lpstr>General Lexical Considerations</vt:lpstr>
      <vt:lpstr>Identifiers</vt:lpstr>
      <vt:lpstr>37 Keywords</vt:lpstr>
      <vt:lpstr>Literals</vt:lpstr>
      <vt:lpstr>Other Symbols (Delimiters, Operators, and Special Symbols)</vt:lpstr>
      <vt:lpstr>Declarations, Statements, and Expressions</vt:lpstr>
      <vt:lpstr>Declarations, Statements, and Expressions (continued)</vt:lpstr>
      <vt:lpstr>Expressions versus Statements</vt:lpstr>
      <vt:lpstr>Type Nomenclature</vt:lpstr>
      <vt:lpstr>Type Structure of CPRL</vt:lpstr>
      <vt:lpstr>Scalar Types</vt:lpstr>
      <vt:lpstr>Composite Types</vt:lpstr>
      <vt:lpstr>Composite Types (continued)</vt:lpstr>
      <vt:lpstr>Composite Types (continued)</vt:lpstr>
      <vt:lpstr>Constants and Variables</vt:lpstr>
      <vt:lpstr>Constants and Variables (continued)</vt:lpstr>
      <vt:lpstr>Operators</vt:lpstr>
      <vt:lpstr>Expressions</vt:lpstr>
      <vt:lpstr>Conditional Expression</vt:lpstr>
      <vt:lpstr>Examples: Type Equivalence</vt:lpstr>
      <vt:lpstr>Assignment Statement</vt:lpstr>
      <vt:lpstr>Compound Statement</vt:lpstr>
      <vt:lpstr>If Statement</vt:lpstr>
      <vt:lpstr>Loop and Exit Statements</vt:lpstr>
      <vt:lpstr>Loop and Exit Statements (continued)</vt:lpstr>
      <vt:lpstr>Input/Output Statements</vt:lpstr>
      <vt:lpstr>Programs</vt:lpstr>
      <vt:lpstr>Subprograms</vt:lpstr>
      <vt:lpstr>Subprograms (continued)</vt:lpstr>
      <vt:lpstr>Procedures</vt:lpstr>
      <vt:lpstr>Procedure Example</vt:lpstr>
      <vt:lpstr>Functions</vt:lpstr>
      <vt:lpstr>Function Example</vt:lpstr>
      <vt:lpstr>Parameters</vt:lpstr>
      <vt:lpstr>Return Statements</vt:lpstr>
      <vt:lpstr>Return Statements (continued)</vt:lpstr>
      <vt:lpstr>Built-in Subprograms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of CPRL</dc:title>
  <dc:creator>John I. Moore, Jr.</dc:creator>
  <cp:lastModifiedBy>John Moore</cp:lastModifiedBy>
  <cp:revision>135</cp:revision>
  <cp:lastPrinted>2020-06-01T11:54:35Z</cp:lastPrinted>
  <dcterms:created xsi:type="dcterms:W3CDTF">2005-01-15T15:50:49Z</dcterms:created>
  <dcterms:modified xsi:type="dcterms:W3CDTF">2026-08-09T12:51:01Z</dcterms:modified>
</cp:coreProperties>
</file>