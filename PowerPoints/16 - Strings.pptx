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68" r:id="rId4"/>
    <p:sldId id="289" r:id="rId5"/>
    <p:sldId id="265" r:id="rId6"/>
    <p:sldId id="264" r:id="rId7"/>
    <p:sldId id="294" r:id="rId8"/>
    <p:sldId id="295" r:id="rId9"/>
    <p:sldId id="275" r:id="rId10"/>
    <p:sldId id="293" r:id="rId11"/>
    <p:sldId id="296" r:id="rId12"/>
    <p:sldId id="262" r:id="rId13"/>
    <p:sldId id="298" r:id="rId14"/>
    <p:sldId id="299" r:id="rId15"/>
    <p:sldId id="300" r:id="rId16"/>
    <p:sldId id="301" r:id="rId17"/>
    <p:sldId id="302" r:id="rId18"/>
    <p:sldId id="263" r:id="rId19"/>
    <p:sldId id="270" r:id="rId20"/>
    <p:sldId id="274" r:id="rId21"/>
    <p:sldId id="276" r:id="rId22"/>
    <p:sldId id="303" r:id="rId23"/>
    <p:sldId id="304" r:id="rId24"/>
    <p:sldId id="305" r:id="rId25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330099"/>
    <a:srgbClr val="330098"/>
    <a:srgbClr val="320096"/>
    <a:srgbClr val="230068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95" autoAdjust="0"/>
    <p:restoredTop sz="95084" autoAdjust="0"/>
  </p:normalViewPr>
  <p:slideViewPr>
    <p:cSldViewPr>
      <p:cViewPr varScale="1">
        <p:scale>
          <a:sx n="76" d="100"/>
          <a:sy n="76" d="100"/>
        </p:scale>
        <p:origin x="36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2357" y="38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143842" y="0"/>
            <a:ext cx="3171358" cy="481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3" tIns="48322" rIns="96643" bIns="48322" numCol="1" anchor="t" anchorCtr="0" compatLnSpc="1">
            <a:prstTxWarp prst="textNoShape">
              <a:avLst/>
            </a:prstTxWarp>
          </a:bodyPr>
          <a:lstStyle>
            <a:lvl1pPr algn="r" defTabSz="966421">
              <a:defRPr sz="1200"/>
            </a:lvl1pPr>
          </a:lstStyle>
          <a:p>
            <a:pPr>
              <a:defRPr/>
            </a:pPr>
            <a:r>
              <a:rPr lang="en-US" sz="1100" dirty="0">
                <a:latin typeface="+mn-lt"/>
              </a:rPr>
              <a:t>Strings</a:t>
            </a:r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842" y="9120158"/>
            <a:ext cx="3171358" cy="48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3" tIns="48322" rIns="96643" bIns="48322" numCol="1" anchor="b" anchorCtr="0" compatLnSpc="1">
            <a:prstTxWarp prst="textNoShape">
              <a:avLst/>
            </a:prstTxWarp>
          </a:bodyPr>
          <a:lstStyle>
            <a:lvl1pPr algn="r" defTabSz="966421">
              <a:defRPr sz="1200"/>
            </a:lvl1pPr>
          </a:lstStyle>
          <a:p>
            <a:pPr>
              <a:defRPr/>
            </a:pPr>
            <a:r>
              <a:rPr lang="en-US" sz="1100" dirty="0">
                <a:latin typeface="+mn-lt"/>
              </a:rPr>
              <a:t>15-</a:t>
            </a:r>
            <a:fld id="{5241A4F1-978F-4F0D-82EC-237403889A63}" type="slidenum">
              <a:rPr lang="en-US" sz="1100">
                <a:latin typeface="+mn-lt"/>
              </a:rPr>
              <a:pPr>
                <a:defRPr/>
              </a:pPr>
              <a:t>‹#›</a:t>
            </a:fld>
            <a:endParaRPr lang="en-US" sz="11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15788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0"/>
            <a:ext cx="3171359" cy="481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3" tIns="48322" rIns="96643" bIns="48322" numCol="1" anchor="t" anchorCtr="0" compatLnSpc="1">
            <a:prstTxWarp prst="textNoShape">
              <a:avLst/>
            </a:prstTxWarp>
          </a:bodyPr>
          <a:lstStyle>
            <a:lvl1pPr algn="l" defTabSz="966421">
              <a:defRPr sz="1200"/>
            </a:lvl1pPr>
          </a:lstStyle>
          <a:p>
            <a:pPr>
              <a:defRPr/>
            </a:pPr>
            <a:r>
              <a:rPr lang="en-US" dirty="0"/>
              <a:t>Strings</a:t>
            </a:r>
          </a:p>
        </p:txBody>
      </p:sp>
      <p:sp>
        <p:nvSpPr>
          <p:cNvPr id="64515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842" y="0"/>
            <a:ext cx="3171358" cy="481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3" tIns="48322" rIns="96643" bIns="48322" numCol="1" anchor="t" anchorCtr="0" compatLnSpc="1">
            <a:prstTxWarp prst="textNoShape">
              <a:avLst/>
            </a:prstTxWarp>
          </a:bodyPr>
          <a:lstStyle>
            <a:lvl1pPr algn="r" defTabSz="96642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7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803" y="4560898"/>
            <a:ext cx="5363595" cy="4321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3" tIns="48322" rIns="96643" bIns="48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120158"/>
            <a:ext cx="3171359" cy="48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3" tIns="48322" rIns="96643" bIns="48322" numCol="1" anchor="b" anchorCtr="0" compatLnSpc="1">
            <a:prstTxWarp prst="textNoShape">
              <a:avLst/>
            </a:prstTxWarp>
          </a:bodyPr>
          <a:lstStyle>
            <a:lvl1pPr algn="l" defTabSz="96642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842" y="9120158"/>
            <a:ext cx="3171358" cy="48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3" tIns="48322" rIns="96643" bIns="48322" numCol="1" anchor="b" anchorCtr="0" compatLnSpc="1">
            <a:prstTxWarp prst="textNoShape">
              <a:avLst/>
            </a:prstTxWarp>
          </a:bodyPr>
          <a:lstStyle>
            <a:lvl1pPr algn="r" defTabSz="966421">
              <a:defRPr sz="1200"/>
            </a:lvl1pPr>
          </a:lstStyle>
          <a:p>
            <a:pPr>
              <a:defRPr/>
            </a:pPr>
            <a:fld id="{5BF450E6-15A0-4DB2-99B2-4CCE2B5D6D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988389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15363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FB2F2E-B522-4673-9066-5664F313C474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53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06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38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2FE360-291F-42C0-8A4E-A0C3A0C3ED0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9942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38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2FE360-291F-42C0-8A4E-A0C3A0C3ED0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6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638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2FE360-291F-42C0-8A4E-A0C3A0C3ED0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32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Strings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F450E6-15A0-4DB2-99B2-4CCE2B5D6D7D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44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Strings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F450E6-15A0-4DB2-99B2-4CCE2B5D6D7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55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891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pPr defTabSz="966529"/>
            <a:r>
              <a:rPr lang="en-US" dirty="0"/>
              <a:t>Constraint Analysis</a:t>
            </a:r>
          </a:p>
        </p:txBody>
      </p:sp>
      <p:sp>
        <p:nvSpPr>
          <p:cNvPr id="3891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6529"/>
            <a:fld id="{55111D70-59CA-4E73-90CB-ABA757279DF6}" type="slidenum">
              <a:rPr lang="en-US" smtClean="0"/>
              <a:pPr defTabSz="966529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9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891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pPr defTabSz="966529"/>
            <a:r>
              <a:rPr lang="en-US" dirty="0"/>
              <a:t>Constraint Analysis</a:t>
            </a:r>
          </a:p>
        </p:txBody>
      </p:sp>
      <p:sp>
        <p:nvSpPr>
          <p:cNvPr id="3891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6529"/>
            <a:fld id="{55111D70-59CA-4E73-90CB-ABA757279DF6}" type="slidenum">
              <a:rPr lang="en-US" smtClean="0"/>
              <a:pPr defTabSz="966529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260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2E466-794F-52A7-3FBB-E2BB3F5F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3866CB2D-AA41-AC97-DD1D-E3ADE3502F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B8C7C1CA-B329-4E65-9BE7-ADE4876D1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38916" name="Header Placeholder 3">
            <a:extLst>
              <a:ext uri="{FF2B5EF4-FFF2-40B4-BE49-F238E27FC236}">
                <a16:creationId xmlns:a16="http://schemas.microsoft.com/office/drawing/2014/main" id="{5F813B96-EBAF-2EE5-3D23-BDBAA84D2F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pPr defTabSz="966529"/>
            <a:r>
              <a:rPr lang="en-US" dirty="0"/>
              <a:t>Constraint Analysis</a:t>
            </a:r>
          </a:p>
        </p:txBody>
      </p:sp>
      <p:sp>
        <p:nvSpPr>
          <p:cNvPr id="38917" name="Slide Number Placeholder 4">
            <a:extLst>
              <a:ext uri="{FF2B5EF4-FFF2-40B4-BE49-F238E27FC236}">
                <a16:creationId xmlns:a16="http://schemas.microsoft.com/office/drawing/2014/main" id="{D5D534D9-9DE3-50CE-B285-F58531937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6529"/>
            <a:fld id="{55111D70-59CA-4E73-90CB-ABA757279DF6}" type="slidenum">
              <a:rPr lang="en-US" smtClean="0"/>
              <a:pPr defTabSz="966529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8739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Strings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F450E6-15A0-4DB2-99B2-4CCE2B5D6D7D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2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Strings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F450E6-15A0-4DB2-99B2-4CCE2B5D6D7D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23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Strings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F450E6-15A0-4DB2-99B2-4CCE2B5D6D7D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563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Strings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F450E6-15A0-4DB2-99B2-4CCE2B5D6D7D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682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Strings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F450E6-15A0-4DB2-99B2-4CCE2B5D6D7D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778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Strings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450E6-15A0-4DB2-99B2-4CCE2B5D6D7D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00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547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1600200"/>
            <a:ext cx="7772400" cy="1371600"/>
          </a:xfrm>
          <a:ln w="25400">
            <a:solidFill>
              <a:srgbClr val="800000"/>
            </a:solidFill>
            <a:headEnd type="none" w="sm" len="sm"/>
            <a:tailEnd type="none" w="sm" len="sm"/>
          </a:ln>
        </p:spPr>
        <p:txBody>
          <a:bodyPr wrap="none" lIns="91440" tIns="45720" rIns="91440" bIns="45720"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7388" y="3276600"/>
            <a:ext cx="7772400" cy="28194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97141924-5E9F-47E2-AB8F-3621F5E1A8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</a:t>
            </a:r>
            <a:r>
              <a:rPr lang="en-US" dirty="0" err="1"/>
              <a:t>SoftMoore</a:t>
            </a:r>
            <a:r>
              <a:rPr lang="en-US" dirty="0"/>
              <a:t> Consulting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3A451E74-E241-4D9B-B11E-E03372E7F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1363663"/>
            <a:ext cx="4037012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63663"/>
            <a:ext cx="4037013" cy="4935537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algn="l" rtl="0" eaLnBrk="0" fontAlgn="base" hangingPunct="0">
              <a:spcAft>
                <a:spcPct val="0"/>
              </a:spcAft>
              <a:defRPr kumimoji="1" lang="en-US" sz="24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kumimoji="1" lang="en-US" sz="20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kumimoji="1" lang="en-US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kumimoji="1" lang="en-US" sz="16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kumimoji="1"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DBD715BD-81CC-407F-8C96-2184AFE5A7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5D566F7F-81D0-4104-850B-2C0EE3911D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012C0F64-474C-4543-BAE8-E00603AEC2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38113"/>
            <a:ext cx="7315200" cy="100488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363663"/>
            <a:ext cx="8226425" cy="493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44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477000"/>
            <a:ext cx="2741613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10445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78600" y="6477000"/>
            <a:ext cx="1828800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/>
              <a:t>Slide </a:t>
            </a:r>
            <a:fld id="{B0456019-3709-4872-AEB5-6BBEE481E4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4454" name="Line 6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4455" name="Line 7"/>
          <p:cNvSpPr>
            <a:spLocks noChangeShapeType="1"/>
          </p:cNvSpPr>
          <p:nvPr/>
        </p:nvSpPr>
        <p:spPr bwMode="auto">
          <a:xfrm>
            <a:off x="914400" y="1209675"/>
            <a:ext cx="7313613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32" r:id="rId2"/>
    <p:sldLayoutId id="2147483834" r:id="rId3"/>
    <p:sldLayoutId id="2147483836" r:id="rId4"/>
    <p:sldLayoutId id="2147483837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SzPct val="12500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8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©</a:t>
            </a:r>
            <a:r>
              <a:rPr lang="en-US" dirty="0" err="1"/>
              <a:t>SoftMoore</a:t>
            </a:r>
            <a:r>
              <a:rPr lang="en-US" dirty="0"/>
              <a:t> Consulting</a:t>
            </a:r>
          </a:p>
        </p:txBody>
      </p:sp>
      <p:sp>
        <p:nvSpPr>
          <p:cNvPr id="3075" name="Rectangle 6"/>
          <p:cNvSpPr>
            <a:spLocks noGrp="1" noChangeArrowheads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12A919EC-3D58-4FB7-A51F-E8537E2DF0D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in CPRL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00" dirty="0"/>
              <a:t>CPRL supports sequences of characters called character strings, or simply strings.</a:t>
            </a:r>
          </a:p>
          <a:p>
            <a:r>
              <a:rPr lang="en-US" sz="2300" dirty="0"/>
              <a:t>String literals are enclosed in (double) quotation marks.</a:t>
            </a:r>
          </a:p>
          <a:p>
            <a:pPr marL="51435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"Hello, world."</a:t>
            </a:r>
          </a:p>
          <a:p>
            <a:r>
              <a:rPr lang="en-US" sz="2300" dirty="0">
                <a:latin typeface="Consolas" panose="020B0609020204030204" pitchFamily="49" charset="0"/>
              </a:rPr>
              <a:t>String</a:t>
            </a:r>
            <a:r>
              <a:rPr lang="en-US" sz="2300" dirty="0"/>
              <a:t> is a predefined composite type in CPRL.</a:t>
            </a:r>
          </a:p>
          <a:p>
            <a:r>
              <a:rPr lang="en-US" sz="2300" dirty="0"/>
              <a:t>String variables can be initialized using string literals or declared string constants.</a:t>
            </a:r>
          </a:p>
          <a:p>
            <a:r>
              <a:rPr lang="en-US" sz="2300" dirty="0"/>
              <a:t>For a string variable, the length is determined when it is assigned a value via</a:t>
            </a:r>
          </a:p>
          <a:p>
            <a:pPr lvl="1"/>
            <a:r>
              <a:rPr lang="en-US" dirty="0"/>
              <a:t>initialization</a:t>
            </a:r>
          </a:p>
          <a:p>
            <a:pPr lvl="1"/>
            <a:r>
              <a:rPr lang="en-US" dirty="0"/>
              <a:t>an assignment statement</a:t>
            </a:r>
          </a:p>
          <a:p>
            <a:pPr lvl="1"/>
            <a:r>
              <a:rPr lang="en-US" dirty="0"/>
              <a:t>a read statement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410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1516574E-B683-4C8F-B161-144BCACCF6BA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Using Strings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58787" y="1363663"/>
            <a:ext cx="8321040" cy="4935537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var month : String := "January";   // length 7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var name  : String;   // length undefined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var line  : String;   // length undefined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name := "Keira";      // length now equals 5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read line;            // length base on characters read</a:t>
            </a:r>
          </a:p>
          <a:p>
            <a:endParaRPr lang="en-US" dirty="0"/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410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1516574E-B683-4C8F-B161-144BCACCF6B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D80104-3AC0-59D7-F2DE-62919D762242}"/>
              </a:ext>
            </a:extLst>
          </p:cNvPr>
          <p:cNvSpPr txBox="1"/>
          <p:nvPr/>
        </p:nvSpPr>
        <p:spPr>
          <a:xfrm>
            <a:off x="875315" y="4073604"/>
            <a:ext cx="7393371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2200" dirty="0"/>
              <a:t>Note that length is a run-time property of a string variable.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length of a string variable is based on its current value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can change at run-time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CPRL Strings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58787" y="1363663"/>
            <a:ext cx="8321040" cy="4935537"/>
          </a:xfrm>
        </p:spPr>
        <p:txBody>
          <a:bodyPr/>
          <a:lstStyle/>
          <a:p>
            <a:r>
              <a:rPr lang="en-US" dirty="0"/>
              <a:t>Strings use the array index notation to provide access to the individual characters, and they use the dot notation to provide access to the string length.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name[0]       // the character at index 0 (first character)</a:t>
            </a:r>
          </a:p>
          <a:p>
            <a:pPr marL="457200" lvl="1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name.length</a:t>
            </a:r>
            <a:r>
              <a:rPr lang="en-US" sz="1800" dirty="0">
                <a:latin typeface="Consolas" panose="020B0609020204030204" pitchFamily="49" charset="0"/>
              </a:rPr>
              <a:t>   // the length of the string</a:t>
            </a:r>
          </a:p>
          <a:p>
            <a:r>
              <a:rPr lang="en-US" dirty="0"/>
              <a:t>String concatenation is supported using the plus (“</a:t>
            </a:r>
            <a:r>
              <a:rPr lang="en-US" dirty="0">
                <a:latin typeface="Consolas" panose="020B0609020204030204" pitchFamily="49" charset="0"/>
              </a:rPr>
              <a:t>+</a:t>
            </a:r>
            <a:r>
              <a:rPr lang="en-US" dirty="0"/>
              <a:t>”) operator.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var </a:t>
            </a:r>
            <a:r>
              <a:rPr lang="en-US" sz="1800" dirty="0" err="1">
                <a:latin typeface="Consolas" panose="020B0609020204030204" pitchFamily="49" charset="0"/>
              </a:rPr>
              <a:t>firstName</a:t>
            </a:r>
            <a:r>
              <a:rPr lang="en-US" sz="1800" dirty="0">
                <a:latin typeface="Consolas" panose="020B0609020204030204" pitchFamily="49" charset="0"/>
              </a:rPr>
              <a:t> : String := "</a:t>
            </a:r>
            <a:r>
              <a:rPr lang="en-US" sz="1800" dirty="0" err="1">
                <a:latin typeface="Consolas" panose="020B0609020204030204" pitchFamily="49" charset="0"/>
              </a:rPr>
              <a:t>Benneyt</a:t>
            </a:r>
            <a:r>
              <a:rPr lang="en-US" sz="1800" dirty="0">
                <a:latin typeface="Consolas" panose="020B0609020204030204" pitchFamily="49" charset="0"/>
              </a:rPr>
              <a:t>";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var </a:t>
            </a:r>
            <a:r>
              <a:rPr lang="en-US" sz="1800" dirty="0" err="1">
                <a:latin typeface="Consolas" panose="020B0609020204030204" pitchFamily="49" charset="0"/>
              </a:rPr>
              <a:t>lastName</a:t>
            </a:r>
            <a:r>
              <a:rPr lang="en-US" sz="1800" dirty="0">
                <a:latin typeface="Consolas" panose="020B0609020204030204" pitchFamily="49" charset="0"/>
              </a:rPr>
              <a:t>  : String := "Smith";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var </a:t>
            </a:r>
            <a:r>
              <a:rPr lang="en-US" sz="1800" dirty="0" err="1">
                <a:latin typeface="Consolas" panose="020B0609020204030204" pitchFamily="49" charset="0"/>
              </a:rPr>
              <a:t>fullName</a:t>
            </a:r>
            <a:r>
              <a:rPr lang="en-US" sz="1800" dirty="0">
                <a:latin typeface="Consolas" panose="020B0609020204030204" pitchFamily="49" charset="0"/>
              </a:rPr>
              <a:t>  : String;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...</a:t>
            </a:r>
          </a:p>
          <a:p>
            <a:pPr marL="457200" lvl="1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fullName</a:t>
            </a:r>
            <a:r>
              <a:rPr lang="en-US" sz="1800" dirty="0">
                <a:latin typeface="Consolas" panose="020B0609020204030204" pitchFamily="49" charset="0"/>
              </a:rPr>
              <a:t> := </a:t>
            </a:r>
            <a:r>
              <a:rPr lang="en-US" sz="1800" dirty="0" err="1">
                <a:latin typeface="Consolas" panose="020B0609020204030204" pitchFamily="49" charset="0"/>
              </a:rPr>
              <a:t>firstName</a:t>
            </a:r>
            <a:r>
              <a:rPr lang="en-US" sz="1800" dirty="0">
                <a:latin typeface="Consolas" panose="020B0609020204030204" pitchFamily="49" charset="0"/>
              </a:rPr>
              <a:t> + " " + </a:t>
            </a:r>
            <a:r>
              <a:rPr lang="en-US" sz="1800" dirty="0" err="1">
                <a:latin typeface="Consolas" panose="020B0609020204030204" pitchFamily="49" charset="0"/>
              </a:rPr>
              <a:t>lastName</a:t>
            </a:r>
            <a:r>
              <a:rPr lang="en-US" sz="1800" dirty="0">
                <a:latin typeface="Consolas" panose="020B0609020204030204" pitchFamily="49" charset="0"/>
              </a:rPr>
              <a:t>;   // "Bennett </a:t>
            </a:r>
            <a:r>
              <a:rPr lang="en-US" dirty="0"/>
              <a:t>Smith"</a:t>
            </a:r>
          </a:p>
          <a:p>
            <a:endParaRPr lang="en-US" dirty="0"/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410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1516574E-B683-4C8F-B161-144BCACCF6B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30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Semantics versus</a:t>
            </a:r>
            <a:br>
              <a:rPr lang="en-US" dirty="0"/>
            </a:br>
            <a:r>
              <a:rPr lang="en-US" dirty="0"/>
              <a:t>Value Semantics</a:t>
            </a:r>
            <a:endParaRPr lang="en-US" sz="2400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Java, CPRL uses reference semantics for assignment of strings.</a:t>
            </a:r>
          </a:p>
          <a:p>
            <a:r>
              <a:rPr lang="en-US" dirty="0"/>
              <a:t>A string variable doesn’t contain the sequence of characters; it contains a reference to the characters.</a:t>
            </a:r>
          </a:p>
          <a:p>
            <a:pPr lvl="1"/>
            <a:r>
              <a:rPr lang="en-US" dirty="0"/>
              <a:t>In CPRL it contains the address of the characters</a:t>
            </a:r>
          </a:p>
          <a:p>
            <a:r>
              <a:rPr lang="en-US" dirty="0"/>
              <a:t>After an assignment statement of the form s1 := s2, both s1 and s2 refer to the same sequence of characters.</a:t>
            </a:r>
          </a:p>
          <a:p>
            <a:r>
              <a:rPr lang="en-US" dirty="0"/>
              <a:t>In contrast, C++ uses value semantics.</a:t>
            </a:r>
          </a:p>
        </p:txBody>
      </p:sp>
      <p:sp>
        <p:nvSpPr>
          <p:cNvPr id="614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614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EC26056F-8448-4C6D-B319-9E4B6A99155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Semantics versus</a:t>
            </a:r>
            <a:br>
              <a:rPr lang="en-US" dirty="0"/>
            </a:br>
            <a:r>
              <a:rPr lang="en-US" dirty="0"/>
              <a:t>Value Semantics </a:t>
            </a:r>
            <a:r>
              <a:rPr lang="en-US" sz="2400" dirty="0"/>
              <a:t>(continued)</a:t>
            </a:r>
            <a:endParaRPr lang="en-US" dirty="0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00" dirty="0"/>
              <a:t>Example: </a:t>
            </a:r>
            <a:r>
              <a:rPr lang="en-US" sz="2300" dirty="0">
                <a:latin typeface="Consolas" pitchFamily="49" charset="0"/>
              </a:rPr>
              <a:t>s</a:t>
            </a:r>
            <a:r>
              <a:rPr lang="en-US" sz="2300" dirty="0">
                <a:latin typeface="Consolas" pitchFamily="49" charset="0"/>
                <a:cs typeface="Consolas" pitchFamily="49" charset="0"/>
              </a:rPr>
              <a:t>1 := s2</a:t>
            </a:r>
          </a:p>
          <a:p>
            <a:endParaRPr lang="en-US" sz="2600" dirty="0">
              <a:cs typeface="Consolas" pitchFamily="49" charset="0"/>
            </a:endParaRPr>
          </a:p>
          <a:p>
            <a:endParaRPr lang="en-US" sz="2600" dirty="0">
              <a:cs typeface="Consolas" pitchFamily="49" charset="0"/>
            </a:endParaRPr>
          </a:p>
          <a:p>
            <a:endParaRPr lang="en-US" sz="2600" dirty="0">
              <a:cs typeface="Consolas" pitchFamily="49" charset="0"/>
            </a:endParaRPr>
          </a:p>
          <a:p>
            <a:endParaRPr lang="en-US" sz="2600" dirty="0">
              <a:cs typeface="Consolas" pitchFamily="49" charset="0"/>
            </a:endParaRPr>
          </a:p>
          <a:p>
            <a:r>
              <a:rPr lang="en-US" sz="2300" dirty="0"/>
              <a:t>But in CPRL, as in Java, strings are immutable.</a:t>
            </a:r>
          </a:p>
          <a:p>
            <a:pPr lvl="1"/>
            <a:r>
              <a:rPr lang="en-US" dirty="0"/>
              <a:t>a string variable </a:t>
            </a:r>
            <a:r>
              <a:rPr lang="en-US" b="1" dirty="0"/>
              <a:t>can</a:t>
            </a:r>
            <a:r>
              <a:rPr lang="en-US" dirty="0"/>
              <a:t> be reassigned a new value</a:t>
            </a:r>
          </a:p>
          <a:p>
            <a:pPr lvl="1"/>
            <a:r>
              <a:rPr lang="en-US" dirty="0"/>
              <a:t>length and individual characters in the string </a:t>
            </a:r>
            <a:r>
              <a:rPr lang="en-US" b="1" dirty="0"/>
              <a:t>can’t</a:t>
            </a:r>
            <a:r>
              <a:rPr lang="en-US" dirty="0"/>
              <a:t> be modified</a:t>
            </a:r>
          </a:p>
          <a:p>
            <a:pPr lvl="1"/>
            <a:r>
              <a:rPr lang="en-US" dirty="0"/>
              <a:t>modifying </a:t>
            </a:r>
            <a:r>
              <a:rPr lang="en-US" dirty="0">
                <a:latin typeface="Consolas" panose="020B0609020204030204" pitchFamily="49" charset="0"/>
              </a:rPr>
              <a:t>s2[0]</a:t>
            </a:r>
            <a:r>
              <a:rPr lang="en-US" dirty="0"/>
              <a:t> would generate an error message in CPRL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12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12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11E84E1B-B589-4DFF-9960-82F641200A6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1062770" y="3828178"/>
            <a:ext cx="701846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Consider the effect of modifying </a:t>
            </a:r>
            <a:r>
              <a:rPr lang="en-US" sz="2000" dirty="0">
                <a:latin typeface="Consolas" pitchFamily="49" charset="0"/>
              </a:rPr>
              <a:t>s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2[0]</a:t>
            </a:r>
            <a:r>
              <a:rPr lang="en-US" sz="2000" dirty="0"/>
              <a:t> after the assignment.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66714C2-1777-7784-DEFD-14257BC73F1E}"/>
              </a:ext>
            </a:extLst>
          </p:cNvPr>
          <p:cNvGrpSpPr/>
          <p:nvPr/>
        </p:nvGrpSpPr>
        <p:grpSpPr>
          <a:xfrm>
            <a:off x="1729318" y="1915862"/>
            <a:ext cx="5685365" cy="1798482"/>
            <a:chOff x="1468754" y="2521422"/>
            <a:chExt cx="5685365" cy="1798482"/>
          </a:xfrm>
        </p:grpSpPr>
        <p:sp>
          <p:nvSpPr>
            <p:cNvPr id="43" name="TextBox 46">
              <a:extLst>
                <a:ext uri="{FF2B5EF4-FFF2-40B4-BE49-F238E27FC236}">
                  <a16:creationId xmlns:a16="http://schemas.microsoft.com/office/drawing/2014/main" id="{33A1D475-82E3-7522-A04E-1119BD4C7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8754" y="3673573"/>
              <a:ext cx="2569935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reference semantics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(</a:t>
              </a:r>
              <a:r>
                <a:rPr lang="en-US" sz="1800" kern="0" dirty="0">
                  <a:latin typeface="Arial" charset="0"/>
                </a:rPr>
                <a:t>reference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s are copied)</a:t>
              </a:r>
            </a:p>
          </p:txBody>
        </p:sp>
        <p:sp>
          <p:nvSpPr>
            <p:cNvPr id="44" name="TextBox 47">
              <a:extLst>
                <a:ext uri="{FF2B5EF4-FFF2-40B4-BE49-F238E27FC236}">
                  <a16:creationId xmlns:a16="http://schemas.microsoft.com/office/drawing/2014/main" id="{D3D2EAB0-48BF-7711-5903-82AEC5E324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9000" y="3673573"/>
              <a:ext cx="2775119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value semantics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(</a:t>
              </a:r>
              <a:r>
                <a:rPr lang="en-US" sz="1800" kern="0" dirty="0">
                  <a:latin typeface="Arial" charset="0"/>
                </a:rPr>
                <a:t>string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 values are copied)</a:t>
              </a:r>
            </a:p>
          </p:txBody>
        </p:sp>
        <p:sp>
          <p:nvSpPr>
            <p:cNvPr id="51" name="Rectangle 7">
              <a:extLst>
                <a:ext uri="{FF2B5EF4-FFF2-40B4-BE49-F238E27FC236}">
                  <a16:creationId xmlns:a16="http://schemas.microsoft.com/office/drawing/2014/main" id="{DCF319F1-1800-87BC-D8E9-4D6C3DA03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822" y="2523167"/>
              <a:ext cx="365760" cy="365843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itchFamily="49" charset="0"/>
                  <a:cs typeface="Consolas" pitchFamily="49" charset="0"/>
                </a:rPr>
                <a:t>s1</a:t>
              </a:r>
            </a:p>
          </p:txBody>
        </p:sp>
        <p:sp>
          <p:nvSpPr>
            <p:cNvPr id="52" name="Rectangle 8">
              <a:extLst>
                <a:ext uri="{FF2B5EF4-FFF2-40B4-BE49-F238E27FC236}">
                  <a16:creationId xmlns:a16="http://schemas.microsoft.com/office/drawing/2014/main" id="{123DA6CF-947B-69C6-AA55-9A08B0216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822" y="3104826"/>
              <a:ext cx="365760" cy="365843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itchFamily="49" charset="0"/>
                  <a:cs typeface="Consolas" pitchFamily="49" charset="0"/>
                </a:rPr>
                <a:t>s2</a:t>
              </a:r>
            </a:p>
          </p:txBody>
        </p:sp>
        <p:cxnSp>
          <p:nvCxnSpPr>
            <p:cNvPr id="53" name="Elbow Connector 41">
              <a:extLst>
                <a:ext uri="{FF2B5EF4-FFF2-40B4-BE49-F238E27FC236}">
                  <a16:creationId xmlns:a16="http://schemas.microsoft.com/office/drawing/2014/main" id="{A1BA7708-13B2-2E47-3361-A7D1906C8E2E}"/>
                </a:ext>
              </a:extLst>
            </p:cNvPr>
            <p:cNvCxnSpPr>
              <a:cxnSpLocks noChangeShapeType="1"/>
              <a:stCxn id="51" idx="3"/>
              <a:endCxn id="55" idx="1"/>
            </p:cNvCxnSpPr>
            <p:nvPr/>
          </p:nvCxnSpPr>
          <p:spPr bwMode="auto">
            <a:xfrm flipV="1">
              <a:off x="2203582" y="2706088"/>
              <a:ext cx="564830" cy="1"/>
            </a:xfrm>
            <a:prstGeom prst="bentConnector3">
              <a:avLst>
                <a:gd name="adj1" fmla="val 50000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 type="stealth" w="med" len="lg"/>
            </a:ln>
          </p:spPr>
        </p:cxnSp>
        <p:cxnSp>
          <p:nvCxnSpPr>
            <p:cNvPr id="54" name="Elbow Connector 43">
              <a:extLst>
                <a:ext uri="{FF2B5EF4-FFF2-40B4-BE49-F238E27FC236}">
                  <a16:creationId xmlns:a16="http://schemas.microsoft.com/office/drawing/2014/main" id="{23C4AE2E-EACC-FA4B-4B9A-E34DAF3C516D}"/>
                </a:ext>
              </a:extLst>
            </p:cNvPr>
            <p:cNvCxnSpPr>
              <a:cxnSpLocks noChangeShapeType="1"/>
              <a:stCxn id="52" idx="3"/>
              <a:endCxn id="55" idx="1"/>
            </p:cNvCxnSpPr>
            <p:nvPr/>
          </p:nvCxnSpPr>
          <p:spPr bwMode="auto">
            <a:xfrm flipV="1">
              <a:off x="2203582" y="2706088"/>
              <a:ext cx="564830" cy="581660"/>
            </a:xfrm>
            <a:prstGeom prst="bentConnector3">
              <a:avLst>
                <a:gd name="adj1" fmla="val 50000"/>
              </a:avLst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00AB59D-C531-0C58-DF8F-AB695A9E0F95}"/>
                </a:ext>
              </a:extLst>
            </p:cNvPr>
            <p:cNvSpPr txBox="1"/>
            <p:nvPr/>
          </p:nvSpPr>
          <p:spPr>
            <a:xfrm>
              <a:off x="2768412" y="2521422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onsolas" panose="020B0609020204030204" pitchFamily="49" charset="0"/>
                </a:rPr>
                <a:t>"John"</a:t>
              </a:r>
            </a:p>
          </p:txBody>
        </p:sp>
        <p:sp>
          <p:nvSpPr>
            <p:cNvPr id="47" name="Rectangle 10">
              <a:extLst>
                <a:ext uri="{FF2B5EF4-FFF2-40B4-BE49-F238E27FC236}">
                  <a16:creationId xmlns:a16="http://schemas.microsoft.com/office/drawing/2014/main" id="{410AF7D2-C77E-3901-E84E-3E520BBFF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790" y="2523167"/>
              <a:ext cx="365561" cy="365843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itchFamily="49" charset="0"/>
                  <a:cs typeface="Consolas" pitchFamily="49" charset="0"/>
                </a:rPr>
                <a:t>s1</a:t>
              </a:r>
            </a:p>
          </p:txBody>
        </p:sp>
        <p:sp>
          <p:nvSpPr>
            <p:cNvPr id="48" name="Rectangle 13">
              <a:extLst>
                <a:ext uri="{FF2B5EF4-FFF2-40B4-BE49-F238E27FC236}">
                  <a16:creationId xmlns:a16="http://schemas.microsoft.com/office/drawing/2014/main" id="{7830136A-3512-DB2C-D6BA-A63300B7D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790" y="3104826"/>
              <a:ext cx="365561" cy="365843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itchFamily="49" charset="0"/>
                  <a:cs typeface="Consolas" pitchFamily="49" charset="0"/>
                </a:rPr>
                <a:t>s2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A229F9F-47E5-65C2-6AC1-2B46F678A2E3}"/>
                </a:ext>
              </a:extLst>
            </p:cNvPr>
            <p:cNvSpPr txBox="1"/>
            <p:nvPr/>
          </p:nvSpPr>
          <p:spPr>
            <a:xfrm>
              <a:off x="5495120" y="2521422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onsolas" panose="020B0609020204030204" pitchFamily="49" charset="0"/>
                </a:rPr>
                <a:t>"John"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856D03D-C915-3AD8-A5CF-9FF69EAD4A91}"/>
                </a:ext>
              </a:extLst>
            </p:cNvPr>
            <p:cNvSpPr txBox="1"/>
            <p:nvPr/>
          </p:nvSpPr>
          <p:spPr>
            <a:xfrm>
              <a:off x="5495120" y="3103081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onsolas" panose="020B0609020204030204" pitchFamily="49" charset="0"/>
                </a:rPr>
                <a:t>"John"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1342C-181D-17D5-4D4A-AE51F241A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482C3-4CA5-F548-0D7F-C88C3FB93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runtime, a string </a:t>
            </a:r>
            <a:r>
              <a:rPr lang="en-US" b="1" dirty="0"/>
              <a:t>value</a:t>
            </a:r>
            <a:r>
              <a:rPr lang="en-US" dirty="0"/>
              <a:t> is stored in memory as an integer followed by an array of characters.</a:t>
            </a:r>
          </a:p>
          <a:p>
            <a:pPr lvl="1"/>
            <a:r>
              <a:rPr lang="en-US" dirty="0"/>
              <a:t>integer holds the current length of the string</a:t>
            </a:r>
          </a:p>
          <a:p>
            <a:pPr lvl="1"/>
            <a:r>
              <a:rPr lang="en-US" dirty="0"/>
              <a:t>length is stored as part of the string value</a:t>
            </a:r>
          </a:p>
          <a:p>
            <a:pPr lvl="1"/>
            <a:r>
              <a:rPr lang="en-US" dirty="0"/>
              <a:t>number of bytes occupied in memory by a string value is </a:t>
            </a:r>
            <a:r>
              <a:rPr lang="en-US" dirty="0">
                <a:latin typeface="Consolas" panose="020B0609020204030204" pitchFamily="49" charset="0"/>
              </a:rPr>
              <a:t>4</a:t>
            </a:r>
            <a:r>
              <a:rPr lang="en-US" dirty="0"/>
              <a:t> for the length plus </a:t>
            </a:r>
            <a:r>
              <a:rPr lang="en-US" dirty="0">
                <a:latin typeface="Consolas" panose="020B0609020204030204" pitchFamily="49" charset="0"/>
              </a:rPr>
              <a:t>2</a:t>
            </a:r>
            <a:r>
              <a:rPr lang="en-US" dirty="0"/>
              <a:t> for each character</a:t>
            </a:r>
          </a:p>
          <a:p>
            <a:r>
              <a:rPr lang="en-US" dirty="0"/>
              <a:t>A string variable contains the address for a string value, so the size of a string variable is always </a:t>
            </a:r>
            <a:r>
              <a:rPr lang="en-US" sz="2300" dirty="0">
                <a:latin typeface="Consolas" panose="020B0609020204030204" pitchFamily="49" charset="0"/>
              </a:rPr>
              <a:t>4</a:t>
            </a:r>
            <a:r>
              <a:rPr lang="en-US" dirty="0"/>
              <a:t> in the CVM.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var greet : String := "Hello";</a:t>
            </a:r>
          </a:p>
          <a:p>
            <a:pPr lvl="1"/>
            <a:r>
              <a:rPr lang="en-US" dirty="0"/>
              <a:t>size of variable greet is </a:t>
            </a:r>
            <a:r>
              <a:rPr lang="en-US" dirty="0">
                <a:latin typeface="Consolas" panose="020B0609020204030204" pitchFamily="49" charset="0"/>
              </a:rPr>
              <a:t>4</a:t>
            </a:r>
          </a:p>
          <a:p>
            <a:pPr lvl="1"/>
            <a:r>
              <a:rPr lang="en-US" dirty="0"/>
              <a:t>number of bytes in memory occupied by the string value "Hello" is </a:t>
            </a:r>
            <a:r>
              <a:rPr lang="en-US" dirty="0">
                <a:latin typeface="Consolas" panose="020B0609020204030204" pitchFamily="49" charset="0"/>
              </a:rPr>
              <a:t>14 (4 + 2*5)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E185F3-5443-825B-0D5E-69B943FA95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A40C-8758-8D9F-D8E3-697F9D460F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3A451E74-E241-4D9B-B11E-E03372E7FBB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20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E2398-F804-57C9-94D9-FECB5F381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97EDB-2C66-9F9F-35AA-4D49D4BD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the Representation</a:t>
            </a:r>
            <a:br>
              <a:rPr lang="en-US" dirty="0"/>
            </a:br>
            <a:r>
              <a:rPr lang="en-US" dirty="0"/>
              <a:t>of </a:t>
            </a:r>
            <a:r>
              <a:rPr lang="en-US" dirty="0">
                <a:latin typeface="Consolas" panose="020B0609020204030204" pitchFamily="49" charset="0"/>
              </a:rPr>
              <a:t>String</a:t>
            </a:r>
            <a:r>
              <a:rPr lang="en-US" dirty="0"/>
              <a:t> Variable </a:t>
            </a:r>
            <a:r>
              <a:rPr lang="en-US" dirty="0">
                <a:latin typeface="Consolas" panose="020B0609020204030204" pitchFamily="49" charset="0"/>
              </a:rPr>
              <a:t>greet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978545-549E-3D54-EA98-37890DA510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3C127-1CD6-B649-9DEB-9D87553844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82232" y="6486939"/>
            <a:ext cx="1828800" cy="274638"/>
          </a:xfrm>
        </p:spPr>
        <p:txBody>
          <a:bodyPr/>
          <a:lstStyle/>
          <a:p>
            <a:pPr>
              <a:defRPr/>
            </a:pPr>
            <a:r>
              <a:rPr lang="en-US"/>
              <a:t>Slide </a:t>
            </a:r>
            <a:fld id="{3A451E74-E241-4D9B-B11E-E03372E7FBB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F5B433E-4CB5-9304-8521-BF0A6834CE8F}"/>
              </a:ext>
            </a:extLst>
          </p:cNvPr>
          <p:cNvGrpSpPr/>
          <p:nvPr/>
        </p:nvGrpSpPr>
        <p:grpSpPr>
          <a:xfrm>
            <a:off x="1708484" y="1981200"/>
            <a:ext cx="5727033" cy="1327873"/>
            <a:chOff x="1821865" y="2748261"/>
            <a:chExt cx="5727033" cy="132787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891CF8A-CB3D-4F50-4A1B-56D16FD5B063}"/>
                </a:ext>
              </a:extLst>
            </p:cNvPr>
            <p:cNvSpPr/>
            <p:nvPr/>
          </p:nvSpPr>
          <p:spPr>
            <a:xfrm>
              <a:off x="1869771" y="2748261"/>
              <a:ext cx="914400" cy="457200"/>
            </a:xfrm>
            <a:prstGeom prst="rect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Consolas" panose="020B0609020204030204" pitchFamily="49" charset="0"/>
                </a:rPr>
                <a:t>greet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E7F58AF-50C4-AB1A-3EFA-49DE5D03071E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2784171" y="2976861"/>
              <a:ext cx="1152847" cy="354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FDE80CF-9C0D-2BE9-F081-941C368341C4}"/>
                </a:ext>
              </a:extLst>
            </p:cNvPr>
            <p:cNvSpPr txBox="1"/>
            <p:nvPr/>
          </p:nvSpPr>
          <p:spPr>
            <a:xfrm>
              <a:off x="1821865" y="3676024"/>
              <a:ext cx="10102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4 bytes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E98E131-67CD-A2DF-104B-B61A312A9860}"/>
                </a:ext>
              </a:extLst>
            </p:cNvPr>
            <p:cNvSpPr txBox="1"/>
            <p:nvPr/>
          </p:nvSpPr>
          <p:spPr>
            <a:xfrm>
              <a:off x="5704569" y="3676024"/>
              <a:ext cx="10102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2 bytes</a:t>
              </a: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E9AA834-7297-B970-77CA-81F1AC9937B2}"/>
                </a:ext>
              </a:extLst>
            </p:cNvPr>
            <p:cNvGrpSpPr/>
            <p:nvPr/>
          </p:nvGrpSpPr>
          <p:grpSpPr>
            <a:xfrm>
              <a:off x="3937018" y="2748261"/>
              <a:ext cx="3611880" cy="457200"/>
              <a:chOff x="3937018" y="2743200"/>
              <a:chExt cx="3611880" cy="464391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8D3DFCA-1879-03E2-A057-39C9EA232A32}"/>
                  </a:ext>
                </a:extLst>
              </p:cNvPr>
              <p:cNvSpPr/>
              <p:nvPr/>
            </p:nvSpPr>
            <p:spPr>
              <a:xfrm>
                <a:off x="3937018" y="2750391"/>
                <a:ext cx="3611880" cy="457200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Ins="0" rtlCol="0" anchor="ctr"/>
              <a:lstStyle/>
              <a:p>
                <a:r>
                  <a:rPr lang="en-US" sz="900" dirty="0">
                    <a:latin typeface="Consolas" panose="020B0609020204030204" pitchFamily="49" charset="0"/>
                  </a:rPr>
                  <a:t>    </a:t>
                </a:r>
                <a:r>
                  <a:rPr lang="en-US" sz="2000" dirty="0">
                    <a:latin typeface="Consolas" panose="020B0609020204030204" pitchFamily="49" charset="0"/>
                  </a:rPr>
                  <a:t>5</a:t>
                </a:r>
                <a:r>
                  <a:rPr lang="en-US" sz="900" dirty="0">
                    <a:latin typeface="Consolas" panose="020B0609020204030204" pitchFamily="49" charset="0"/>
                  </a:rPr>
                  <a:t>       </a:t>
                </a:r>
                <a:r>
                  <a:rPr lang="en-US" sz="2000" dirty="0">
                    <a:latin typeface="Consolas" panose="020B0609020204030204" pitchFamily="49" charset="0"/>
                  </a:rPr>
                  <a:t>'H'</a:t>
                </a:r>
                <a:r>
                  <a:rPr lang="en-US" sz="900" dirty="0">
                    <a:latin typeface="Consolas" panose="020B0609020204030204" pitchFamily="49" charset="0"/>
                  </a:rPr>
                  <a:t>  </a:t>
                </a:r>
                <a:r>
                  <a:rPr lang="en-US" sz="2000" dirty="0">
                    <a:latin typeface="Consolas" panose="020B0609020204030204" pitchFamily="49" charset="0"/>
                  </a:rPr>
                  <a:t>'e'</a:t>
                </a:r>
                <a:r>
                  <a:rPr lang="en-US" sz="900" dirty="0">
                    <a:latin typeface="Consolas" panose="020B0609020204030204" pitchFamily="49" charset="0"/>
                  </a:rPr>
                  <a:t>  </a:t>
                </a:r>
                <a:r>
                  <a:rPr lang="en-US" sz="2000" dirty="0">
                    <a:latin typeface="Consolas" panose="020B0609020204030204" pitchFamily="49" charset="0"/>
                  </a:rPr>
                  <a:t>'l'</a:t>
                </a:r>
                <a:r>
                  <a:rPr lang="en-US" sz="900" dirty="0">
                    <a:latin typeface="Consolas" panose="020B0609020204030204" pitchFamily="49" charset="0"/>
                  </a:rPr>
                  <a:t>  </a:t>
                </a:r>
                <a:r>
                  <a:rPr lang="en-US" sz="2000" dirty="0">
                    <a:latin typeface="Consolas" panose="020B0609020204030204" pitchFamily="49" charset="0"/>
                  </a:rPr>
                  <a:t>'l'</a:t>
                </a:r>
                <a:r>
                  <a:rPr lang="en-US" sz="900" dirty="0">
                    <a:latin typeface="Consolas" panose="020B0609020204030204" pitchFamily="49" charset="0"/>
                  </a:rPr>
                  <a:t>  </a:t>
                </a:r>
                <a:r>
                  <a:rPr lang="en-US" sz="2000" dirty="0">
                    <a:latin typeface="Consolas" panose="020B0609020204030204" pitchFamily="49" charset="0"/>
                  </a:rPr>
                  <a:t>'o'  </a:t>
                </a:r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BB843B4-1116-8ECD-6A97-9F41A6D845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48222" y="2750391"/>
                <a:ext cx="0" cy="4572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BB9ECCE-10C7-3573-841F-A87807777F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1622" y="2750391"/>
                <a:ext cx="0" cy="4572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921873D-9002-67B3-A55A-8B1A15EBBA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9796" y="2743200"/>
                <a:ext cx="0" cy="4572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B2531736-C5CF-1840-D276-FC4D9800A0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80812" y="2750391"/>
                <a:ext cx="0" cy="4572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08EEB737-B51A-E040-3E42-399E03162E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31354" y="2748060"/>
                <a:ext cx="0" cy="4572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Flowchart: Decision 17">
                <a:extLst>
                  <a:ext uri="{FF2B5EF4-FFF2-40B4-BE49-F238E27FC236}">
                    <a16:creationId xmlns:a16="http://schemas.microsoft.com/office/drawing/2014/main" id="{3957B39A-806B-BDC3-5530-ECC914A9F510}"/>
                  </a:ext>
                </a:extLst>
              </p:cNvPr>
              <p:cNvSpPr/>
              <p:nvPr/>
            </p:nvSpPr>
            <p:spPr>
              <a:xfrm>
                <a:off x="4286457" y="3022381"/>
                <a:ext cx="182880" cy="182880"/>
              </a:xfrm>
              <a:prstGeom prst="flowChartDecision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lowchart: Decision 18">
                <a:extLst>
                  <a:ext uri="{FF2B5EF4-FFF2-40B4-BE49-F238E27FC236}">
                    <a16:creationId xmlns:a16="http://schemas.microsoft.com/office/drawing/2014/main" id="{A0CFF0FB-AAFD-D7F1-8C3D-2C6F28C7F150}"/>
                  </a:ext>
                </a:extLst>
              </p:cNvPr>
              <p:cNvSpPr/>
              <p:nvPr/>
            </p:nvSpPr>
            <p:spPr>
              <a:xfrm>
                <a:off x="5019682" y="3022381"/>
                <a:ext cx="182880" cy="182880"/>
              </a:xfrm>
              <a:prstGeom prst="flowChartDecision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Flowchart: Decision 19">
                <a:extLst>
                  <a:ext uri="{FF2B5EF4-FFF2-40B4-BE49-F238E27FC236}">
                    <a16:creationId xmlns:a16="http://schemas.microsoft.com/office/drawing/2014/main" id="{3D01B653-6517-4892-55A9-E0239AA5CF2F}"/>
                  </a:ext>
                </a:extLst>
              </p:cNvPr>
              <p:cNvSpPr/>
              <p:nvPr/>
            </p:nvSpPr>
            <p:spPr>
              <a:xfrm>
                <a:off x="5566178" y="3022381"/>
                <a:ext cx="182880" cy="182880"/>
              </a:xfrm>
              <a:prstGeom prst="flowChartDecision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lowchart: Decision 20">
                <a:extLst>
                  <a:ext uri="{FF2B5EF4-FFF2-40B4-BE49-F238E27FC236}">
                    <a16:creationId xmlns:a16="http://schemas.microsoft.com/office/drawing/2014/main" id="{452E2EBD-DEC2-C0D4-6A44-EA8ACC31215F}"/>
                  </a:ext>
                </a:extLst>
              </p:cNvPr>
              <p:cNvSpPr/>
              <p:nvPr/>
            </p:nvSpPr>
            <p:spPr>
              <a:xfrm>
                <a:off x="6118235" y="3022381"/>
                <a:ext cx="182880" cy="182880"/>
              </a:xfrm>
              <a:prstGeom prst="flowChartDecision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lowchart: Decision 21">
                <a:extLst>
                  <a:ext uri="{FF2B5EF4-FFF2-40B4-BE49-F238E27FC236}">
                    <a16:creationId xmlns:a16="http://schemas.microsoft.com/office/drawing/2014/main" id="{96640EA9-CCA9-0772-81F7-56DB7FE5C0FF}"/>
                  </a:ext>
                </a:extLst>
              </p:cNvPr>
              <p:cNvSpPr/>
              <p:nvPr/>
            </p:nvSpPr>
            <p:spPr>
              <a:xfrm>
                <a:off x="6659170" y="3022381"/>
                <a:ext cx="182880" cy="182880"/>
              </a:xfrm>
              <a:prstGeom prst="flowChartDecision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Flowchart: Decision 22">
                <a:extLst>
                  <a:ext uri="{FF2B5EF4-FFF2-40B4-BE49-F238E27FC236}">
                    <a16:creationId xmlns:a16="http://schemas.microsoft.com/office/drawing/2014/main" id="{04A14450-0417-2052-32E1-36026D009D08}"/>
                  </a:ext>
                </a:extLst>
              </p:cNvPr>
              <p:cNvSpPr/>
              <p:nvPr/>
            </p:nvSpPr>
            <p:spPr>
              <a:xfrm>
                <a:off x="7205667" y="3022381"/>
                <a:ext cx="182880" cy="182880"/>
              </a:xfrm>
              <a:prstGeom prst="flowChartDecision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6EE6D93D-852B-29A7-55F4-099F029C1D11}"/>
                </a:ext>
              </a:extLst>
            </p:cNvPr>
            <p:cNvCxnSpPr>
              <a:cxnSpLocks/>
              <a:stCxn id="17" idx="0"/>
              <a:endCxn id="19" idx="2"/>
            </p:cNvCxnSpPr>
            <p:nvPr/>
          </p:nvCxnSpPr>
          <p:spPr>
            <a:xfrm rot="16200000" flipV="1">
              <a:off x="5423971" y="2890319"/>
              <a:ext cx="472857" cy="1098554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16F41EC0-BB17-B7F0-6988-66B02CE5626A}"/>
                </a:ext>
              </a:extLst>
            </p:cNvPr>
            <p:cNvCxnSpPr>
              <a:cxnSpLocks/>
              <a:stCxn id="17" idx="0"/>
              <a:endCxn id="20" idx="2"/>
            </p:cNvCxnSpPr>
            <p:nvPr/>
          </p:nvCxnSpPr>
          <p:spPr>
            <a:xfrm rot="16200000" flipV="1">
              <a:off x="5697219" y="3163567"/>
              <a:ext cx="472857" cy="552058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DBB48062-07F3-50A7-FFF5-8839E5691298}"/>
                </a:ext>
              </a:extLst>
            </p:cNvPr>
            <p:cNvCxnSpPr>
              <a:cxnSpLocks/>
              <a:stCxn id="17" idx="0"/>
              <a:endCxn id="21" idx="2"/>
            </p:cNvCxnSpPr>
            <p:nvPr/>
          </p:nvCxnSpPr>
          <p:spPr>
            <a:xfrm rot="16200000" flipV="1">
              <a:off x="5973248" y="3439595"/>
              <a:ext cx="472857" cy="1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5C0F0B82-E3B4-48CD-A68C-C82BE278CAB9}"/>
                </a:ext>
              </a:extLst>
            </p:cNvPr>
            <p:cNvCxnSpPr>
              <a:cxnSpLocks/>
              <a:stCxn id="17" idx="0"/>
              <a:endCxn id="22" idx="2"/>
            </p:cNvCxnSpPr>
            <p:nvPr/>
          </p:nvCxnSpPr>
          <p:spPr>
            <a:xfrm rot="5400000" flipH="1" flipV="1">
              <a:off x="6243715" y="3169129"/>
              <a:ext cx="472857" cy="540934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2AECD9CE-AD1A-1C06-E930-DD81A26B9FB0}"/>
                </a:ext>
              </a:extLst>
            </p:cNvPr>
            <p:cNvCxnSpPr>
              <a:cxnSpLocks/>
              <a:stCxn id="17" idx="0"/>
              <a:endCxn id="23" idx="2"/>
            </p:cNvCxnSpPr>
            <p:nvPr/>
          </p:nvCxnSpPr>
          <p:spPr>
            <a:xfrm rot="5400000" flipH="1" flipV="1">
              <a:off x="6516963" y="2895881"/>
              <a:ext cx="472857" cy="1087431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1A6C499-82B2-E7B6-1951-DA8E94A90761}"/>
                </a:ext>
              </a:extLst>
            </p:cNvPr>
            <p:cNvSpPr txBox="1"/>
            <p:nvPr/>
          </p:nvSpPr>
          <p:spPr>
            <a:xfrm>
              <a:off x="3875331" y="3676024"/>
              <a:ext cx="10102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4 bytes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DD2D09E-3674-68FA-399F-20BE76EB7CF5}"/>
                </a:ext>
              </a:extLst>
            </p:cNvPr>
            <p:cNvCxnSpPr>
              <a:cxnSpLocks/>
              <a:stCxn id="16" idx="0"/>
              <a:endCxn id="8" idx="2"/>
            </p:cNvCxnSpPr>
            <p:nvPr/>
          </p:nvCxnSpPr>
          <p:spPr>
            <a:xfrm flipH="1" flipV="1">
              <a:off x="2326971" y="3205461"/>
              <a:ext cx="1" cy="470563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93DCBF1-56F7-EF03-AE48-C6E5F6FA9914}"/>
                </a:ext>
              </a:extLst>
            </p:cNvPr>
            <p:cNvCxnSpPr>
              <a:stCxn id="29" idx="0"/>
              <a:endCxn id="18" idx="2"/>
            </p:cNvCxnSpPr>
            <p:nvPr/>
          </p:nvCxnSpPr>
          <p:spPr>
            <a:xfrm flipH="1" flipV="1">
              <a:off x="4377897" y="3203167"/>
              <a:ext cx="2541" cy="472857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5630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914400" y="138113"/>
            <a:ext cx="7315200" cy="1004887"/>
          </a:xfrm>
        </p:spPr>
        <p:txBody>
          <a:bodyPr/>
          <a:lstStyle/>
          <a:p>
            <a:r>
              <a:rPr lang="en-US" dirty="0"/>
              <a:t>Constraint Rules for Strings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pPr lvl="0"/>
            <a:r>
              <a:rPr lang="en-US" sz="2300" dirty="0" err="1">
                <a:latin typeface="Consolas" panose="020B0609020204030204" pitchFamily="49" charset="0"/>
              </a:rPr>
              <a:t>AddingExpr</a:t>
            </a:r>
            <a:endParaRPr lang="en-US" sz="2300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Type Rule: Operands of type </a:t>
            </a:r>
            <a:r>
              <a:rPr lang="en-US" dirty="0">
                <a:latin typeface="Consolas" panose="020B0609020204030204" pitchFamily="49" charset="0"/>
              </a:rPr>
              <a:t>String</a:t>
            </a:r>
            <a:r>
              <a:rPr lang="en-US" dirty="0"/>
              <a:t> are allowed, but only for the plus (“+”) operator.  (The plus operator is used for string concatenation.)</a:t>
            </a:r>
          </a:p>
          <a:p>
            <a:pPr lvl="0"/>
            <a:r>
              <a:rPr lang="en-US" sz="2300" dirty="0" err="1">
                <a:latin typeface="Consolas" panose="020B0609020204030204" pitchFamily="49" charset="0"/>
              </a:rPr>
              <a:t>AssignmentStmt</a:t>
            </a:r>
            <a:endParaRPr lang="en-US" sz="2300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Type Rule: Strings are immutable in CPRL.  We can assign new values to string variables, but we can’t modify the string’s length or its individual characters.</a:t>
            </a:r>
          </a:p>
          <a:p>
            <a:pPr lvl="0"/>
            <a:r>
              <a:rPr lang="en-US" sz="2300" dirty="0" err="1">
                <a:latin typeface="Consolas" panose="020B0609020204030204" pitchFamily="49" charset="0"/>
              </a:rPr>
              <a:t>OutputStmt</a:t>
            </a:r>
            <a:endParaRPr lang="en-US" sz="2300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Type Rule: Each expression must have a scalar type or type </a:t>
            </a:r>
            <a:r>
              <a:rPr lang="en-US" dirty="0">
                <a:latin typeface="Consolas" panose="020B0609020204030204" pitchFamily="49" charset="0"/>
              </a:rPr>
              <a:t>String</a:t>
            </a:r>
            <a:r>
              <a:rPr lang="en-US" dirty="0"/>
              <a:t>.   Class </a:t>
            </a:r>
            <a:r>
              <a:rPr lang="en-US" dirty="0">
                <a:latin typeface="Consolas" panose="020B0609020204030204" pitchFamily="49" charset="0"/>
              </a:rPr>
              <a:t>Type</a:t>
            </a:r>
            <a:r>
              <a:rPr lang="en-US" dirty="0"/>
              <a:t> has a </a:t>
            </a:r>
            <a:r>
              <a:rPr lang="en-US" dirty="0">
                <a:latin typeface="Consolas" panose="020B0609020204030204" pitchFamily="49" charset="0"/>
              </a:rPr>
              <a:t>Boolean</a:t>
            </a:r>
            <a:r>
              <a:rPr lang="en-US" dirty="0"/>
              <a:t> method named </a:t>
            </a:r>
            <a:r>
              <a:rPr lang="en-US" dirty="0" err="1">
                <a:latin typeface="Consolas" panose="020B0609020204030204" pitchFamily="49" charset="0"/>
              </a:rPr>
              <a:t>isOutputType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 that can be used to check this constraint.</a:t>
            </a:r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85800" y="6477000"/>
            <a:ext cx="2741613" cy="274638"/>
          </a:xfrm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7413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6578600" y="6477000"/>
            <a:ext cx="1828800" cy="274638"/>
          </a:xfrm>
          <a:noFill/>
        </p:spPr>
        <p:txBody>
          <a:bodyPr/>
          <a:lstStyle/>
          <a:p>
            <a:r>
              <a:rPr lang="en-US"/>
              <a:t>Slide </a:t>
            </a:r>
            <a:fld id="{2CE4CF62-76A5-4B00-9BB0-C6072218963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312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 Rules for Strings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300" dirty="0" err="1">
                <a:latin typeface="Consolas" panose="020B0609020204030204" pitchFamily="49" charset="0"/>
              </a:rPr>
              <a:t>ReadStmt</a:t>
            </a:r>
            <a:endParaRPr lang="en-US" sz="2300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Type Rule: The variable must have type </a:t>
            </a:r>
            <a:r>
              <a:rPr lang="en-US" dirty="0">
                <a:latin typeface="Consolas" panose="020B0609020204030204" pitchFamily="49" charset="0"/>
              </a:rPr>
              <a:t>Integer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Byte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Char</a:t>
            </a:r>
            <a:r>
              <a:rPr lang="en-US" dirty="0"/>
              <a:t>, or </a:t>
            </a:r>
            <a:r>
              <a:rPr lang="en-US" dirty="0">
                <a:latin typeface="Consolas" panose="020B0609020204030204" pitchFamily="49" charset="0"/>
              </a:rPr>
              <a:t>String</a:t>
            </a:r>
            <a:r>
              <a:rPr lang="en-US" dirty="0"/>
              <a:t>.  Class </a:t>
            </a:r>
            <a:r>
              <a:rPr lang="en-US" dirty="0">
                <a:latin typeface="Consolas" panose="020B0609020204030204" pitchFamily="49" charset="0"/>
              </a:rPr>
              <a:t>Type</a:t>
            </a:r>
            <a:r>
              <a:rPr lang="en-US" dirty="0"/>
              <a:t> has a </a:t>
            </a:r>
            <a:r>
              <a:rPr lang="en-US" dirty="0" err="1"/>
              <a:t>boolean</a:t>
            </a:r>
            <a:r>
              <a:rPr lang="en-US" dirty="0"/>
              <a:t> method named </a:t>
            </a:r>
            <a:r>
              <a:rPr lang="en-US" dirty="0" err="1">
                <a:latin typeface="Consolas" panose="020B0609020204030204" pitchFamily="49" charset="0"/>
              </a:rPr>
              <a:t>isInputType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 that can be used to check this constraint.</a:t>
            </a:r>
          </a:p>
          <a:p>
            <a:pPr lvl="0"/>
            <a:r>
              <a:rPr lang="en-US" sz="2300" dirty="0" err="1">
                <a:latin typeface="Consolas" panose="020B0609020204030204" pitchFamily="49" charset="0"/>
              </a:rPr>
              <a:t>VarDecl</a:t>
            </a:r>
            <a:endParaRPr lang="en-US" sz="2300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Type Rule: An initializer for a variable of a string type must be a constant value (either a string literal or a declared constant) of type </a:t>
            </a:r>
            <a:r>
              <a:rPr lang="en-US" dirty="0">
                <a:latin typeface="Consolas" panose="020B0609020204030204" pitchFamily="49" charset="0"/>
              </a:rPr>
              <a:t>String</a:t>
            </a:r>
            <a:r>
              <a:rPr lang="en-US" dirty="0"/>
              <a:t>.</a:t>
            </a:r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741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2CE4CF62-76A5-4B00-9BB0-C6072218963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079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D751B-1BBF-5204-B534-370F97DB8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BD3E13B0-A431-5C5A-2BAD-60CB158FA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 Rules for Strings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dirty="0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D658CFE3-A31E-5621-AD5D-74B3314D0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300" dirty="0">
                <a:latin typeface="Consolas" panose="020B0609020204030204" pitchFamily="49" charset="0"/>
              </a:rPr>
              <a:t>Variable</a:t>
            </a:r>
          </a:p>
          <a:p>
            <a:pPr lvl="1"/>
            <a:r>
              <a:rPr lang="en-US" dirty="0"/>
              <a:t>Miscellaneous Rule: Index expressions are permitted only for variables with an array type or type </a:t>
            </a:r>
            <a:r>
              <a:rPr lang="en-US" dirty="0">
                <a:latin typeface="Consolas" panose="020B0609020204030204" pitchFamily="49" charset="0"/>
              </a:rPr>
              <a:t>String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Miscellaneous Rule: Field expressions (see records in Chapter 17) are permitted only for variables with a record type or type </a:t>
            </a:r>
            <a:r>
              <a:rPr lang="en-US" dirty="0">
                <a:latin typeface="Consolas" panose="020B0609020204030204" pitchFamily="49" charset="0"/>
              </a:rPr>
              <a:t>String</a:t>
            </a:r>
            <a:r>
              <a:rPr lang="en-US" dirty="0"/>
              <a:t>.  For strings, the only allowed field name is “</a:t>
            </a:r>
            <a:r>
              <a:rPr lang="en-US" dirty="0">
                <a:latin typeface="Consolas" panose="020B0609020204030204" pitchFamily="49" charset="0"/>
              </a:rPr>
              <a:t>length</a:t>
            </a:r>
            <a:r>
              <a:rPr lang="en-US" dirty="0"/>
              <a:t>”.</a:t>
            </a:r>
          </a:p>
          <a:p>
            <a:pPr lvl="1"/>
            <a:r>
              <a:rPr lang="en-US" dirty="0"/>
              <a:t>Type Rule: An index expression must have either a numeric type or an enumerated type.</a:t>
            </a:r>
          </a:p>
        </p:txBody>
      </p:sp>
      <p:sp>
        <p:nvSpPr>
          <p:cNvPr id="17412" name="Footer Placeholder 3">
            <a:extLst>
              <a:ext uri="{FF2B5EF4-FFF2-40B4-BE49-F238E27FC236}">
                <a16:creationId xmlns:a16="http://schemas.microsoft.com/office/drawing/2014/main" id="{AE7D537B-B15C-E6E0-237C-FA11C1E8F8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7413" name="Slide Number Placeholder 4">
            <a:extLst>
              <a:ext uri="{FF2B5EF4-FFF2-40B4-BE49-F238E27FC236}">
                <a16:creationId xmlns:a16="http://schemas.microsoft.com/office/drawing/2014/main" id="{6C96CDBB-D8BE-65CB-FC09-2E6D7E46B0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2CE4CF62-76A5-4B00-9BB0-C6072218963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49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of a String Object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relative address for a variable of a string type is the relative address of the first byte of the length.</a:t>
            </a:r>
          </a:p>
          <a:p>
            <a:r>
              <a:rPr lang="en-US" dirty="0"/>
              <a:t>The relative address or offset of the length is zero.</a:t>
            </a:r>
          </a:p>
          <a:p>
            <a:r>
              <a:rPr lang="en-US" dirty="0"/>
              <a:t>The relative address or offset for the character of the string at index n is the sum of the relative address of the string plus 4 (for the integer length) plus 2 (number of bytes in a character) times the index, computed as follows.</a:t>
            </a:r>
          </a:p>
          <a:p>
            <a:pPr marL="457200" lvl="1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relAddr</a:t>
            </a:r>
            <a:r>
              <a:rPr lang="en-US" sz="1800" dirty="0">
                <a:latin typeface="Consolas" panose="020B0609020204030204" pitchFamily="49" charset="0"/>
              </a:rPr>
              <a:t>(s[n]) = </a:t>
            </a:r>
            <a:r>
              <a:rPr lang="en-US" sz="1800" dirty="0" err="1">
                <a:latin typeface="Consolas" panose="020B0609020204030204" pitchFamily="49" charset="0"/>
              </a:rPr>
              <a:t>relAddr</a:t>
            </a:r>
            <a:r>
              <a:rPr lang="en-US" sz="1800" dirty="0">
                <a:latin typeface="Consolas" panose="020B0609020204030204" pitchFamily="49" charset="0"/>
              </a:rPr>
              <a:t>(s) + 4 + 2*n</a:t>
            </a:r>
          </a:p>
        </p:txBody>
      </p:sp>
      <p:sp>
        <p:nvSpPr>
          <p:cNvPr id="12292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229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01D14A36-E883-4048-86AB-BF86A7345FD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5134-339D-DA20-8F43-553E88ED4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String-Related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82380-A535-66D2-3AD1-CB2CEF555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implementation of strings in the CPRL compiler is addressed in nine classes.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Parser		 –  Type	   –  </a:t>
            </a:r>
            <a:r>
              <a:rPr lang="en-US" dirty="0" err="1">
                <a:latin typeface="Consolas" panose="020B0609020204030204" pitchFamily="49" charset="0"/>
              </a:rPr>
              <a:t>AddingExpr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AssignmentStmt</a:t>
            </a:r>
            <a:r>
              <a:rPr lang="en-US" dirty="0">
                <a:latin typeface="Consolas" panose="020B0609020204030204" pitchFamily="49" charset="0"/>
              </a:rPr>
              <a:t>	 –  </a:t>
            </a:r>
            <a:r>
              <a:rPr lang="en-US" dirty="0" err="1">
                <a:latin typeface="Consolas" panose="020B0609020204030204" pitchFamily="49" charset="0"/>
              </a:rPr>
              <a:t>ConstValue</a:t>
            </a:r>
            <a:r>
              <a:rPr lang="en-US" dirty="0">
                <a:latin typeface="Consolas" panose="020B0609020204030204" pitchFamily="49" charset="0"/>
              </a:rPr>
              <a:t>  –  </a:t>
            </a:r>
            <a:r>
              <a:rPr lang="en-US" dirty="0" err="1">
                <a:latin typeface="Consolas" panose="020B0609020204030204" pitchFamily="49" charset="0"/>
              </a:rPr>
              <a:t>OutputStmt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ReadStmt</a:t>
            </a:r>
            <a:r>
              <a:rPr lang="en-US" dirty="0">
                <a:latin typeface="Consolas" panose="020B0609020204030204" pitchFamily="49" charset="0"/>
              </a:rPr>
              <a:t>	 –  </a:t>
            </a:r>
            <a:r>
              <a:rPr lang="en-US" dirty="0" err="1">
                <a:latin typeface="Consolas" panose="020B0609020204030204" pitchFamily="49" charset="0"/>
              </a:rPr>
              <a:t>VarDecl</a:t>
            </a:r>
            <a:r>
              <a:rPr lang="en-US" dirty="0">
                <a:latin typeface="Consolas" panose="020B0609020204030204" pitchFamily="49" charset="0"/>
              </a:rPr>
              <a:t>	   –  Variable</a:t>
            </a:r>
          </a:p>
          <a:p>
            <a:r>
              <a:rPr lang="en-US" dirty="0"/>
              <a:t>String-related code in most of these classes is simple and straightforward</a:t>
            </a:r>
          </a:p>
          <a:p>
            <a:r>
              <a:rPr lang="en-US" dirty="0"/>
              <a:t>Only class </a:t>
            </a:r>
            <a:r>
              <a:rPr lang="en-US" dirty="0">
                <a:latin typeface="Consolas" panose="020B0609020204030204" pitchFamily="49" charset="0"/>
              </a:rPr>
              <a:t>Variable</a:t>
            </a:r>
            <a:r>
              <a:rPr lang="en-US" dirty="0"/>
              <a:t> is moderately complicated.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0EBE9-CA40-1B58-0481-F7EB7C259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886540-0202-9DA7-7F9D-34E192EA1B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3A451E74-E241-4D9B-B11E-E03372E7FBBC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568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25AB0-1240-0B61-FA18-D64DDEE9A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1C2AD-726A-428C-BE2D-85DCF0C90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String-Related Classes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7C734-2D10-9B01-ECFB-C39221B78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sz="2300" dirty="0">
                <a:latin typeface="Consolas" panose="020B0609020204030204" pitchFamily="49" charset="0"/>
              </a:rPr>
              <a:t>Parser</a:t>
            </a:r>
            <a:r>
              <a:rPr lang="en-US" dirty="0"/>
              <a:t>: method </a:t>
            </a:r>
            <a:r>
              <a:rPr lang="en-US" sz="2300" dirty="0" err="1">
                <a:latin typeface="Consolas" panose="020B0609020204030204" pitchFamily="49" charset="0"/>
              </a:rPr>
              <a:t>parseTypeName</a:t>
            </a:r>
            <a:r>
              <a:rPr lang="en-US" sz="2300" dirty="0">
                <a:latin typeface="Consolas" panose="020B0609020204030204" pitchFamily="49" charset="0"/>
              </a:rPr>
              <a:t>()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case </a:t>
            </a:r>
            <a:r>
              <a:rPr lang="en-US" sz="1800" dirty="0" err="1">
                <a:latin typeface="Consolas" panose="020B0609020204030204" pitchFamily="49" charset="0"/>
              </a:rPr>
              <a:t>StringRW</a:t>
            </a:r>
            <a:r>
              <a:rPr lang="en-US" sz="1800" dirty="0">
                <a:latin typeface="Consolas" panose="020B0609020204030204" pitchFamily="49" charset="0"/>
              </a:rPr>
              <a:t> -&gt;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matchCurrentSymbol</a:t>
            </a:r>
            <a:r>
              <a:rPr lang="en-US" sz="1800" dirty="0">
                <a:latin typeface="Consolas" panose="020B0609020204030204" pitchFamily="49" charset="0"/>
              </a:rPr>
              <a:t>();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return </a:t>
            </a:r>
            <a:r>
              <a:rPr lang="en-US" sz="1800" dirty="0" err="1">
                <a:latin typeface="Consolas" panose="020B0609020204030204" pitchFamily="49" charset="0"/>
              </a:rPr>
              <a:t>Type.String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r>
              <a:rPr lang="en-US" dirty="0"/>
              <a:t>Class </a:t>
            </a:r>
            <a:r>
              <a:rPr lang="en-US" sz="2300" dirty="0">
                <a:latin typeface="Consolas" panose="020B0609020204030204" pitchFamily="49" charset="0"/>
              </a:rPr>
              <a:t>Type</a:t>
            </a:r>
            <a:r>
              <a:rPr lang="en-US" dirty="0"/>
              <a:t>: declares </a:t>
            </a:r>
            <a:r>
              <a:rPr lang="en-US" sz="2300" dirty="0">
                <a:latin typeface="Consolas" panose="020B0609020204030204" pitchFamily="49" charset="0"/>
              </a:rPr>
              <a:t>String</a:t>
            </a:r>
            <a:r>
              <a:rPr lang="en-US" dirty="0"/>
              <a:t> as a predefined type.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public static Type </a:t>
            </a:r>
            <a:r>
              <a:rPr lang="en-US" sz="1800" dirty="0" err="1">
                <a:latin typeface="Consolas" panose="020B0609020204030204" pitchFamily="49" charset="0"/>
              </a:rPr>
              <a:t>typeOf</a:t>
            </a:r>
            <a:r>
              <a:rPr lang="en-US" sz="1800" dirty="0">
                <a:latin typeface="Consolas" panose="020B0609020204030204" pitchFamily="49" charset="0"/>
              </a:rPr>
              <a:t>(Token literal)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return switch (</a:t>
            </a:r>
            <a:r>
              <a:rPr lang="en-US" sz="1800" dirty="0" err="1">
                <a:latin typeface="Consolas" panose="020B0609020204030204" pitchFamily="49" charset="0"/>
              </a:rPr>
              <a:t>literal.symbol</a:t>
            </a:r>
            <a:r>
              <a:rPr lang="en-US" sz="1800" dirty="0">
                <a:latin typeface="Consolas" panose="020B0609020204030204" pitchFamily="49" charset="0"/>
              </a:rPr>
              <a:t>())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{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...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case </a:t>
            </a:r>
            <a:r>
              <a:rPr lang="en-US" sz="1800" dirty="0" err="1">
                <a:latin typeface="Consolas" panose="020B0609020204030204" pitchFamily="49" charset="0"/>
              </a:rPr>
              <a:t>Symbol.stringLiteral</a:t>
            </a:r>
            <a:r>
              <a:rPr lang="en-US" sz="1800" dirty="0">
                <a:latin typeface="Consolas" panose="020B0609020204030204" pitchFamily="49" charset="0"/>
              </a:rPr>
              <a:t> -&gt; </a:t>
            </a:r>
            <a:r>
              <a:rPr lang="en-US" sz="1800" dirty="0" err="1">
                <a:latin typeface="Consolas" panose="020B0609020204030204" pitchFamily="49" charset="0"/>
              </a:rPr>
              <a:t>Type.String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...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};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BC2AD-850C-FB32-1EFF-8D578DF8F0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</a:t>
            </a:r>
            <a:r>
              <a:rPr lang="en-US" dirty="0" err="1"/>
              <a:t>SoftMoore</a:t>
            </a:r>
            <a:r>
              <a:rPr lang="en-US" dirty="0"/>
              <a:t>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F5699-978C-F187-9980-21D3F48DF0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3A451E74-E241-4D9B-B11E-E03372E7FBB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1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CAFB5-29E5-FE5E-76BB-E849999EF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A6B9-F451-8BDE-4E51-20CD137D1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String-Related Classes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1971E-504B-0F4A-361A-04363D9D5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87" y="1363663"/>
            <a:ext cx="8229600" cy="4935537"/>
          </a:xfrm>
        </p:spPr>
        <p:txBody>
          <a:bodyPr/>
          <a:lstStyle/>
          <a:p>
            <a:r>
              <a:rPr lang="en-US" dirty="0"/>
              <a:t>Class </a:t>
            </a:r>
            <a:r>
              <a:rPr lang="en-US" sz="2300" dirty="0" err="1">
                <a:latin typeface="Consolas" panose="020B0609020204030204" pitchFamily="49" charset="0"/>
              </a:rPr>
              <a:t>AddingExpr</a:t>
            </a:r>
            <a:r>
              <a:rPr lang="en-US" dirty="0"/>
              <a:t>: Method </a:t>
            </a:r>
            <a:r>
              <a:rPr lang="en-US" sz="2300" dirty="0" err="1">
                <a:latin typeface="Consolas" panose="020B0609020204030204" pitchFamily="49" charset="0"/>
              </a:rPr>
              <a:t>checkConstraints</a:t>
            </a:r>
            <a:r>
              <a:rPr lang="en-US" sz="2300" dirty="0">
                <a:latin typeface="Consolas" panose="020B0609020204030204" pitchFamily="49" charset="0"/>
              </a:rPr>
              <a:t>()</a:t>
            </a:r>
            <a:r>
              <a:rPr lang="en-US" dirty="0"/>
              <a:t> allows string operands for the plus operator; method </a:t>
            </a:r>
            <a:r>
              <a:rPr lang="en-US" sz="2300" dirty="0">
                <a:latin typeface="Consolas" panose="020B0609020204030204" pitchFamily="49" charset="0"/>
              </a:rPr>
              <a:t>emit()</a:t>
            </a:r>
            <a:r>
              <a:rPr lang="en-US" dirty="0"/>
              <a:t> writes the opcode </a:t>
            </a:r>
            <a:r>
              <a:rPr lang="en-US" sz="2300" dirty="0">
                <a:latin typeface="Consolas" panose="020B0609020204030204" pitchFamily="49" charset="0"/>
              </a:rPr>
              <a:t>STRCAT</a:t>
            </a:r>
            <a:r>
              <a:rPr lang="en-US" dirty="0"/>
              <a:t> for string operands.</a:t>
            </a:r>
          </a:p>
          <a:p>
            <a:r>
              <a:rPr lang="en-US" dirty="0"/>
              <a:t>Class </a:t>
            </a:r>
            <a:r>
              <a:rPr lang="en-US" sz="2300" dirty="0" err="1">
                <a:latin typeface="Consolas" panose="020B0609020204030204" pitchFamily="49" charset="0"/>
              </a:rPr>
              <a:t>AssignmentStmt</a:t>
            </a:r>
            <a:r>
              <a:rPr lang="en-US" dirty="0"/>
              <a:t>: Method </a:t>
            </a:r>
            <a:r>
              <a:rPr lang="en-US" sz="2300" dirty="0" err="1">
                <a:latin typeface="Consolas" panose="020B0609020204030204" pitchFamily="49" charset="0"/>
              </a:rPr>
              <a:t>checkConstraints</a:t>
            </a:r>
            <a:r>
              <a:rPr lang="en-US" sz="2300" dirty="0">
                <a:latin typeface="Consolas" panose="020B0609020204030204" pitchFamily="49" charset="0"/>
              </a:rPr>
              <a:t>()</a:t>
            </a:r>
            <a:r>
              <a:rPr lang="en-US" dirty="0"/>
              <a:t> needs to enforce the constraint that strings are immutable in CPRL. If the declared type of the variable on the left side of the assignment statement is </a:t>
            </a:r>
            <a:r>
              <a:rPr lang="en-US" dirty="0">
                <a:latin typeface="Consolas" panose="020B0609020204030204" pitchFamily="49" charset="0"/>
              </a:rPr>
              <a:t>String</a:t>
            </a:r>
            <a:r>
              <a:rPr lang="en-US" dirty="0"/>
              <a:t>, then the list of selector expressions should be empty.</a:t>
            </a:r>
          </a:p>
          <a:p>
            <a:r>
              <a:rPr lang="en-US" dirty="0"/>
              <a:t>Class </a:t>
            </a:r>
            <a:r>
              <a:rPr lang="en-US" sz="2300" dirty="0" err="1"/>
              <a:t>ConstValue</a:t>
            </a:r>
            <a:r>
              <a:rPr lang="en-US" dirty="0"/>
              <a:t>: Method </a:t>
            </a:r>
            <a:r>
              <a:rPr lang="en-US" sz="2300" dirty="0">
                <a:latin typeface="Consolas" panose="020B0609020204030204" pitchFamily="49" charset="0"/>
              </a:rPr>
              <a:t>emit()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else if (type() == </a:t>
            </a:r>
            <a:r>
              <a:rPr lang="en-US" sz="1800" dirty="0" err="1">
                <a:latin typeface="Consolas" panose="020B0609020204030204" pitchFamily="49" charset="0"/>
              </a:rPr>
              <a:t>Type.String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emit("LDCSTR " + </a:t>
            </a:r>
            <a:r>
              <a:rPr lang="en-US" sz="1800" dirty="0" err="1">
                <a:latin typeface="Consolas" panose="020B0609020204030204" pitchFamily="49" charset="0"/>
              </a:rPr>
              <a:t>literal.text</a:t>
            </a:r>
            <a:r>
              <a:rPr lang="en-US" sz="1800" dirty="0">
                <a:latin typeface="Consolas" panose="020B0609020204030204" pitchFamily="49" charset="0"/>
              </a:rPr>
              <a:t>());</a:t>
            </a:r>
          </a:p>
          <a:p>
            <a:pPr marL="457200" lvl="1" indent="0">
              <a:buNone/>
            </a:pPr>
            <a:r>
              <a:rPr lang="en-US" dirty="0"/>
              <a:t>(LDCSTR pushes the address of the string literal onto the stack)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D9353D-C44E-130D-1FF8-58812A1801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</a:t>
            </a:r>
            <a:r>
              <a:rPr lang="en-US" dirty="0" err="1"/>
              <a:t>SoftMoore</a:t>
            </a:r>
            <a:r>
              <a:rPr lang="en-US" dirty="0"/>
              <a:t>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208CD2-2216-A5BF-1C13-F98CCE12E1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3A451E74-E241-4D9B-B11E-E03372E7FBB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78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EACF6-1E4F-1503-32CA-84C669C2A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2DB4B-2208-EC52-02F5-AD11CA1D4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String-Related Classes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D50B8-FBDE-255E-9357-8D3092BEB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sz="2300" dirty="0" err="1">
                <a:latin typeface="Consolas" panose="020B0609020204030204" pitchFamily="49" charset="0"/>
              </a:rPr>
              <a:t>OutputStmt</a:t>
            </a:r>
            <a:r>
              <a:rPr lang="en-US" dirty="0"/>
              <a:t>: Check the constraint that each expression being written has either a scalar type or type </a:t>
            </a:r>
            <a:r>
              <a:rPr lang="en-US" sz="2300" dirty="0">
                <a:latin typeface="Consolas" panose="020B0609020204030204" pitchFamily="49" charset="0"/>
              </a:rPr>
              <a:t>String</a:t>
            </a:r>
            <a:r>
              <a:rPr lang="en-US" dirty="0"/>
              <a:t>.  Class </a:t>
            </a:r>
            <a:r>
              <a:rPr lang="en-US" dirty="0">
                <a:latin typeface="Consolas" panose="020B0609020204030204" pitchFamily="49" charset="0"/>
              </a:rPr>
              <a:t>Type</a:t>
            </a:r>
            <a:r>
              <a:rPr lang="en-US" dirty="0"/>
              <a:t> has a </a:t>
            </a:r>
            <a:r>
              <a:rPr lang="en-US" dirty="0" err="1"/>
              <a:t>boolean</a:t>
            </a:r>
            <a:r>
              <a:rPr lang="en-US" dirty="0"/>
              <a:t> method named </a:t>
            </a:r>
            <a:r>
              <a:rPr lang="en-US" sz="2300" dirty="0" err="1">
                <a:latin typeface="Consolas" panose="020B0609020204030204" pitchFamily="49" charset="0"/>
              </a:rPr>
              <a:t>isOutputType</a:t>
            </a:r>
            <a:r>
              <a:rPr lang="en-US" sz="2300" dirty="0">
                <a:latin typeface="Consolas" panose="020B0609020204030204" pitchFamily="49" charset="0"/>
              </a:rPr>
              <a:t>()</a:t>
            </a:r>
            <a:r>
              <a:rPr lang="en-US" dirty="0"/>
              <a:t> that can be used to check this constraint.  Method </a:t>
            </a:r>
            <a:r>
              <a:rPr lang="en-US" sz="2300" dirty="0">
                <a:latin typeface="Consolas" panose="020B0609020204030204" pitchFamily="49" charset="0"/>
              </a:rPr>
              <a:t>emit()</a:t>
            </a:r>
            <a:r>
              <a:rPr lang="en-US" dirty="0"/>
              <a:t> must emit the opcode </a:t>
            </a:r>
            <a:r>
              <a:rPr lang="en-US" sz="2300" dirty="0">
                <a:latin typeface="Consolas" panose="020B0609020204030204" pitchFamily="49" charset="0"/>
              </a:rPr>
              <a:t>PUTSTR</a:t>
            </a:r>
            <a:r>
              <a:rPr lang="en-US" dirty="0"/>
              <a:t> for an expression of type </a:t>
            </a:r>
            <a:r>
              <a:rPr lang="en-US" sz="2300" dirty="0">
                <a:latin typeface="Consolas" panose="020B0609020204030204" pitchFamily="49" charset="0"/>
              </a:rPr>
              <a:t>String</a:t>
            </a:r>
            <a:r>
              <a:rPr lang="en-US" dirty="0"/>
              <a:t>.</a:t>
            </a:r>
          </a:p>
          <a:p>
            <a:r>
              <a:rPr lang="en-US" dirty="0"/>
              <a:t>Class </a:t>
            </a:r>
            <a:r>
              <a:rPr lang="en-US" sz="2300" dirty="0" err="1"/>
              <a:t>ReadStmt</a:t>
            </a:r>
            <a:r>
              <a:rPr lang="en-US" dirty="0"/>
              <a:t>: Method </a:t>
            </a:r>
            <a:r>
              <a:rPr lang="en-US" sz="2300" dirty="0" err="1">
                <a:latin typeface="Consolas" panose="020B0609020204030204" pitchFamily="49" charset="0"/>
              </a:rPr>
              <a:t>checkConstraints</a:t>
            </a:r>
            <a:r>
              <a:rPr lang="en-US" sz="2300" dirty="0">
                <a:latin typeface="Consolas" panose="020B0609020204030204" pitchFamily="49" charset="0"/>
              </a:rPr>
              <a:t>()</a:t>
            </a:r>
            <a:r>
              <a:rPr lang="en-US" dirty="0"/>
              <a:t> needs to make sure that the variable being read has one of the four allowed types – </a:t>
            </a:r>
            <a:r>
              <a:rPr lang="en-US" sz="2300" dirty="0">
                <a:latin typeface="Consolas" panose="020B0609020204030204" pitchFamily="49" charset="0"/>
              </a:rPr>
              <a:t>Integer</a:t>
            </a:r>
            <a:r>
              <a:rPr lang="en-US" dirty="0"/>
              <a:t>, </a:t>
            </a:r>
            <a:r>
              <a:rPr lang="en-US" sz="2300" dirty="0">
                <a:latin typeface="Consolas" panose="020B0609020204030204" pitchFamily="49" charset="0"/>
              </a:rPr>
              <a:t>Byte</a:t>
            </a:r>
            <a:r>
              <a:rPr lang="en-US" dirty="0"/>
              <a:t>, </a:t>
            </a:r>
            <a:r>
              <a:rPr lang="en-US" sz="2300" dirty="0">
                <a:latin typeface="Consolas" panose="020B0609020204030204" pitchFamily="49" charset="0"/>
              </a:rPr>
              <a:t>Char</a:t>
            </a:r>
            <a:r>
              <a:rPr lang="en-US" dirty="0"/>
              <a:t>, or </a:t>
            </a:r>
            <a:r>
              <a:rPr lang="en-US" sz="2300" dirty="0">
                <a:latin typeface="Consolas" panose="020B0609020204030204" pitchFamily="49" charset="0"/>
              </a:rPr>
              <a:t>String</a:t>
            </a:r>
            <a:r>
              <a:rPr lang="en-US" dirty="0"/>
              <a:t>.  Method </a:t>
            </a:r>
            <a:r>
              <a:rPr lang="en-US" sz="2300" dirty="0">
                <a:latin typeface="Consolas" panose="020B0609020204030204" pitchFamily="49" charset="0"/>
              </a:rPr>
              <a:t>emit()</a:t>
            </a:r>
            <a:r>
              <a:rPr lang="en-US" dirty="0"/>
              <a:t> needs to emit the opcode </a:t>
            </a:r>
            <a:r>
              <a:rPr lang="en-US" sz="2300" dirty="0">
                <a:latin typeface="Consolas" panose="020B0609020204030204" pitchFamily="49" charset="0"/>
              </a:rPr>
              <a:t>GETSTR</a:t>
            </a:r>
            <a:r>
              <a:rPr lang="en-US" dirty="0"/>
              <a:t> if the variable has type </a:t>
            </a:r>
            <a:r>
              <a:rPr lang="en-US" sz="2300" dirty="0">
                <a:latin typeface="Consolas" panose="020B0609020204030204" pitchFamily="49" charset="0"/>
              </a:rPr>
              <a:t>String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B452F-63AB-DAD4-9FAC-74995448D0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</a:t>
            </a:r>
            <a:r>
              <a:rPr lang="en-US" dirty="0" err="1"/>
              <a:t>SoftMoore</a:t>
            </a:r>
            <a:r>
              <a:rPr lang="en-US" dirty="0"/>
              <a:t>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156CD-D510-F6A6-752A-096C7A15FB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3A451E74-E241-4D9B-B11E-E03372E7FBB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68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B6FB6-2254-C0C0-2B7F-087535C14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484A1-484E-4D64-1720-1CDA3121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String-Related Classes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7C224-BB4D-F542-D3C1-A6522D531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87" y="1363663"/>
            <a:ext cx="8321040" cy="4935537"/>
          </a:xfrm>
        </p:spPr>
        <p:txBody>
          <a:bodyPr/>
          <a:lstStyle/>
          <a:p>
            <a:r>
              <a:rPr lang="en-US" dirty="0"/>
              <a:t>Class </a:t>
            </a:r>
            <a:r>
              <a:rPr lang="en-US" sz="2300" dirty="0" err="1">
                <a:latin typeface="Consolas" panose="020B0609020204030204" pitchFamily="49" charset="0"/>
              </a:rPr>
              <a:t>VarDecl</a:t>
            </a:r>
            <a:r>
              <a:rPr lang="en-US" dirty="0"/>
              <a:t>: Method </a:t>
            </a:r>
            <a:r>
              <a:rPr lang="en-US" sz="2300" dirty="0" err="1">
                <a:latin typeface="Consolas" panose="020B0609020204030204" pitchFamily="49" charset="0"/>
              </a:rPr>
              <a:t>checkConstraints</a:t>
            </a:r>
            <a:r>
              <a:rPr lang="en-US" sz="2300" dirty="0">
                <a:latin typeface="Consolas" panose="020B0609020204030204" pitchFamily="49" charset="0"/>
              </a:rPr>
              <a:t>()</a:t>
            </a:r>
            <a:r>
              <a:rPr lang="en-US" dirty="0"/>
              <a:t> uses</a:t>
            </a:r>
            <a:br>
              <a:rPr lang="en-US" dirty="0"/>
            </a:br>
            <a:r>
              <a:rPr lang="en-US" dirty="0"/>
              <a:t>helper method </a:t>
            </a:r>
            <a:r>
              <a:rPr lang="en-US" dirty="0" err="1">
                <a:latin typeface="Consolas" panose="020B0609020204030204" pitchFamily="49" charset="0"/>
              </a:rPr>
              <a:t>checkInitializer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 to verify that, for strings, an initializer is a constant value of type </a:t>
            </a:r>
            <a:r>
              <a:rPr lang="en-US" sz="2300" dirty="0">
                <a:latin typeface="Consolas" panose="020B0609020204030204" pitchFamily="49" charset="0"/>
              </a:rPr>
              <a:t>String</a:t>
            </a:r>
            <a:r>
              <a:rPr lang="en-US" dirty="0"/>
              <a:t>. </a:t>
            </a:r>
          </a:p>
          <a:p>
            <a:r>
              <a:rPr lang="en-US" dirty="0"/>
              <a:t>Class Variable:  We need to consider string variables with selector expressions in both the </a:t>
            </a:r>
            <a:r>
              <a:rPr lang="en-US" sz="2300" dirty="0" err="1">
                <a:latin typeface="Consolas" panose="020B0609020204030204" pitchFamily="49" charset="0"/>
              </a:rPr>
              <a:t>checkConstraints</a:t>
            </a:r>
            <a:r>
              <a:rPr lang="en-US" sz="2300" dirty="0">
                <a:latin typeface="Consolas" panose="020B0609020204030204" pitchFamily="49" charset="0"/>
              </a:rPr>
              <a:t>()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emit()</a:t>
            </a:r>
            <a:r>
              <a:rPr lang="en-US" dirty="0"/>
              <a:t> methods.  Details are covered in subsequent slides.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DE5790-A0B7-139A-774C-96F1DB5B27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</a:t>
            </a:r>
            <a:r>
              <a:rPr lang="en-US" dirty="0" err="1"/>
              <a:t>SoftMoore</a:t>
            </a:r>
            <a:r>
              <a:rPr lang="en-US" dirty="0"/>
              <a:t>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05009-5D65-4672-C288-B3491D9570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3A451E74-E241-4D9B-B11E-E03372E7FBB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501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Layout Example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58788" y="1363662"/>
            <a:ext cx="8226425" cy="822960"/>
          </a:xfrm>
        </p:spPr>
        <p:txBody>
          <a:bodyPr tIns="91440"/>
          <a:lstStyle/>
          <a:p>
            <a:pPr>
              <a:spcBef>
                <a:spcPts val="600"/>
              </a:spcBef>
              <a:buFontTx/>
              <a:buNone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type S = string[10];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var s : S;</a:t>
            </a:r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8F2F5D83-DFB4-4A59-B302-190A585E9614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235189" y="5200262"/>
            <a:ext cx="6673622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If the actual memory address of </a:t>
            </a:r>
            <a:r>
              <a:rPr lang="en-US" sz="2000" dirty="0">
                <a:latin typeface="Consolas" panose="020B0609020204030204" pitchFamily="49" charset="0"/>
              </a:rPr>
              <a:t>s</a:t>
            </a:r>
            <a:r>
              <a:rPr lang="en-US" sz="2000" dirty="0"/>
              <a:t> is </a:t>
            </a:r>
            <a:r>
              <a:rPr lang="en-US" sz="2000" dirty="0">
                <a:latin typeface="Consolas" panose="020B0609020204030204" pitchFamily="49" charset="0"/>
              </a:rPr>
              <a:t>100</a:t>
            </a:r>
            <a:r>
              <a:rPr lang="en-US" sz="2000" dirty="0"/>
              <a:t>, then the</a:t>
            </a:r>
          </a:p>
          <a:p>
            <a:pPr algn="l"/>
            <a:r>
              <a:rPr lang="en-US" sz="2000" dirty="0"/>
              <a:t>actual address of </a:t>
            </a:r>
            <a:r>
              <a:rPr lang="en-US" sz="2000" dirty="0" err="1">
                <a:latin typeface="Consolas" panose="020B0609020204030204" pitchFamily="49" charset="0"/>
              </a:rPr>
              <a:t>s.length</a:t>
            </a:r>
            <a:r>
              <a:rPr lang="en-US" sz="2000" dirty="0"/>
              <a:t> is </a:t>
            </a:r>
            <a:r>
              <a:rPr lang="en-US" sz="2000" dirty="0">
                <a:latin typeface="Consolas" panose="020B0609020204030204" pitchFamily="49" charset="0"/>
              </a:rPr>
              <a:t>100</a:t>
            </a:r>
            <a:r>
              <a:rPr lang="en-US" sz="2000" dirty="0"/>
              <a:t>, the actual address of</a:t>
            </a:r>
          </a:p>
          <a:p>
            <a:pPr algn="l"/>
            <a:r>
              <a:rPr lang="en-US" sz="2000" dirty="0">
                <a:latin typeface="Consolas" panose="020B0609020204030204" pitchFamily="49" charset="0"/>
              </a:rPr>
              <a:t>s[0]</a:t>
            </a:r>
            <a:r>
              <a:rPr lang="en-US" sz="2000" dirty="0"/>
              <a:t> is </a:t>
            </a:r>
            <a:r>
              <a:rPr lang="en-US" sz="2000" dirty="0">
                <a:latin typeface="Consolas" panose="020B0609020204030204" pitchFamily="49" charset="0"/>
              </a:rPr>
              <a:t>104</a:t>
            </a:r>
            <a:r>
              <a:rPr lang="en-US" sz="2000" dirty="0"/>
              <a:t>, the actual address of </a:t>
            </a:r>
            <a:r>
              <a:rPr lang="en-US" sz="2000" dirty="0">
                <a:latin typeface="Consolas" panose="020B0609020204030204" pitchFamily="49" charset="0"/>
              </a:rPr>
              <a:t>s[1]</a:t>
            </a:r>
            <a:r>
              <a:rPr lang="en-US" sz="2000" dirty="0"/>
              <a:t> is </a:t>
            </a:r>
            <a:r>
              <a:rPr lang="en-US" sz="2000" dirty="0">
                <a:latin typeface="Consolas" panose="020B0609020204030204" pitchFamily="49" charset="0"/>
              </a:rPr>
              <a:t>106</a:t>
            </a:r>
            <a:r>
              <a:rPr lang="en-US" sz="2000" dirty="0"/>
              <a:t>, etc.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160C30C-7ED4-FD9D-DEB9-E095085B1D2C}"/>
              </a:ext>
            </a:extLst>
          </p:cNvPr>
          <p:cNvGrpSpPr/>
          <p:nvPr/>
        </p:nvGrpSpPr>
        <p:grpSpPr>
          <a:xfrm>
            <a:off x="3030885" y="2209800"/>
            <a:ext cx="3082230" cy="2731373"/>
            <a:chOff x="4489319" y="1978483"/>
            <a:chExt cx="3082230" cy="2731373"/>
          </a:xfrm>
        </p:grpSpPr>
        <p:cxnSp>
          <p:nvCxnSpPr>
            <p:cNvPr id="37" name="AutoShape 59">
              <a:extLst>
                <a:ext uri="{FF2B5EF4-FFF2-40B4-BE49-F238E27FC236}">
                  <a16:creationId xmlns:a16="http://schemas.microsoft.com/office/drawing/2014/main" id="{D9BFF981-6DB5-11E9-E815-B2E0D42413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6322847" y="2154935"/>
              <a:ext cx="503238" cy="3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38" name="Rectangle 4">
              <a:extLst>
                <a:ext uri="{FF2B5EF4-FFF2-40B4-BE49-F238E27FC236}">
                  <a16:creationId xmlns:a16="http://schemas.microsoft.com/office/drawing/2014/main" id="{49767A24-874A-5969-534A-46552AC93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1125" y="2058096"/>
              <a:ext cx="1096962" cy="26517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494810D6-C1FE-457A-11D8-8CF60CD805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25" y="2409374"/>
              <a:ext cx="10969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21E566AF-5224-EA09-91BE-ECFB6EA54E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25" y="2584438"/>
              <a:ext cx="10969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9EE63229-5285-4871-D5AC-70E001C6ED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25" y="2234310"/>
              <a:ext cx="10969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F1F35715-EB42-4C5A-144A-F976A6E51A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25" y="2759502"/>
              <a:ext cx="10969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6F4C9248-EC7B-CD18-1538-1D135542D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25" y="2934566"/>
              <a:ext cx="10969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75AEEA3-B315-F23D-CF94-0E70B461F4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25" y="3109630"/>
              <a:ext cx="10969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F06E38BB-6AAF-456C-4F33-7C1E1B5CDA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25" y="3284694"/>
              <a:ext cx="10969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E851057E-E001-05B7-1432-50B25A0AD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25" y="3459758"/>
              <a:ext cx="10969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7" name="Line 14">
              <a:extLst>
                <a:ext uri="{FF2B5EF4-FFF2-40B4-BE49-F238E27FC236}">
                  <a16:creationId xmlns:a16="http://schemas.microsoft.com/office/drawing/2014/main" id="{567BBE97-D84F-C69E-61B1-67B37DEA24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25" y="3809886"/>
              <a:ext cx="10969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8" name="AutoShape 31">
              <a:extLst>
                <a:ext uri="{FF2B5EF4-FFF2-40B4-BE49-F238E27FC236}">
                  <a16:creationId xmlns:a16="http://schemas.microsoft.com/office/drawing/2014/main" id="{761948DD-CF9E-3E1E-D096-21310C8234C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54273" y="2788767"/>
              <a:ext cx="73152" cy="301752"/>
            </a:xfrm>
            <a:prstGeom prst="rightBrace">
              <a:avLst>
                <a:gd name="adj1" fmla="val 5373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49" name="Text Box 36">
              <a:extLst>
                <a:ext uri="{FF2B5EF4-FFF2-40B4-BE49-F238E27FC236}">
                  <a16:creationId xmlns:a16="http://schemas.microsoft.com/office/drawing/2014/main" id="{E875018C-062B-5B61-7E72-7630B659C2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24549" y="1978483"/>
              <a:ext cx="298159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Consolas" panose="020B0609020204030204" pitchFamily="49" charset="0"/>
                </a:rPr>
                <a:t>s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</a:endParaRPr>
            </a:p>
          </p:txBody>
        </p:sp>
        <p:sp>
          <p:nvSpPr>
            <p:cNvPr id="50" name="Line 14">
              <a:extLst>
                <a:ext uri="{FF2B5EF4-FFF2-40B4-BE49-F238E27FC236}">
                  <a16:creationId xmlns:a16="http://schemas.microsoft.com/office/drawing/2014/main" id="{4C27B6AF-AD80-EF22-99C9-662355D4CB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25" y="3634822"/>
              <a:ext cx="10969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51" name="Text Box 36">
              <a:extLst>
                <a:ext uri="{FF2B5EF4-FFF2-40B4-BE49-F238E27FC236}">
                  <a16:creationId xmlns:a16="http://schemas.microsoft.com/office/drawing/2014/main" id="{AAE9EF6E-83E6-F535-5D98-4238DEC2CC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9319" y="2763118"/>
              <a:ext cx="634790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Consolas" panose="020B0609020204030204" pitchFamily="49" charset="0"/>
                </a:rPr>
                <a:t>s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</a:rPr>
                <a:t>[0]</a:t>
              </a:r>
            </a:p>
          </p:txBody>
        </p:sp>
        <p:sp>
          <p:nvSpPr>
            <p:cNvPr id="52" name="Text Box 36">
              <a:extLst>
                <a:ext uri="{FF2B5EF4-FFF2-40B4-BE49-F238E27FC236}">
                  <a16:creationId xmlns:a16="http://schemas.microsoft.com/office/drawing/2014/main" id="{208AF4D1-9824-A101-FEB4-23A0ED115D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9319" y="3118632"/>
              <a:ext cx="634790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Consolas" panose="020B0609020204030204" pitchFamily="49" charset="0"/>
                </a:rPr>
                <a:t>s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</a:rPr>
                <a:t>[1]</a:t>
              </a:r>
            </a:p>
          </p:txBody>
        </p:sp>
        <p:sp>
          <p:nvSpPr>
            <p:cNvPr id="53" name="Text Box 36">
              <a:extLst>
                <a:ext uri="{FF2B5EF4-FFF2-40B4-BE49-F238E27FC236}">
                  <a16:creationId xmlns:a16="http://schemas.microsoft.com/office/drawing/2014/main" id="{E092E8DC-FE04-2080-5F71-D5D71E8B75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89319" y="3474147"/>
              <a:ext cx="634790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Consolas" panose="020B0609020204030204" pitchFamily="49" charset="0"/>
                </a:rPr>
                <a:t>s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</a:rPr>
                <a:t>[2]</a:t>
              </a:r>
            </a:p>
          </p:txBody>
        </p:sp>
        <p:cxnSp>
          <p:nvCxnSpPr>
            <p:cNvPr id="54" name="AutoShape 59">
              <a:extLst>
                <a:ext uri="{FF2B5EF4-FFF2-40B4-BE49-F238E27FC236}">
                  <a16:creationId xmlns:a16="http://schemas.microsoft.com/office/drawing/2014/main" id="{F53006D8-4114-7AB9-546F-FC5095C793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6322847" y="2843043"/>
              <a:ext cx="503238" cy="3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5" name="Text Box 36">
              <a:extLst>
                <a:ext uri="{FF2B5EF4-FFF2-40B4-BE49-F238E27FC236}">
                  <a16:creationId xmlns:a16="http://schemas.microsoft.com/office/drawing/2014/main" id="{994F30CF-36D5-5425-C91A-E666A56B15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24549" y="2667281"/>
              <a:ext cx="746999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Consolas" panose="020B0609020204030204" pitchFamily="49" charset="0"/>
                </a:rPr>
                <a:t>s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</a:rPr>
                <a:t> + 4</a:t>
              </a:r>
            </a:p>
          </p:txBody>
        </p:sp>
        <p:cxnSp>
          <p:nvCxnSpPr>
            <p:cNvPr id="56" name="AutoShape 59">
              <a:extLst>
                <a:ext uri="{FF2B5EF4-FFF2-40B4-BE49-F238E27FC236}">
                  <a16:creationId xmlns:a16="http://schemas.microsoft.com/office/drawing/2014/main" id="{F5F160FD-0047-5E34-18AB-62499E510B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6322847" y="3192435"/>
              <a:ext cx="503238" cy="47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57" name="Text Box 36">
              <a:extLst>
                <a:ext uri="{FF2B5EF4-FFF2-40B4-BE49-F238E27FC236}">
                  <a16:creationId xmlns:a16="http://schemas.microsoft.com/office/drawing/2014/main" id="{6911F8C8-FB8B-A93A-8C5E-029B041710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24549" y="3017865"/>
              <a:ext cx="747000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Consolas" panose="020B0609020204030204" pitchFamily="49" charset="0"/>
                </a:rPr>
                <a:t>s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</a:rPr>
                <a:t> + 6</a:t>
              </a:r>
            </a:p>
          </p:txBody>
        </p:sp>
        <p:sp>
          <p:nvSpPr>
            <p:cNvPr id="58" name="TextBox 120">
              <a:extLst>
                <a:ext uri="{FF2B5EF4-FFF2-40B4-BE49-F238E27FC236}">
                  <a16:creationId xmlns:a16="http://schemas.microsoft.com/office/drawing/2014/main" id="{E7A0A3A4-F2DC-B9F7-51DB-AAD29BC9BE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8350" y="2179935"/>
              <a:ext cx="742511" cy="4572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 anchorCtr="0">
              <a:no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length</a:t>
              </a:r>
            </a:p>
          </p:txBody>
        </p:sp>
        <p:sp>
          <p:nvSpPr>
            <p:cNvPr id="59" name="Line 14">
              <a:extLst>
                <a:ext uri="{FF2B5EF4-FFF2-40B4-BE49-F238E27FC236}">
                  <a16:creationId xmlns:a16="http://schemas.microsoft.com/office/drawing/2014/main" id="{942994C3-1178-1272-CA3C-91525A1291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25" y="3984950"/>
              <a:ext cx="10969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60" name="Line 14">
              <a:extLst>
                <a:ext uri="{FF2B5EF4-FFF2-40B4-BE49-F238E27FC236}">
                  <a16:creationId xmlns:a16="http://schemas.microsoft.com/office/drawing/2014/main" id="{51B4E288-F5B7-0A95-66B1-1B4AA4FFFB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1125" y="4513301"/>
              <a:ext cx="10969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61" name="AutoShape 31">
              <a:extLst>
                <a:ext uri="{FF2B5EF4-FFF2-40B4-BE49-F238E27FC236}">
                  <a16:creationId xmlns:a16="http://schemas.microsoft.com/office/drawing/2014/main" id="{BF5CE01C-CB68-F78B-6756-18424EA5BC9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54273" y="3135130"/>
              <a:ext cx="73152" cy="301752"/>
            </a:xfrm>
            <a:prstGeom prst="rightBrace">
              <a:avLst>
                <a:gd name="adj1" fmla="val 5373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62" name="AutoShape 31">
              <a:extLst>
                <a:ext uri="{FF2B5EF4-FFF2-40B4-BE49-F238E27FC236}">
                  <a16:creationId xmlns:a16="http://schemas.microsoft.com/office/drawing/2014/main" id="{45465C91-37A1-8458-6BDA-504FF76BC78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054273" y="3481492"/>
              <a:ext cx="73152" cy="301752"/>
            </a:xfrm>
            <a:prstGeom prst="rightBrace">
              <a:avLst>
                <a:gd name="adj1" fmla="val 5373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65B5A4D-98D2-EBA4-D934-795E1D9DBA2C}"/>
                </a:ext>
              </a:extLst>
            </p:cNvPr>
            <p:cNvSpPr txBox="1"/>
            <p:nvPr/>
          </p:nvSpPr>
          <p:spPr>
            <a:xfrm>
              <a:off x="5567923" y="3979084"/>
              <a:ext cx="343364" cy="369332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  <p:cxnSp>
          <p:nvCxnSpPr>
            <p:cNvPr id="64" name="AutoShape 59">
              <a:extLst>
                <a:ext uri="{FF2B5EF4-FFF2-40B4-BE49-F238E27FC236}">
                  <a16:creationId xmlns:a16="http://schemas.microsoft.com/office/drawing/2014/main" id="{328757B8-4C6E-4957-33E3-58ED4A02D59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V="1">
              <a:off x="6322847" y="3543415"/>
              <a:ext cx="503238" cy="476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65" name="Text Box 36">
              <a:extLst>
                <a:ext uri="{FF2B5EF4-FFF2-40B4-BE49-F238E27FC236}">
                  <a16:creationId xmlns:a16="http://schemas.microsoft.com/office/drawing/2014/main" id="{EDC28AA5-D6E7-59E3-EC88-D9783B6EF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24549" y="3368450"/>
              <a:ext cx="747000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Consolas" panose="020B0609020204030204" pitchFamily="49" charset="0"/>
                </a:rPr>
                <a:t>s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onsolas" panose="020B0609020204030204" pitchFamily="49" charset="0"/>
                </a:rPr>
                <a:t> + 8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 err="1">
                <a:latin typeface="Consolas" pitchFamily="49" charset="0"/>
                <a:cs typeface="Consolas" pitchFamily="49" charset="0"/>
              </a:rPr>
              <a:t>checkConstraints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()</a:t>
            </a:r>
            <a:br>
              <a:rPr lang="en-US" dirty="0"/>
            </a:br>
            <a:r>
              <a:rPr lang="en-US" dirty="0"/>
              <a:t>for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declaration.</a:t>
            </a:r>
            <a:endParaRPr lang="en-US" sz="1800" dirty="0">
              <a:latin typeface="Consolas" pitchFamily="49" charset="0"/>
              <a:cs typeface="Consolas" pitchFamily="49" charset="0"/>
            </a:endParaRPr>
          </a:p>
          <a:p>
            <a:pPr lvl="1">
              <a:spcBef>
                <a:spcPts val="40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var name : String;</a:t>
            </a:r>
          </a:p>
          <a:p>
            <a:pPr marL="400050" lvl="1" indent="0">
              <a:buNone/>
            </a:pPr>
            <a:r>
              <a:rPr lang="en-US" sz="2400" dirty="0"/>
              <a:t>Observe that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name</a:t>
            </a:r>
            <a:r>
              <a:rPr lang="en-US" sz="2400" dirty="0"/>
              <a:t> has type </a:t>
            </a:r>
            <a:r>
              <a:rPr lang="en-US" sz="2400" dirty="0">
                <a:latin typeface="Consolas" pitchFamily="49" charset="0"/>
              </a:rPr>
              <a:t>String</a:t>
            </a:r>
            <a:r>
              <a:rPr lang="en-US" sz="2400" dirty="0"/>
              <a:t>, but </a:t>
            </a:r>
            <a:r>
              <a:rPr lang="en-US" sz="2400" dirty="0" err="1">
                <a:latin typeface="Consolas" pitchFamily="49" charset="0"/>
                <a:cs typeface="Consolas" pitchFamily="49" charset="0"/>
              </a:rPr>
              <a:t>name.length</a:t>
            </a:r>
            <a:r>
              <a:rPr lang="en-US" sz="2400" dirty="0"/>
              <a:t> has type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Integer</a:t>
            </a:r>
            <a:r>
              <a:rPr lang="en-US" sz="2400" dirty="0">
                <a:cs typeface="Consolas" pitchFamily="49" charset="0"/>
              </a:rPr>
              <a:t>, and </a:t>
            </a:r>
            <a:r>
              <a:rPr lang="en-US" sz="2400" dirty="0">
                <a:latin typeface="Consolas" panose="020B0609020204030204" pitchFamily="49" charset="0"/>
                <a:cs typeface="Consolas" pitchFamily="49" charset="0"/>
              </a:rPr>
              <a:t>name[i]</a:t>
            </a:r>
            <a:r>
              <a:rPr lang="en-US" sz="2400" dirty="0">
                <a:cs typeface="Consolas" pitchFamily="49" charset="0"/>
              </a:rPr>
              <a:t> has type </a:t>
            </a:r>
            <a:r>
              <a:rPr lang="en-US" sz="2400" dirty="0">
                <a:latin typeface="Consolas" panose="020B0609020204030204" pitchFamily="49" charset="0"/>
                <a:cs typeface="Consolas" pitchFamily="49" charset="0"/>
              </a:rPr>
              <a:t>Char</a:t>
            </a:r>
            <a:r>
              <a:rPr lang="en-US" sz="2400" dirty="0">
                <a:cs typeface="Consolas" pitchFamily="49" charset="0"/>
              </a:rPr>
              <a:t>.</a:t>
            </a:r>
            <a:endParaRPr lang="en-US" sz="2400" dirty="0">
              <a:latin typeface="Consolas" pitchFamily="49" charset="0"/>
              <a:cs typeface="Consolas" pitchFamily="49" charset="0"/>
            </a:endParaRPr>
          </a:p>
          <a:p>
            <a:r>
              <a:rPr lang="en-US" dirty="0"/>
              <a:t>For a selector expression following a string variable,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checkConstraints()</a:t>
            </a:r>
            <a:r>
              <a:rPr lang="en-US" dirty="0"/>
              <a:t> must</a:t>
            </a:r>
          </a:p>
          <a:p>
            <a:pPr marL="457200" lvl="1" indent="0">
              <a:buNone/>
            </a:pPr>
            <a:r>
              <a:rPr lang="en-US" dirty="0"/>
              <a:t>For a field expression:</a:t>
            </a:r>
          </a:p>
          <a:p>
            <a:pPr lvl="2"/>
            <a:r>
              <a:rPr lang="en-US" dirty="0"/>
              <a:t>Set the type of the variable to </a:t>
            </a:r>
            <a:r>
              <a:rPr lang="en-US" dirty="0">
                <a:latin typeface="Consolas" panose="020B0609020204030204" pitchFamily="49" charset="0"/>
              </a:rPr>
              <a:t>Integer</a:t>
            </a:r>
            <a:r>
              <a:rPr lang="en-US" dirty="0"/>
              <a:t>.</a:t>
            </a:r>
            <a:endParaRPr lang="en-US" dirty="0">
              <a:latin typeface="Consolas" panose="020B0609020204030204" pitchFamily="49" charset="0"/>
            </a:endParaRPr>
          </a:p>
          <a:p>
            <a:pPr lvl="2"/>
            <a:r>
              <a:rPr lang="en-US" dirty="0"/>
              <a:t>Check that the field name is “</a:t>
            </a:r>
            <a:r>
              <a:rPr lang="en-US" dirty="0">
                <a:latin typeface="Consolas" panose="020B0609020204030204" pitchFamily="49" charset="0"/>
              </a:rPr>
              <a:t>length</a:t>
            </a:r>
            <a:r>
              <a:rPr lang="en-US" dirty="0"/>
              <a:t>”.</a:t>
            </a:r>
          </a:p>
          <a:p>
            <a:pPr marL="457200" lvl="1" indent="0">
              <a:buNone/>
            </a:pPr>
            <a:r>
              <a:rPr lang="en-US" dirty="0"/>
              <a:t>Otherwise (must be an index expression)</a:t>
            </a:r>
          </a:p>
          <a:p>
            <a:pPr lvl="2"/>
            <a:r>
              <a:rPr lang="en-US" dirty="0"/>
              <a:t>Set the type of the variable to </a:t>
            </a:r>
            <a:r>
              <a:rPr lang="en-US" dirty="0">
                <a:latin typeface="Consolas" panose="020B0609020204030204" pitchFamily="49" charset="0"/>
              </a:rPr>
              <a:t>Char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Use method </a:t>
            </a:r>
            <a:r>
              <a:rPr lang="en-US" dirty="0" err="1">
                <a:latin typeface="Consolas" panose="020B0609020204030204" pitchFamily="49" charset="0"/>
              </a:rPr>
              <a:t>isIndexType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 in class </a:t>
            </a:r>
            <a:r>
              <a:rPr lang="en-US" dirty="0">
                <a:latin typeface="Consolas" panose="020B0609020204030204" pitchFamily="49" charset="0"/>
              </a:rPr>
              <a:t>Type</a:t>
            </a:r>
            <a:r>
              <a:rPr lang="en-US" dirty="0"/>
              <a:t> to check that the type of the index expression is a numeric type or an enumerated type.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3A451E74-E241-4D9B-B11E-E03372E7FBB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emit()</a:t>
            </a:r>
            <a:r>
              <a:rPr lang="en-US" dirty="0"/>
              <a:t> for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Variable</a:t>
            </a:r>
            <a:endParaRPr lang="en-US" dirty="0">
              <a:cs typeface="Consolas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First, as with non-string types,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emit()</a:t>
            </a:r>
            <a:r>
              <a:rPr lang="en-US" dirty="0"/>
              <a:t> must generate code to leave the relative address of the variable on the run-time stack (i.e., the address of the first byte of the string)</a:t>
            </a:r>
          </a:p>
          <a:p>
            <a:pPr lvl="1"/>
            <a:r>
              <a:rPr lang="en-US" sz="1900" dirty="0"/>
              <a:t>no change required to existing code</a:t>
            </a:r>
          </a:p>
          <a:p>
            <a:r>
              <a:rPr lang="en-US" dirty="0"/>
              <a:t>For a selector expression,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emit()</a:t>
            </a:r>
            <a:r>
              <a:rPr lang="en-US" dirty="0"/>
              <a:t> must perform the following actions.</a:t>
            </a:r>
            <a:endParaRPr lang="en-US" b="1" dirty="0"/>
          </a:p>
          <a:p>
            <a:r>
              <a:rPr lang="en-US" dirty="0"/>
              <a:t>If the selector expression is a field expression, no  additional code needs to be emitted</a:t>
            </a:r>
          </a:p>
          <a:p>
            <a:pPr lvl="1"/>
            <a:r>
              <a:rPr lang="en-US" dirty="0"/>
              <a:t>only field is </a:t>
            </a:r>
            <a:r>
              <a:rPr lang="en-US" dirty="0">
                <a:latin typeface="Consolas" panose="020B0609020204030204" pitchFamily="49" charset="0"/>
              </a:rPr>
              <a:t>length</a:t>
            </a:r>
            <a:r>
              <a:rPr lang="en-US" dirty="0"/>
              <a:t>, which has offset </a:t>
            </a:r>
            <a:r>
              <a:rPr lang="en-US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3A451E74-E241-4D9B-B11E-E03372E7FBB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94934B-70F5-5D2B-0116-694721E98294}"/>
              </a:ext>
            </a:extLst>
          </p:cNvPr>
          <p:cNvSpPr txBox="1"/>
          <p:nvPr/>
        </p:nvSpPr>
        <p:spPr>
          <a:xfrm>
            <a:off x="3203677" y="5929868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(continued on next page)</a:t>
            </a:r>
          </a:p>
        </p:txBody>
      </p:sp>
    </p:spTree>
    <p:extLst>
      <p:ext uri="{BB962C8B-B14F-4D97-AF65-F5344CB8AC3E}">
        <p14:creationId xmlns:p14="http://schemas.microsoft.com/office/powerpoint/2010/main" val="2174761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emit()</a:t>
            </a:r>
            <a:r>
              <a:rPr lang="en-US" dirty="0"/>
              <a:t> for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Variable</a:t>
            </a:r>
            <a:br>
              <a:rPr lang="en-US" dirty="0">
                <a:latin typeface="Consolas" pitchFamily="49" charset="0"/>
                <a:cs typeface="Consolas" pitchFamily="49" charset="0"/>
              </a:rPr>
            </a:br>
            <a:r>
              <a:rPr lang="en-US" sz="2400" dirty="0">
                <a:latin typeface="+mn-lt"/>
                <a:cs typeface="Consolas" pitchFamily="49" charset="0"/>
              </a:rPr>
              <a:t>(continued)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selector expression is an index expression:</a:t>
            </a:r>
          </a:p>
          <a:p>
            <a:pPr lvl="1"/>
            <a:r>
              <a:rPr lang="en-US" dirty="0"/>
              <a:t>Generate code to skip over the length field.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emit("LDCINT " + </a:t>
            </a:r>
            <a:r>
              <a:rPr lang="en-US" dirty="0" err="1">
                <a:latin typeface="Consolas" panose="020B0609020204030204" pitchFamily="49" charset="0"/>
              </a:rPr>
              <a:t>Type.Integer.size</a:t>
            </a:r>
            <a:r>
              <a:rPr lang="en-US" dirty="0">
                <a:latin typeface="Consolas" panose="020B0609020204030204" pitchFamily="49" charset="0"/>
              </a:rPr>
              <a:t>());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emit("ADD");</a:t>
            </a:r>
          </a:p>
          <a:p>
            <a:pPr lvl="1"/>
            <a:r>
              <a:rPr lang="en-US" dirty="0"/>
              <a:t>Generate code to compute the value of the index expression.</a:t>
            </a:r>
          </a:p>
          <a:p>
            <a:pPr marL="914400" lvl="2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expr.emit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dirty="0"/>
              <a:t>Generate code to multiply this value by the size of type </a:t>
            </a:r>
            <a:r>
              <a:rPr lang="en-US" dirty="0">
                <a:latin typeface="Consolas" panose="020B0609020204030204" pitchFamily="49" charset="0"/>
              </a:rPr>
              <a:t>Char</a:t>
            </a:r>
            <a:r>
              <a:rPr lang="en-US" dirty="0"/>
              <a:t> to get the offset.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emit("LDCINT " + </a:t>
            </a:r>
            <a:r>
              <a:rPr lang="en-US" dirty="0" err="1">
                <a:latin typeface="Consolas" panose="020B0609020204030204" pitchFamily="49" charset="0"/>
              </a:rPr>
              <a:t>Type.Char.size</a:t>
            </a:r>
            <a:r>
              <a:rPr lang="en-US" dirty="0">
                <a:latin typeface="Consolas" panose="020B0609020204030204" pitchFamily="49" charset="0"/>
              </a:rPr>
              <a:t>());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emit("MUL");</a:t>
            </a:r>
          </a:p>
          <a:p>
            <a:pPr lvl="1"/>
            <a:r>
              <a:rPr lang="en-US" dirty="0"/>
              <a:t>Generate code to add the offset to the relative address of the first character.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emit("ADD");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3A451E74-E241-4D9B-B11E-E03372E7FBB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48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63D41-CBFE-2308-949B-F6336953C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ED8E4-A17A-B890-BDC7-21FB1F2EE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part of memory used for dynamic allocation is commonly referred to as the “heap” or the “free store”. </a:t>
            </a:r>
          </a:p>
          <a:p>
            <a:r>
              <a:rPr lang="en-US" dirty="0"/>
              <a:t>Languages like Java, C++, and C# use the keyword </a:t>
            </a:r>
            <a:r>
              <a:rPr lang="en-US" sz="2300" dirty="0">
                <a:latin typeface="Consolas" panose="020B0609020204030204" pitchFamily="49" charset="0"/>
              </a:rPr>
              <a:t>new</a:t>
            </a:r>
            <a:r>
              <a:rPr lang="en-US" dirty="0"/>
              <a:t> to request dynamic memory allocation on the heap.  </a:t>
            </a:r>
          </a:p>
          <a:p>
            <a:r>
              <a:rPr lang="en-US" dirty="0"/>
              <a:t>While memory allocated on the run-time stack is automatically reclaimed when a subprogram returns, memory allocated on the heap remains until either it is manually freed (e.g., using a </a:t>
            </a:r>
            <a:r>
              <a:rPr lang="en-US" sz="2300" dirty="0">
                <a:latin typeface="Consolas" panose="020B0609020204030204" pitchFamily="49" charset="0"/>
              </a:rPr>
              <a:t>free()</a:t>
            </a:r>
            <a:r>
              <a:rPr lang="en-US" dirty="0"/>
              <a:t> function or a </a:t>
            </a:r>
            <a:r>
              <a:rPr lang="en-US" sz="2300" dirty="0">
                <a:latin typeface="Consolas" panose="020B0609020204030204" pitchFamily="49" charset="0"/>
              </a:rPr>
              <a:t>delete</a:t>
            </a:r>
            <a:r>
              <a:rPr lang="en-US" dirty="0"/>
              <a:t> operator) or until a garbage collector identifies it as unused and reclaims it.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FF26BE-1FAE-F930-B0BE-75B653F3CE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D71C1-BA9E-15F8-EF06-09A99C07BA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3A451E74-E241-4D9B-B11E-E03372E7FBB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524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FD8C-8FAD-7318-4793-440536504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F57CF-355C-DB32-F6A3-EC4E8B961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Memory in CPRL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8CD20-1E36-FCF3-B661-2B42B8C8F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CPRL, dynamic memory is needed only in two string-related CVM instructions.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GETSTR</a:t>
            </a:r>
            <a:r>
              <a:rPr lang="en-US" dirty="0"/>
              <a:t> allocates memory on the heap for the string entered at the command line.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STRCAT</a:t>
            </a:r>
            <a:r>
              <a:rPr lang="en-US" dirty="0"/>
              <a:t> allocates memory on the heap to store the concatenated string.</a:t>
            </a:r>
          </a:p>
          <a:p>
            <a:r>
              <a:rPr lang="en-US" dirty="0"/>
              <a:t>To simplify the implementation, the CVM uses a simple bump allocator that allocates heap memory when needed, and heap memory is never reclaimed; i.e., it is never deallocated.</a:t>
            </a:r>
          </a:p>
          <a:p>
            <a:r>
              <a:rPr lang="en-US" dirty="0"/>
              <a:t>A special-purpose register named </a:t>
            </a:r>
            <a:r>
              <a:rPr lang="en-US" sz="2300" dirty="0">
                <a:latin typeface="Consolas" panose="020B0609020204030204" pitchFamily="49" charset="0"/>
              </a:rPr>
              <a:t>HP</a:t>
            </a:r>
            <a:r>
              <a:rPr lang="en-US" dirty="0"/>
              <a:t> (heap pointer) points to the top of the heap.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927820-72E7-1E11-BAFF-F595CF4690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D6E3F-E6FE-C836-C9C3-A020D4E4FA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3A451E74-E241-4D9B-B11E-E03372E7FBB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6997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128C5-A2FF-0601-5C1B-26517850A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Memory Layout at Run Time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C7B7FF-51E0-790A-B7E9-5E1F444ED7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4EFB9-F3FE-4EE7-D11C-4311FB383E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3A451E74-E241-4D9B-B11E-E03372E7FBBC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86C81EA-890D-9631-1410-856D893F368A}"/>
              </a:ext>
            </a:extLst>
          </p:cNvPr>
          <p:cNvGrpSpPr/>
          <p:nvPr/>
        </p:nvGrpSpPr>
        <p:grpSpPr>
          <a:xfrm>
            <a:off x="1626426" y="1357902"/>
            <a:ext cx="5891148" cy="4890498"/>
            <a:chOff x="3078476" y="1007383"/>
            <a:chExt cx="5891148" cy="4890498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99414631-4333-D212-91EE-54EDAFA10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278" y="1143000"/>
              <a:ext cx="1645920" cy="47548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B7E76D7B-9AB8-EA00-F74A-85DADD8A44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278" y="2276146"/>
              <a:ext cx="1645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4CF555DB-F4C1-AC87-E88E-C994ACAD9C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278" y="3322167"/>
              <a:ext cx="1645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CF6D5830-3177-50A6-0CF6-6F45BA2F30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4334" y="1454287"/>
              <a:ext cx="1221809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Arial" charset="0"/>
                </a:rPr>
                <a:t>machine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ins</a:t>
              </a:r>
              <a:r>
                <a:rPr lang="en-US" sz="1600" kern="0" dirty="0" err="1">
                  <a:latin typeface="Arial" charset="0"/>
                </a:rPr>
                <a:t>tructions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CC53FA89-1CB3-B287-1E4B-2980BCDF3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6199" y="2501950"/>
              <a:ext cx="938078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Arial" charset="0"/>
                </a:rPr>
                <a:t>run-time</a:t>
              </a:r>
              <a:b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</a:b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stack</a:t>
              </a: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6432E1DE-62DA-A7E3-3AB0-A807B376ED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31808" y="3861354"/>
              <a:ext cx="926857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free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memory</a:t>
              </a: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977A5BB2-9C15-3D7D-70B5-7C240C54E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4969" y="1707179"/>
              <a:ext cx="468397" cy="3385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PC</a:t>
              </a: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564E6761-067D-3E67-9423-762B142A4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0579" y="2608861"/>
              <a:ext cx="457176" cy="3385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BP</a:t>
              </a:r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476698E6-902A-47BD-0BB4-169CEE164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0579" y="3152890"/>
              <a:ext cx="457176" cy="3385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SP</a:t>
              </a: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EC04C104-3953-9103-D304-4B4DB3D6A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0579" y="2106869"/>
              <a:ext cx="457176" cy="3385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SB</a:t>
              </a:r>
            </a:p>
          </p:txBody>
        </p:sp>
        <p:sp>
          <p:nvSpPr>
            <p:cNvPr id="17" name="AutoShape 15">
              <a:extLst>
                <a:ext uri="{FF2B5EF4-FFF2-40B4-BE49-F238E27FC236}">
                  <a16:creationId xmlns:a16="http://schemas.microsoft.com/office/drawing/2014/main" id="{B0AB01C7-8CFC-D4BA-8FA1-81E856FDB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3987" y="1785175"/>
              <a:ext cx="182563" cy="182562"/>
            </a:xfrm>
            <a:prstGeom prst="diamond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cxnSp>
          <p:nvCxnSpPr>
            <p:cNvPr id="18" name="AutoShape 17">
              <a:extLst>
                <a:ext uri="{FF2B5EF4-FFF2-40B4-BE49-F238E27FC236}">
                  <a16:creationId xmlns:a16="http://schemas.microsoft.com/office/drawing/2014/main" id="{945D2CA5-54F2-B1D7-0E46-8EF5493B2E4E}"/>
                </a:ext>
              </a:extLst>
            </p:cNvPr>
            <p:cNvCxnSpPr>
              <a:cxnSpLocks noChangeShapeType="1"/>
              <a:stCxn id="13" idx="1"/>
              <a:endCxn id="17" idx="3"/>
            </p:cNvCxnSpPr>
            <p:nvPr/>
          </p:nvCxnSpPr>
          <p:spPr bwMode="auto">
            <a:xfrm flipH="1">
              <a:off x="7106550" y="1876456"/>
              <a:ext cx="85841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9" name="AutoShape 18">
              <a:extLst>
                <a:ext uri="{FF2B5EF4-FFF2-40B4-BE49-F238E27FC236}">
                  <a16:creationId xmlns:a16="http://schemas.microsoft.com/office/drawing/2014/main" id="{B46C77F9-C875-B7FE-2C93-958B6A448359}"/>
                </a:ext>
              </a:extLst>
            </p:cNvPr>
            <p:cNvCxnSpPr>
              <a:cxnSpLocks noChangeShapeType="1"/>
              <a:stCxn id="16" idx="1"/>
              <a:endCxn id="8" idx="1"/>
            </p:cNvCxnSpPr>
            <p:nvPr/>
          </p:nvCxnSpPr>
          <p:spPr bwMode="auto">
            <a:xfrm flipH="1">
              <a:off x="7118198" y="2276146"/>
              <a:ext cx="852381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" name="AutoShape 19">
              <a:extLst>
                <a:ext uri="{FF2B5EF4-FFF2-40B4-BE49-F238E27FC236}">
                  <a16:creationId xmlns:a16="http://schemas.microsoft.com/office/drawing/2014/main" id="{9B207E78-1B48-6930-CC54-5C9193450F84}"/>
                </a:ext>
              </a:extLst>
            </p:cNvPr>
            <p:cNvCxnSpPr>
              <a:cxnSpLocks noChangeShapeType="1"/>
              <a:stCxn id="14" idx="1"/>
              <a:endCxn id="25" idx="3"/>
            </p:cNvCxnSpPr>
            <p:nvPr/>
          </p:nvCxnSpPr>
          <p:spPr bwMode="auto">
            <a:xfrm flipH="1">
              <a:off x="7106550" y="2778138"/>
              <a:ext cx="86402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1" name="AutoShape 20">
              <a:extLst>
                <a:ext uri="{FF2B5EF4-FFF2-40B4-BE49-F238E27FC236}">
                  <a16:creationId xmlns:a16="http://schemas.microsoft.com/office/drawing/2014/main" id="{A9F84FAA-9B95-3F45-B488-7C68B0C84E46}"/>
                </a:ext>
              </a:extLst>
            </p:cNvPr>
            <p:cNvCxnSpPr>
              <a:cxnSpLocks noChangeShapeType="1"/>
              <a:stCxn id="15" idx="1"/>
              <a:endCxn id="9" idx="1"/>
            </p:cNvCxnSpPr>
            <p:nvPr/>
          </p:nvCxnSpPr>
          <p:spPr bwMode="auto">
            <a:xfrm flipH="1">
              <a:off x="7118198" y="3322167"/>
              <a:ext cx="852381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80DDF66-4769-AB8D-447E-FDA75F6670A0}"/>
                </a:ext>
              </a:extLst>
            </p:cNvPr>
            <p:cNvCxnSpPr/>
            <p:nvPr/>
          </p:nvCxnSpPr>
          <p:spPr>
            <a:xfrm rot="5400000">
              <a:off x="2857162" y="3519647"/>
              <a:ext cx="4754880" cy="1587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headEnd type="stealth" w="lg" len="lg"/>
              <a:tailEnd type="stealth" w="lg" len="lg"/>
            </a:ln>
            <a:effectLst/>
          </p:spPr>
        </p:cxnSp>
        <p:sp>
          <p:nvSpPr>
            <p:cNvPr id="23" name="Text Box 8">
              <a:extLst>
                <a:ext uri="{FF2B5EF4-FFF2-40B4-BE49-F238E27FC236}">
                  <a16:creationId xmlns:a16="http://schemas.microsoft.com/office/drawing/2014/main" id="{24C64FC9-45D1-CCCE-4646-5F1BC4557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8476" y="1518479"/>
              <a:ext cx="1930337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Arial" charset="0"/>
                </a:rPr>
                <a:t>l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ow-numbered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memory addresses</a:t>
              </a:r>
            </a:p>
          </p:txBody>
        </p:sp>
        <p:sp>
          <p:nvSpPr>
            <p:cNvPr id="24" name="Text Box 8">
              <a:extLst>
                <a:ext uri="{FF2B5EF4-FFF2-40B4-BE49-F238E27FC236}">
                  <a16:creationId xmlns:a16="http://schemas.microsoft.com/office/drawing/2014/main" id="{C9ABA217-A3D0-8093-40E7-93CFF278CB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8476" y="5086626"/>
              <a:ext cx="1930337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Arial" charset="0"/>
                </a:rPr>
                <a:t>h</a:t>
              </a:r>
              <a:r>
                <a:rPr kumimoji="0" lang="en-US" sz="1600" b="0" i="0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igh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-numbered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memory addresses</a:t>
              </a:r>
            </a:p>
          </p:txBody>
        </p:sp>
        <p:sp>
          <p:nvSpPr>
            <p:cNvPr id="25" name="AutoShape 15">
              <a:extLst>
                <a:ext uri="{FF2B5EF4-FFF2-40B4-BE49-F238E27FC236}">
                  <a16:creationId xmlns:a16="http://schemas.microsoft.com/office/drawing/2014/main" id="{C4927254-1438-9D0D-9E98-4AB688B34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3987" y="2686857"/>
              <a:ext cx="182563" cy="182562"/>
            </a:xfrm>
            <a:prstGeom prst="diamond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26" name="Text Box 9">
              <a:extLst>
                <a:ext uri="{FF2B5EF4-FFF2-40B4-BE49-F238E27FC236}">
                  <a16:creationId xmlns:a16="http://schemas.microsoft.com/office/drawing/2014/main" id="{C1971ADE-A1B3-3C6F-7E6A-900BD12A4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4922" y="3507128"/>
              <a:ext cx="1484702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Arial" charset="0"/>
                </a:rPr>
                <a:t>s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tack grows in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this direction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371B824-6997-D488-2B6F-384230D1F1D8}"/>
                </a:ext>
              </a:extLst>
            </p:cNvPr>
            <p:cNvCxnSpPr/>
            <p:nvPr/>
          </p:nvCxnSpPr>
          <p:spPr>
            <a:xfrm rot="5400000">
              <a:off x="6999893" y="3756712"/>
              <a:ext cx="731520" cy="1588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tailEnd type="triangle" w="med" len="med"/>
            </a:ln>
            <a:effectLst/>
          </p:spPr>
        </p:cxnSp>
        <p:sp>
          <p:nvSpPr>
            <p:cNvPr id="28" name="Line 6">
              <a:extLst>
                <a:ext uri="{FF2B5EF4-FFF2-40B4-BE49-F238E27FC236}">
                  <a16:creationId xmlns:a16="http://schemas.microsoft.com/office/drawing/2014/main" id="{905F56F5-C2CC-1903-A7BF-DB8DC822E7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278" y="4985316"/>
              <a:ext cx="16459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sp>
          <p:nvSpPr>
            <p:cNvPr id="29" name="Text Box 9">
              <a:extLst>
                <a:ext uri="{FF2B5EF4-FFF2-40B4-BE49-F238E27FC236}">
                  <a16:creationId xmlns:a16="http://schemas.microsoft.com/office/drawing/2014/main" id="{A827930D-21C2-E527-C502-FD121C5FDF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5279" y="5325587"/>
              <a:ext cx="639919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Arial" charset="0"/>
                </a:rPr>
                <a:t>heap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64791C4-5666-1565-F0C8-568FBE0D6BD6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6999895" y="4546946"/>
              <a:ext cx="731520" cy="1588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tailEnd type="triangle" w="med" len="med"/>
            </a:ln>
            <a:effectLst/>
          </p:spPr>
        </p:cxnSp>
        <p:sp>
          <p:nvSpPr>
            <p:cNvPr id="31" name="Rectangle 13">
              <a:extLst>
                <a:ext uri="{FF2B5EF4-FFF2-40B4-BE49-F238E27FC236}">
                  <a16:creationId xmlns:a16="http://schemas.microsoft.com/office/drawing/2014/main" id="{5C01B11A-737F-AAA0-1081-145DFF679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0364" y="4816039"/>
              <a:ext cx="468398" cy="3385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Arial" charset="0"/>
                </a:rPr>
                <a:t>H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P</a:t>
              </a:r>
            </a:p>
          </p:txBody>
        </p:sp>
        <p:cxnSp>
          <p:nvCxnSpPr>
            <p:cNvPr id="32" name="AutoShape 20">
              <a:extLst>
                <a:ext uri="{FF2B5EF4-FFF2-40B4-BE49-F238E27FC236}">
                  <a16:creationId xmlns:a16="http://schemas.microsoft.com/office/drawing/2014/main" id="{EFB1C820-6D02-40AB-050B-2187493580FA}"/>
                </a:ext>
              </a:extLst>
            </p:cNvPr>
            <p:cNvCxnSpPr>
              <a:cxnSpLocks noChangeShapeType="1"/>
              <a:stCxn id="31" idx="1"/>
              <a:endCxn id="28" idx="1"/>
            </p:cNvCxnSpPr>
            <p:nvPr/>
          </p:nvCxnSpPr>
          <p:spPr bwMode="auto">
            <a:xfrm flipH="1">
              <a:off x="7118198" y="4985316"/>
              <a:ext cx="872166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33" name="Text Box 9">
              <a:extLst>
                <a:ext uri="{FF2B5EF4-FFF2-40B4-BE49-F238E27FC236}">
                  <a16:creationId xmlns:a16="http://schemas.microsoft.com/office/drawing/2014/main" id="{43D82FD4-AA61-BE10-334C-7EFEA7B77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6945" y="4211431"/>
              <a:ext cx="1460657" cy="5847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kern="0" dirty="0">
                  <a:latin typeface="Arial" charset="0"/>
                </a:rPr>
                <a:t>heap</a:t>
              </a: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 grows in</a:t>
              </a:r>
            </a:p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this direction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1AE5561-0086-FFC5-34E4-CC61DC50040A}"/>
                </a:ext>
              </a:extLst>
            </p:cNvPr>
            <p:cNvSpPr txBox="1"/>
            <p:nvPr/>
          </p:nvSpPr>
          <p:spPr>
            <a:xfrm>
              <a:off x="3123360" y="1007383"/>
              <a:ext cx="188545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charset="0"/>
                </a:rPr>
                <a:t>memory address 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8524137"/>
      </p:ext>
    </p:extLst>
  </p:cSld>
  <p:clrMapOvr>
    <a:masterClrMapping/>
  </p:clrMapOvr>
</p:sld>
</file>

<file path=ppt/theme/theme1.xml><?xml version="1.0" encoding="utf-8"?>
<a:theme xmlns:a="http://schemas.openxmlformats.org/drawingml/2006/main" name="SoftMoore2">
  <a:themeElements>
    <a:clrScheme name="">
      <a:dk1>
        <a:srgbClr val="000099"/>
      </a:dk1>
      <a:lt1>
        <a:srgbClr val="FFFFFF"/>
      </a:lt1>
      <a:dk2>
        <a:srgbClr val="CBCBCB"/>
      </a:dk2>
      <a:lt2>
        <a:srgbClr val="000000"/>
      </a:lt2>
      <a:accent1>
        <a:srgbClr val="009999"/>
      </a:accent1>
      <a:accent2>
        <a:srgbClr val="FF9933"/>
      </a:accent2>
      <a:accent3>
        <a:srgbClr val="FFFFFF"/>
      </a:accent3>
      <a:accent4>
        <a:srgbClr val="000082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SoftMoor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oftMoore2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ftMoore2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ftMoore2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C:\JMoore\Training\SoftMoore2.pot</Template>
  <TotalTime>4187</TotalTime>
  <Words>2156</Words>
  <Application>Microsoft Office PowerPoint</Application>
  <PresentationFormat>On-screen Show (4:3)</PresentationFormat>
  <Paragraphs>286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SoftMoore2</vt:lpstr>
      <vt:lpstr>Strings</vt:lpstr>
      <vt:lpstr>Strings in CPRL</vt:lpstr>
      <vt:lpstr>Examples Using Strings</vt:lpstr>
      <vt:lpstr>Using CPRL Strings</vt:lpstr>
      <vt:lpstr>Reference Semantics versus Value Semantics</vt:lpstr>
      <vt:lpstr>Reference Semantics versus Value Semantics (continued)</vt:lpstr>
      <vt:lpstr>Representing Strings</vt:lpstr>
      <vt:lpstr>Visualizing the Representation of String Variable greet</vt:lpstr>
      <vt:lpstr>Constraint Rules for Strings</vt:lpstr>
      <vt:lpstr>Constraint Rules for Strings (continued)</vt:lpstr>
      <vt:lpstr>Constraint Rules for Strings (continued)</vt:lpstr>
      <vt:lpstr>Address of a String Object</vt:lpstr>
      <vt:lpstr>Implementing String-Related Classes</vt:lpstr>
      <vt:lpstr>Implementing String-Related Classes (continued)</vt:lpstr>
      <vt:lpstr>Implementing String-Related Classes (continued)</vt:lpstr>
      <vt:lpstr>Implementing String-Related Classes (continued)</vt:lpstr>
      <vt:lpstr>Implementing String-Related Classes (continued)</vt:lpstr>
      <vt:lpstr>String Layout Example</vt:lpstr>
      <vt:lpstr>Method checkConstraints() for Class Variable</vt:lpstr>
      <vt:lpstr>Method emit() for Class Variable</vt:lpstr>
      <vt:lpstr>Method emit() for Class Variable (continued)</vt:lpstr>
      <vt:lpstr>Heap Memory</vt:lpstr>
      <vt:lpstr>Heap Memory in CPRL</vt:lpstr>
      <vt:lpstr>Visualizing Memory Layout at Run Time 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</dc:title>
  <dc:creator>John I. Moore, Jr.</dc:creator>
  <cp:lastModifiedBy>John Moore</cp:lastModifiedBy>
  <cp:revision>251</cp:revision>
  <cp:lastPrinted>2025-04-11T19:20:18Z</cp:lastPrinted>
  <dcterms:created xsi:type="dcterms:W3CDTF">2005-01-12T21:47:45Z</dcterms:created>
  <dcterms:modified xsi:type="dcterms:W3CDTF">2026-08-10T15:33:48Z</dcterms:modified>
</cp:coreProperties>
</file>