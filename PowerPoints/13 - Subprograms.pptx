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65"/>
  </p:notesMasterIdLst>
  <p:handoutMasterIdLst>
    <p:handoutMasterId r:id="rId66"/>
  </p:handoutMasterIdLst>
  <p:sldIdLst>
    <p:sldId id="256" r:id="rId2"/>
    <p:sldId id="290" r:id="rId3"/>
    <p:sldId id="274" r:id="rId4"/>
    <p:sldId id="293" r:id="rId5"/>
    <p:sldId id="286" r:id="rId6"/>
    <p:sldId id="326" r:id="rId7"/>
    <p:sldId id="368" r:id="rId8"/>
    <p:sldId id="327" r:id="rId9"/>
    <p:sldId id="281" r:id="rId10"/>
    <p:sldId id="294" r:id="rId11"/>
    <p:sldId id="328" r:id="rId12"/>
    <p:sldId id="329" r:id="rId13"/>
    <p:sldId id="333" r:id="rId14"/>
    <p:sldId id="369" r:id="rId15"/>
    <p:sldId id="332" r:id="rId16"/>
    <p:sldId id="377" r:id="rId17"/>
    <p:sldId id="334" r:id="rId18"/>
    <p:sldId id="370" r:id="rId19"/>
    <p:sldId id="371" r:id="rId20"/>
    <p:sldId id="388" r:id="rId21"/>
    <p:sldId id="265" r:id="rId22"/>
    <p:sldId id="295" r:id="rId23"/>
    <p:sldId id="296" r:id="rId24"/>
    <p:sldId id="372" r:id="rId25"/>
    <p:sldId id="337" r:id="rId26"/>
    <p:sldId id="338" r:id="rId27"/>
    <p:sldId id="344" r:id="rId28"/>
    <p:sldId id="335" r:id="rId29"/>
    <p:sldId id="345" r:id="rId30"/>
    <p:sldId id="362" r:id="rId31"/>
    <p:sldId id="363" r:id="rId32"/>
    <p:sldId id="364" r:id="rId33"/>
    <p:sldId id="365" r:id="rId34"/>
    <p:sldId id="366" r:id="rId35"/>
    <p:sldId id="367" r:id="rId36"/>
    <p:sldId id="266" r:id="rId37"/>
    <p:sldId id="268" r:id="rId38"/>
    <p:sldId id="330" r:id="rId39"/>
    <p:sldId id="331" r:id="rId40"/>
    <p:sldId id="271" r:id="rId41"/>
    <p:sldId id="311" r:id="rId42"/>
    <p:sldId id="312" r:id="rId43"/>
    <p:sldId id="321" r:id="rId44"/>
    <p:sldId id="320" r:id="rId45"/>
    <p:sldId id="267" r:id="rId46"/>
    <p:sldId id="317" r:id="rId47"/>
    <p:sldId id="269" r:id="rId48"/>
    <p:sldId id="316" r:id="rId49"/>
    <p:sldId id="373" r:id="rId50"/>
    <p:sldId id="374" r:id="rId51"/>
    <p:sldId id="375" r:id="rId52"/>
    <p:sldId id="376" r:id="rId53"/>
    <p:sldId id="387" r:id="rId54"/>
    <p:sldId id="305" r:id="rId55"/>
    <p:sldId id="307" r:id="rId56"/>
    <p:sldId id="339" r:id="rId57"/>
    <p:sldId id="340" r:id="rId58"/>
    <p:sldId id="389" r:id="rId59"/>
    <p:sldId id="309" r:id="rId60"/>
    <p:sldId id="341" r:id="rId61"/>
    <p:sldId id="342" r:id="rId62"/>
    <p:sldId id="390" r:id="rId63"/>
    <p:sldId id="310" r:id="rId64"/>
  </p:sldIdLst>
  <p:sldSz cx="9144000" cy="6858000" type="screen4x3"/>
  <p:notesSz cx="7315200" cy="9601200"/>
  <p:defaultTextStyle>
    <a:defPPr>
      <a:defRPr lang="en-US"/>
    </a:defPPr>
    <a:lvl1pPr algn="ctr" rtl="0" eaLnBrk="0" fontAlgn="base" hangingPunct="0">
      <a:spcBef>
        <a:spcPct val="0"/>
      </a:spcBef>
      <a:spcAft>
        <a:spcPct val="0"/>
      </a:spcAft>
      <a:defRPr sz="2400" kern="1200">
        <a:solidFill>
          <a:schemeClr val="tx1"/>
        </a:solidFill>
        <a:latin typeface="Arial" charset="0"/>
        <a:ea typeface="+mn-ea"/>
        <a:cs typeface="+mn-cs"/>
      </a:defRPr>
    </a:lvl1pPr>
    <a:lvl2pPr marL="457200" algn="ctr" rtl="0" eaLnBrk="0" fontAlgn="base" hangingPunct="0">
      <a:spcBef>
        <a:spcPct val="0"/>
      </a:spcBef>
      <a:spcAft>
        <a:spcPct val="0"/>
      </a:spcAft>
      <a:defRPr sz="2400" kern="1200">
        <a:solidFill>
          <a:schemeClr val="tx1"/>
        </a:solidFill>
        <a:latin typeface="Arial" charset="0"/>
        <a:ea typeface="+mn-ea"/>
        <a:cs typeface="+mn-cs"/>
      </a:defRPr>
    </a:lvl2pPr>
    <a:lvl3pPr marL="914400" algn="ctr" rtl="0" eaLnBrk="0" fontAlgn="base" hangingPunct="0">
      <a:spcBef>
        <a:spcPct val="0"/>
      </a:spcBef>
      <a:spcAft>
        <a:spcPct val="0"/>
      </a:spcAft>
      <a:defRPr sz="2400" kern="1200">
        <a:solidFill>
          <a:schemeClr val="tx1"/>
        </a:solidFill>
        <a:latin typeface="Arial" charset="0"/>
        <a:ea typeface="+mn-ea"/>
        <a:cs typeface="+mn-cs"/>
      </a:defRPr>
    </a:lvl3pPr>
    <a:lvl4pPr marL="1371600" algn="ctr" rtl="0" eaLnBrk="0" fontAlgn="base" hangingPunct="0">
      <a:spcBef>
        <a:spcPct val="0"/>
      </a:spcBef>
      <a:spcAft>
        <a:spcPct val="0"/>
      </a:spcAft>
      <a:defRPr sz="2400" kern="1200">
        <a:solidFill>
          <a:schemeClr val="tx1"/>
        </a:solidFill>
        <a:latin typeface="Arial" charset="0"/>
        <a:ea typeface="+mn-ea"/>
        <a:cs typeface="+mn-cs"/>
      </a:defRPr>
    </a:lvl4pPr>
    <a:lvl5pPr marL="1828800" algn="ctr" rtl="0" eaLnBrk="0" fontAlgn="base" hangingPunct="0">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clrMru>
    <a:srgbClr val="330099"/>
    <a:srgbClr val="330098"/>
    <a:srgbClr val="320096"/>
    <a:srgbClr val="230068"/>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86" autoAdjust="0"/>
    <p:restoredTop sz="93759" autoAdjust="0"/>
  </p:normalViewPr>
  <p:slideViewPr>
    <p:cSldViewPr>
      <p:cViewPr varScale="1">
        <p:scale>
          <a:sx n="75" d="100"/>
          <a:sy n="75" d="100"/>
        </p:scale>
        <p:origin x="427"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6" d="100"/>
          <a:sy n="56" d="100"/>
        </p:scale>
        <p:origin x="2179" y="3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4144619" y="0"/>
            <a:ext cx="3170583" cy="480388"/>
          </a:xfrm>
          <a:prstGeom prst="rect">
            <a:avLst/>
          </a:prstGeom>
          <a:noFill/>
          <a:ln w="9525">
            <a:noFill/>
            <a:miter lim="800000"/>
            <a:headEnd/>
            <a:tailEnd/>
          </a:ln>
          <a:effectLst/>
        </p:spPr>
        <p:txBody>
          <a:bodyPr vert="horz" wrap="square" lIns="96629" tIns="48315" rIns="96629" bIns="48315" numCol="1" anchor="t" anchorCtr="0" compatLnSpc="1">
            <a:prstTxWarp prst="textNoShape">
              <a:avLst/>
            </a:prstTxWarp>
          </a:bodyPr>
          <a:lstStyle>
            <a:lvl1pPr algn="r" defTabSz="966279">
              <a:defRPr sz="1200"/>
            </a:lvl1pPr>
          </a:lstStyle>
          <a:p>
            <a:pPr>
              <a:defRPr/>
            </a:pPr>
            <a:r>
              <a:rPr lang="en-US" sz="1100" dirty="0">
                <a:latin typeface="+mn-lt"/>
              </a:rPr>
              <a:t>Subprograms</a:t>
            </a:r>
          </a:p>
        </p:txBody>
      </p:sp>
      <p:sp>
        <p:nvSpPr>
          <p:cNvPr id="59397" name="Rectangle 5"/>
          <p:cNvSpPr>
            <a:spLocks noGrp="1" noChangeArrowheads="1"/>
          </p:cNvSpPr>
          <p:nvPr>
            <p:ph type="sldNum" sz="quarter" idx="3"/>
          </p:nvPr>
        </p:nvSpPr>
        <p:spPr bwMode="auto">
          <a:xfrm>
            <a:off x="4144619" y="9120814"/>
            <a:ext cx="3170583" cy="480387"/>
          </a:xfrm>
          <a:prstGeom prst="rect">
            <a:avLst/>
          </a:prstGeom>
          <a:noFill/>
          <a:ln w="9525">
            <a:noFill/>
            <a:miter lim="800000"/>
            <a:headEnd/>
            <a:tailEnd/>
          </a:ln>
          <a:effectLst/>
        </p:spPr>
        <p:txBody>
          <a:bodyPr vert="horz" wrap="square" lIns="96629" tIns="48315" rIns="96629" bIns="48315" numCol="1" anchor="b" anchorCtr="0" compatLnSpc="1">
            <a:prstTxWarp prst="textNoShape">
              <a:avLst/>
            </a:prstTxWarp>
          </a:bodyPr>
          <a:lstStyle>
            <a:lvl1pPr algn="r" defTabSz="966279">
              <a:defRPr sz="1200"/>
            </a:lvl1pPr>
          </a:lstStyle>
          <a:p>
            <a:pPr>
              <a:defRPr/>
            </a:pPr>
            <a:r>
              <a:rPr lang="en-US" sz="1100">
                <a:latin typeface="+mn-lt"/>
              </a:rPr>
              <a:t>13-</a:t>
            </a:r>
            <a:fld id="{5ABA58BF-2D4A-4415-A298-6626A1F3AC5B}" type="slidenum">
              <a:rPr lang="en-US" sz="1100">
                <a:latin typeface="+mn-lt"/>
              </a:rPr>
              <a:pPr>
                <a:defRPr/>
              </a:pPr>
              <a:t>‹#›</a:t>
            </a:fld>
            <a:endParaRPr lang="en-US" sz="1100">
              <a:latin typeface="+mn-lt"/>
            </a:endParaRPr>
          </a:p>
        </p:txBody>
      </p:sp>
    </p:spTree>
    <p:extLst>
      <p:ext uri="{BB962C8B-B14F-4D97-AF65-F5344CB8AC3E}">
        <p14:creationId xmlns:p14="http://schemas.microsoft.com/office/powerpoint/2010/main" val="14112432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1026"/>
          <p:cNvSpPr>
            <a:spLocks noGrp="1" noChangeArrowheads="1"/>
          </p:cNvSpPr>
          <p:nvPr>
            <p:ph type="hdr" sz="quarter"/>
          </p:nvPr>
        </p:nvSpPr>
        <p:spPr bwMode="auto">
          <a:xfrm>
            <a:off x="1" y="0"/>
            <a:ext cx="3170583" cy="480388"/>
          </a:xfrm>
          <a:prstGeom prst="rect">
            <a:avLst/>
          </a:prstGeom>
          <a:noFill/>
          <a:ln w="9525">
            <a:noFill/>
            <a:miter lim="800000"/>
            <a:headEnd/>
            <a:tailEnd/>
          </a:ln>
          <a:effectLst/>
        </p:spPr>
        <p:txBody>
          <a:bodyPr vert="horz" wrap="square" lIns="96629" tIns="48315" rIns="96629" bIns="48315" numCol="1" anchor="t" anchorCtr="0" compatLnSpc="1">
            <a:prstTxWarp prst="textNoShape">
              <a:avLst/>
            </a:prstTxWarp>
          </a:bodyPr>
          <a:lstStyle>
            <a:lvl1pPr algn="l" defTabSz="966279">
              <a:defRPr sz="1200"/>
            </a:lvl1pPr>
          </a:lstStyle>
          <a:p>
            <a:pPr>
              <a:defRPr/>
            </a:pPr>
            <a:r>
              <a:rPr lang="en-US"/>
              <a:t>Subprograms</a:t>
            </a:r>
          </a:p>
        </p:txBody>
      </p:sp>
      <p:sp>
        <p:nvSpPr>
          <p:cNvPr id="64515" name="Rectangle 1027"/>
          <p:cNvSpPr>
            <a:spLocks noGrp="1" noChangeArrowheads="1"/>
          </p:cNvSpPr>
          <p:nvPr>
            <p:ph type="dt" idx="1"/>
          </p:nvPr>
        </p:nvSpPr>
        <p:spPr bwMode="auto">
          <a:xfrm>
            <a:off x="4144619" y="0"/>
            <a:ext cx="3170583" cy="480388"/>
          </a:xfrm>
          <a:prstGeom prst="rect">
            <a:avLst/>
          </a:prstGeom>
          <a:noFill/>
          <a:ln w="9525">
            <a:noFill/>
            <a:miter lim="800000"/>
            <a:headEnd/>
            <a:tailEnd/>
          </a:ln>
          <a:effectLst/>
        </p:spPr>
        <p:txBody>
          <a:bodyPr vert="horz" wrap="square" lIns="96629" tIns="48315" rIns="96629" bIns="48315" numCol="1" anchor="t" anchorCtr="0" compatLnSpc="1">
            <a:prstTxWarp prst="textNoShape">
              <a:avLst/>
            </a:prstTxWarp>
          </a:bodyPr>
          <a:lstStyle>
            <a:lvl1pPr algn="r" defTabSz="966279">
              <a:defRPr sz="1200"/>
            </a:lvl1pPr>
          </a:lstStyle>
          <a:p>
            <a:pPr>
              <a:defRPr/>
            </a:pPr>
            <a:endParaRPr lang="en-US"/>
          </a:p>
        </p:txBody>
      </p:sp>
      <p:sp>
        <p:nvSpPr>
          <p:cNvPr id="29700" name="Rectangle 1028"/>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p:spPr>
      </p:sp>
      <p:sp>
        <p:nvSpPr>
          <p:cNvPr id="64517" name="Rectangle 1029"/>
          <p:cNvSpPr>
            <a:spLocks noGrp="1" noChangeArrowheads="1"/>
          </p:cNvSpPr>
          <p:nvPr>
            <p:ph type="body" sz="quarter" idx="3"/>
          </p:nvPr>
        </p:nvSpPr>
        <p:spPr bwMode="auto">
          <a:xfrm>
            <a:off x="975694" y="4561227"/>
            <a:ext cx="5363817" cy="4320213"/>
          </a:xfrm>
          <a:prstGeom prst="rect">
            <a:avLst/>
          </a:prstGeom>
          <a:noFill/>
          <a:ln w="9525">
            <a:noFill/>
            <a:miter lim="800000"/>
            <a:headEnd/>
            <a:tailEnd/>
          </a:ln>
          <a:effectLst/>
        </p:spPr>
        <p:txBody>
          <a:bodyPr vert="horz" wrap="square" lIns="96629" tIns="48315" rIns="96629" bIns="4831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4518" name="Rectangle 1030"/>
          <p:cNvSpPr>
            <a:spLocks noGrp="1" noChangeArrowheads="1"/>
          </p:cNvSpPr>
          <p:nvPr>
            <p:ph type="ftr" sz="quarter" idx="4"/>
          </p:nvPr>
        </p:nvSpPr>
        <p:spPr bwMode="auto">
          <a:xfrm>
            <a:off x="1" y="9120814"/>
            <a:ext cx="3170583" cy="480387"/>
          </a:xfrm>
          <a:prstGeom prst="rect">
            <a:avLst/>
          </a:prstGeom>
          <a:noFill/>
          <a:ln w="9525">
            <a:noFill/>
            <a:miter lim="800000"/>
            <a:headEnd/>
            <a:tailEnd/>
          </a:ln>
          <a:effectLst/>
        </p:spPr>
        <p:txBody>
          <a:bodyPr vert="horz" wrap="square" lIns="96629" tIns="48315" rIns="96629" bIns="48315" numCol="1" anchor="b" anchorCtr="0" compatLnSpc="1">
            <a:prstTxWarp prst="textNoShape">
              <a:avLst/>
            </a:prstTxWarp>
          </a:bodyPr>
          <a:lstStyle>
            <a:lvl1pPr algn="l" defTabSz="966279">
              <a:defRPr sz="1200"/>
            </a:lvl1pPr>
          </a:lstStyle>
          <a:p>
            <a:pPr>
              <a:defRPr/>
            </a:pPr>
            <a:endParaRPr lang="en-US"/>
          </a:p>
        </p:txBody>
      </p:sp>
      <p:sp>
        <p:nvSpPr>
          <p:cNvPr id="64519" name="Rectangle 1031"/>
          <p:cNvSpPr>
            <a:spLocks noGrp="1" noChangeArrowheads="1"/>
          </p:cNvSpPr>
          <p:nvPr>
            <p:ph type="sldNum" sz="quarter" idx="5"/>
          </p:nvPr>
        </p:nvSpPr>
        <p:spPr bwMode="auto">
          <a:xfrm>
            <a:off x="4144619" y="9120814"/>
            <a:ext cx="3170583" cy="480387"/>
          </a:xfrm>
          <a:prstGeom prst="rect">
            <a:avLst/>
          </a:prstGeom>
          <a:noFill/>
          <a:ln w="9525">
            <a:noFill/>
            <a:miter lim="800000"/>
            <a:headEnd/>
            <a:tailEnd/>
          </a:ln>
          <a:effectLst/>
        </p:spPr>
        <p:txBody>
          <a:bodyPr vert="horz" wrap="square" lIns="96629" tIns="48315" rIns="96629" bIns="48315" numCol="1" anchor="b" anchorCtr="0" compatLnSpc="1">
            <a:prstTxWarp prst="textNoShape">
              <a:avLst/>
            </a:prstTxWarp>
          </a:bodyPr>
          <a:lstStyle>
            <a:lvl1pPr algn="r" defTabSz="966279">
              <a:defRPr sz="1200"/>
            </a:lvl1pPr>
          </a:lstStyle>
          <a:p>
            <a:pPr>
              <a:defRPr/>
            </a:pPr>
            <a:fld id="{F210BF87-E27C-4C1A-9442-4417E7FF324F}" type="slidenum">
              <a:rPr lang="en-US"/>
              <a:pPr>
                <a:defRPr/>
              </a:pPr>
              <a:t>‹#›</a:t>
            </a:fld>
            <a:endParaRPr lang="en-US"/>
          </a:p>
        </p:txBody>
      </p:sp>
    </p:spTree>
    <p:extLst>
      <p:ext uri="{BB962C8B-B14F-4D97-AF65-F5344CB8AC3E}">
        <p14:creationId xmlns:p14="http://schemas.microsoft.com/office/powerpoint/2010/main" val="2554485023"/>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026"/>
          <p:cNvSpPr>
            <a:spLocks noGrp="1" noChangeArrowheads="1"/>
          </p:cNvSpPr>
          <p:nvPr>
            <p:ph type="hdr" sz="quarter"/>
          </p:nvPr>
        </p:nvSpPr>
        <p:spPr>
          <a:noFill/>
        </p:spPr>
        <p:txBody>
          <a:bodyPr/>
          <a:lstStyle/>
          <a:p>
            <a:pPr defTabSz="964832"/>
            <a:r>
              <a:rPr lang="en-US"/>
              <a:t>Subprograms</a:t>
            </a:r>
          </a:p>
        </p:txBody>
      </p:sp>
      <p:sp>
        <p:nvSpPr>
          <p:cNvPr id="30723" name="Rectangle 1031"/>
          <p:cNvSpPr>
            <a:spLocks noGrp="1" noChangeArrowheads="1"/>
          </p:cNvSpPr>
          <p:nvPr>
            <p:ph type="sldNum" sz="quarter" idx="5"/>
          </p:nvPr>
        </p:nvSpPr>
        <p:spPr>
          <a:noFill/>
        </p:spPr>
        <p:txBody>
          <a:bodyPr/>
          <a:lstStyle/>
          <a:p>
            <a:pPr defTabSz="964832"/>
            <a:fld id="{92CAFDEE-A529-4113-A992-ABDE1DFB9186}" type="slidenum">
              <a:rPr lang="en-US" smtClean="0"/>
              <a:pPr defTabSz="964832"/>
              <a:t>1</a:t>
            </a:fld>
            <a:endParaRPr lang="en-US"/>
          </a:p>
        </p:txBody>
      </p:sp>
      <p:sp>
        <p:nvSpPr>
          <p:cNvPr id="30724" name="Rectangle 2"/>
          <p:cNvSpPr>
            <a:spLocks noGrp="1" noRot="1" noChangeAspect="1" noChangeArrowheads="1" noTextEdit="1"/>
          </p:cNvSpPr>
          <p:nvPr>
            <p:ph type="sldImg"/>
          </p:nvPr>
        </p:nvSpPr>
        <p:spPr>
          <a:ln/>
        </p:spPr>
      </p:sp>
      <p:sp>
        <p:nvSpPr>
          <p:cNvPr id="30725"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917799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p:spPr>
        <p:txBody>
          <a:bodyPr/>
          <a:lstStyle/>
          <a:p>
            <a:endParaRPr lang="en-US"/>
          </a:p>
        </p:txBody>
      </p:sp>
      <p:sp>
        <p:nvSpPr>
          <p:cNvPr id="31748" name="Header Placeholder 3"/>
          <p:cNvSpPr>
            <a:spLocks noGrp="1"/>
          </p:cNvSpPr>
          <p:nvPr>
            <p:ph type="hdr" sz="quarter"/>
          </p:nvPr>
        </p:nvSpPr>
        <p:spPr>
          <a:noFill/>
        </p:spPr>
        <p:txBody>
          <a:bodyPr/>
          <a:lstStyle/>
          <a:p>
            <a:pPr defTabSz="964832"/>
            <a:r>
              <a:rPr lang="en-US"/>
              <a:t>Runtime Organization</a:t>
            </a:r>
          </a:p>
        </p:txBody>
      </p:sp>
      <p:sp>
        <p:nvSpPr>
          <p:cNvPr id="31749" name="Slide Number Placeholder 4"/>
          <p:cNvSpPr>
            <a:spLocks noGrp="1"/>
          </p:cNvSpPr>
          <p:nvPr>
            <p:ph type="sldNum" sz="quarter" idx="5"/>
          </p:nvPr>
        </p:nvSpPr>
        <p:spPr>
          <a:noFill/>
        </p:spPr>
        <p:txBody>
          <a:bodyPr/>
          <a:lstStyle/>
          <a:p>
            <a:pPr defTabSz="964832"/>
            <a:fld id="{836B8560-6F72-4CD3-9FA8-66EEB1BFE126}" type="slidenum">
              <a:rPr lang="en-US" smtClean="0"/>
              <a:pPr defTabSz="964832"/>
              <a:t>2</a:t>
            </a:fld>
            <a:endParaRPr lang="en-US"/>
          </a:p>
        </p:txBody>
      </p:sp>
    </p:spTree>
    <p:extLst>
      <p:ext uri="{BB962C8B-B14F-4D97-AF65-F5344CB8AC3E}">
        <p14:creationId xmlns:p14="http://schemas.microsoft.com/office/powerpoint/2010/main" val="6269007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endParaRPr lang="en-US"/>
          </a:p>
        </p:txBody>
      </p:sp>
      <p:sp>
        <p:nvSpPr>
          <p:cNvPr id="37892" name="Header Placeholder 3"/>
          <p:cNvSpPr>
            <a:spLocks noGrp="1"/>
          </p:cNvSpPr>
          <p:nvPr>
            <p:ph type="hdr" sz="quarter"/>
          </p:nvPr>
        </p:nvSpPr>
        <p:spPr>
          <a:noFill/>
        </p:spPr>
        <p:txBody>
          <a:bodyPr/>
          <a:lstStyle/>
          <a:p>
            <a:pPr defTabSz="964832"/>
            <a:r>
              <a:rPr lang="en-US"/>
              <a:t>Subprograms</a:t>
            </a:r>
          </a:p>
        </p:txBody>
      </p:sp>
      <p:sp>
        <p:nvSpPr>
          <p:cNvPr id="37893" name="Slide Number Placeholder 4"/>
          <p:cNvSpPr>
            <a:spLocks noGrp="1"/>
          </p:cNvSpPr>
          <p:nvPr>
            <p:ph type="sldNum" sz="quarter" idx="5"/>
          </p:nvPr>
        </p:nvSpPr>
        <p:spPr>
          <a:noFill/>
        </p:spPr>
        <p:txBody>
          <a:bodyPr/>
          <a:lstStyle/>
          <a:p>
            <a:pPr defTabSz="964832"/>
            <a:fld id="{1C8E9440-1093-468D-9FD6-32FEBA553126}" type="slidenum">
              <a:rPr lang="en-US" smtClean="0"/>
              <a:pPr defTabSz="964832"/>
              <a:t>3</a:t>
            </a:fld>
            <a:endParaRPr lang="en-US"/>
          </a:p>
        </p:txBody>
      </p:sp>
    </p:spTree>
    <p:extLst>
      <p:ext uri="{BB962C8B-B14F-4D97-AF65-F5344CB8AC3E}">
        <p14:creationId xmlns:p14="http://schemas.microsoft.com/office/powerpoint/2010/main" val="26341623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4</a:t>
            </a:fld>
            <a:endParaRPr lang="en-US" dirty="0"/>
          </a:p>
        </p:txBody>
      </p:sp>
    </p:spTree>
    <p:extLst>
      <p:ext uri="{BB962C8B-B14F-4D97-AF65-F5344CB8AC3E}">
        <p14:creationId xmlns:p14="http://schemas.microsoft.com/office/powerpoint/2010/main" val="39280898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a:p>
        </p:txBody>
      </p:sp>
      <p:sp>
        <p:nvSpPr>
          <p:cNvPr id="33796" name="Header Placeholder 3"/>
          <p:cNvSpPr>
            <a:spLocks noGrp="1"/>
          </p:cNvSpPr>
          <p:nvPr>
            <p:ph type="hdr" sz="quarter"/>
          </p:nvPr>
        </p:nvSpPr>
        <p:spPr>
          <a:noFill/>
        </p:spPr>
        <p:txBody>
          <a:bodyPr/>
          <a:lstStyle/>
          <a:p>
            <a:pPr defTabSz="964832"/>
            <a:r>
              <a:rPr lang="en-US"/>
              <a:t>Subprograms</a:t>
            </a:r>
          </a:p>
        </p:txBody>
      </p:sp>
      <p:sp>
        <p:nvSpPr>
          <p:cNvPr id="33797" name="Slide Number Placeholder 4"/>
          <p:cNvSpPr>
            <a:spLocks noGrp="1"/>
          </p:cNvSpPr>
          <p:nvPr>
            <p:ph type="sldNum" sz="quarter" idx="5"/>
          </p:nvPr>
        </p:nvSpPr>
        <p:spPr>
          <a:noFill/>
        </p:spPr>
        <p:txBody>
          <a:bodyPr/>
          <a:lstStyle/>
          <a:p>
            <a:pPr defTabSz="964832"/>
            <a:fld id="{6077FC34-8632-4858-AEC5-C715789CDB12}" type="slidenum">
              <a:rPr lang="en-US" smtClean="0"/>
              <a:pPr defTabSz="964832"/>
              <a:t>5</a:t>
            </a:fld>
            <a:endParaRPr lang="en-US"/>
          </a:p>
        </p:txBody>
      </p:sp>
    </p:spTree>
    <p:extLst>
      <p:ext uri="{BB962C8B-B14F-4D97-AF65-F5344CB8AC3E}">
        <p14:creationId xmlns:p14="http://schemas.microsoft.com/office/powerpoint/2010/main" val="189679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a:defRPr/>
            </a:pPr>
            <a:r>
              <a:rPr lang="en-US"/>
              <a:t>Subprograms</a:t>
            </a:r>
          </a:p>
        </p:txBody>
      </p:sp>
      <p:sp>
        <p:nvSpPr>
          <p:cNvPr id="5" name="Slide Number Placeholder 4"/>
          <p:cNvSpPr>
            <a:spLocks noGrp="1"/>
          </p:cNvSpPr>
          <p:nvPr>
            <p:ph type="sldNum" sz="quarter" idx="5"/>
          </p:nvPr>
        </p:nvSpPr>
        <p:spPr/>
        <p:txBody>
          <a:bodyPr/>
          <a:lstStyle/>
          <a:p>
            <a:pPr>
              <a:defRPr/>
            </a:pPr>
            <a:fld id="{F210BF87-E27C-4C1A-9442-4417E7FF324F}" type="slidenum">
              <a:rPr lang="en-US" smtClean="0"/>
              <a:pPr>
                <a:defRPr/>
              </a:pPr>
              <a:t>6</a:t>
            </a:fld>
            <a:endParaRPr lang="en-US"/>
          </a:p>
        </p:txBody>
      </p:sp>
    </p:spTree>
    <p:extLst>
      <p:ext uri="{BB962C8B-B14F-4D97-AF65-F5344CB8AC3E}">
        <p14:creationId xmlns:p14="http://schemas.microsoft.com/office/powerpoint/2010/main" val="32137933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a:defRPr/>
            </a:pPr>
            <a:r>
              <a:rPr lang="en-US"/>
              <a:t>Subprograms</a:t>
            </a:r>
          </a:p>
        </p:txBody>
      </p:sp>
      <p:sp>
        <p:nvSpPr>
          <p:cNvPr id="5" name="Slide Number Placeholder 4"/>
          <p:cNvSpPr>
            <a:spLocks noGrp="1"/>
          </p:cNvSpPr>
          <p:nvPr>
            <p:ph type="sldNum" sz="quarter" idx="5"/>
          </p:nvPr>
        </p:nvSpPr>
        <p:spPr/>
        <p:txBody>
          <a:bodyPr/>
          <a:lstStyle/>
          <a:p>
            <a:pPr>
              <a:defRPr/>
            </a:pPr>
            <a:fld id="{F210BF87-E27C-4C1A-9442-4417E7FF324F}" type="slidenum">
              <a:rPr lang="en-US" smtClean="0"/>
              <a:pPr>
                <a:defRPr/>
              </a:pPr>
              <a:t>7</a:t>
            </a:fld>
            <a:endParaRPr lang="en-US"/>
          </a:p>
        </p:txBody>
      </p:sp>
    </p:spTree>
    <p:extLst>
      <p:ext uri="{BB962C8B-B14F-4D97-AF65-F5344CB8AC3E}">
        <p14:creationId xmlns:p14="http://schemas.microsoft.com/office/powerpoint/2010/main" val="10921208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p:spPr>
        <p:txBody>
          <a:bodyPr/>
          <a:lstStyle/>
          <a:p>
            <a:endParaRPr lang="en-US"/>
          </a:p>
        </p:txBody>
      </p:sp>
      <p:sp>
        <p:nvSpPr>
          <p:cNvPr id="43012" name="Header Placeholder 3"/>
          <p:cNvSpPr>
            <a:spLocks noGrp="1"/>
          </p:cNvSpPr>
          <p:nvPr>
            <p:ph type="hdr" sz="quarter"/>
          </p:nvPr>
        </p:nvSpPr>
        <p:spPr>
          <a:noFill/>
        </p:spPr>
        <p:txBody>
          <a:bodyPr/>
          <a:lstStyle/>
          <a:p>
            <a:pPr defTabSz="964832"/>
            <a:r>
              <a:rPr lang="en-US"/>
              <a:t>Subprograms</a:t>
            </a:r>
          </a:p>
        </p:txBody>
      </p:sp>
      <p:sp>
        <p:nvSpPr>
          <p:cNvPr id="43013" name="Slide Number Placeholder 4"/>
          <p:cNvSpPr>
            <a:spLocks noGrp="1"/>
          </p:cNvSpPr>
          <p:nvPr>
            <p:ph type="sldNum" sz="quarter" idx="5"/>
          </p:nvPr>
        </p:nvSpPr>
        <p:spPr>
          <a:noFill/>
        </p:spPr>
        <p:txBody>
          <a:bodyPr/>
          <a:lstStyle/>
          <a:p>
            <a:pPr defTabSz="964832"/>
            <a:fld id="{EB7972A9-078D-4C96-9A05-F5C8A4AEC107}" type="slidenum">
              <a:rPr lang="en-US" smtClean="0"/>
              <a:pPr defTabSz="964832"/>
              <a:t>9</a:t>
            </a:fld>
            <a:endParaRPr lang="en-US"/>
          </a:p>
        </p:txBody>
      </p:sp>
    </p:spTree>
    <p:extLst>
      <p:ext uri="{BB962C8B-B14F-4D97-AF65-F5344CB8AC3E}">
        <p14:creationId xmlns:p14="http://schemas.microsoft.com/office/powerpoint/2010/main" val="1880327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p:spPr>
        <p:txBody>
          <a:bodyPr/>
          <a:lstStyle/>
          <a:p>
            <a:endParaRPr lang="en-US"/>
          </a:p>
        </p:txBody>
      </p:sp>
      <p:sp>
        <p:nvSpPr>
          <p:cNvPr id="43012" name="Header Placeholder 3"/>
          <p:cNvSpPr>
            <a:spLocks noGrp="1"/>
          </p:cNvSpPr>
          <p:nvPr>
            <p:ph type="hdr" sz="quarter"/>
          </p:nvPr>
        </p:nvSpPr>
        <p:spPr>
          <a:noFill/>
        </p:spPr>
        <p:txBody>
          <a:bodyPr/>
          <a:lstStyle/>
          <a:p>
            <a:pPr defTabSz="964832"/>
            <a:r>
              <a:rPr lang="en-US"/>
              <a:t>Subprograms</a:t>
            </a:r>
          </a:p>
        </p:txBody>
      </p:sp>
      <p:sp>
        <p:nvSpPr>
          <p:cNvPr id="43013" name="Slide Number Placeholder 4"/>
          <p:cNvSpPr>
            <a:spLocks noGrp="1"/>
          </p:cNvSpPr>
          <p:nvPr>
            <p:ph type="sldNum" sz="quarter" idx="5"/>
          </p:nvPr>
        </p:nvSpPr>
        <p:spPr>
          <a:noFill/>
        </p:spPr>
        <p:txBody>
          <a:bodyPr/>
          <a:lstStyle/>
          <a:p>
            <a:pPr defTabSz="964832"/>
            <a:fld id="{EB7972A9-078D-4C96-9A05-F5C8A4AEC107}" type="slidenum">
              <a:rPr lang="en-US" smtClean="0"/>
              <a:pPr defTabSz="964832"/>
              <a:t>10</a:t>
            </a:fld>
            <a:endParaRPr lang="en-US"/>
          </a:p>
        </p:txBody>
      </p:sp>
    </p:spTree>
    <p:extLst>
      <p:ext uri="{BB962C8B-B14F-4D97-AF65-F5344CB8AC3E}">
        <p14:creationId xmlns:p14="http://schemas.microsoft.com/office/powerpoint/2010/main" val="7288046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11</a:t>
            </a:fld>
            <a:endParaRPr lang="en-US"/>
          </a:p>
        </p:txBody>
      </p:sp>
    </p:spTree>
    <p:extLst>
      <p:ext uri="{BB962C8B-B14F-4D97-AF65-F5344CB8AC3E}">
        <p14:creationId xmlns:p14="http://schemas.microsoft.com/office/powerpoint/2010/main" val="38832833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12</a:t>
            </a:fld>
            <a:endParaRPr lang="en-US"/>
          </a:p>
        </p:txBody>
      </p:sp>
    </p:spTree>
    <p:extLst>
      <p:ext uri="{BB962C8B-B14F-4D97-AF65-F5344CB8AC3E}">
        <p14:creationId xmlns:p14="http://schemas.microsoft.com/office/powerpoint/2010/main" val="1927079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Constraint Analysis</a:t>
            </a:r>
          </a:p>
        </p:txBody>
      </p:sp>
      <p:sp>
        <p:nvSpPr>
          <p:cNvPr id="5" name="Slide Number Placeholder 4"/>
          <p:cNvSpPr>
            <a:spLocks noGrp="1"/>
          </p:cNvSpPr>
          <p:nvPr>
            <p:ph type="sldNum" sz="quarter" idx="11"/>
          </p:nvPr>
        </p:nvSpPr>
        <p:spPr/>
        <p:txBody>
          <a:bodyPr/>
          <a:lstStyle/>
          <a:p>
            <a:pPr>
              <a:defRPr/>
            </a:pPr>
            <a:fld id="{4C6C5280-F3B5-4759-8388-F5E59B969F83}" type="slidenum">
              <a:rPr lang="en-US" smtClean="0"/>
              <a:pPr>
                <a:defRPr/>
              </a:pPr>
              <a:t>13</a:t>
            </a:fld>
            <a:endParaRPr lang="en-US" dirty="0"/>
          </a:p>
        </p:txBody>
      </p:sp>
    </p:spTree>
    <p:extLst>
      <p:ext uri="{BB962C8B-B14F-4D97-AF65-F5344CB8AC3E}">
        <p14:creationId xmlns:p14="http://schemas.microsoft.com/office/powerpoint/2010/main" val="8588784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Constraint Analysis</a:t>
            </a:r>
          </a:p>
        </p:txBody>
      </p:sp>
      <p:sp>
        <p:nvSpPr>
          <p:cNvPr id="5" name="Slide Number Placeholder 4"/>
          <p:cNvSpPr>
            <a:spLocks noGrp="1"/>
          </p:cNvSpPr>
          <p:nvPr>
            <p:ph type="sldNum" sz="quarter" idx="11"/>
          </p:nvPr>
        </p:nvSpPr>
        <p:spPr/>
        <p:txBody>
          <a:bodyPr/>
          <a:lstStyle/>
          <a:p>
            <a:pPr>
              <a:defRPr/>
            </a:pPr>
            <a:fld id="{4C6C5280-F3B5-4759-8388-F5E59B969F83}" type="slidenum">
              <a:rPr lang="en-US" smtClean="0"/>
              <a:pPr>
                <a:defRPr/>
              </a:pPr>
              <a:t>14</a:t>
            </a:fld>
            <a:endParaRPr lang="en-US" dirty="0"/>
          </a:p>
        </p:txBody>
      </p:sp>
    </p:spTree>
    <p:extLst>
      <p:ext uri="{BB962C8B-B14F-4D97-AF65-F5344CB8AC3E}">
        <p14:creationId xmlns:p14="http://schemas.microsoft.com/office/powerpoint/2010/main" val="33969406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endParaRPr lang="en-US"/>
          </a:p>
        </p:txBody>
      </p:sp>
      <p:sp>
        <p:nvSpPr>
          <p:cNvPr id="36868" name="Header Placeholder 3"/>
          <p:cNvSpPr>
            <a:spLocks noGrp="1"/>
          </p:cNvSpPr>
          <p:nvPr>
            <p:ph type="hdr" sz="quarter"/>
          </p:nvPr>
        </p:nvSpPr>
        <p:spPr>
          <a:noFill/>
        </p:spPr>
        <p:txBody>
          <a:bodyPr/>
          <a:lstStyle/>
          <a:p>
            <a:pPr defTabSz="966387"/>
            <a:r>
              <a:rPr lang="en-US" dirty="0"/>
              <a:t>Constraint Analysis</a:t>
            </a:r>
          </a:p>
        </p:txBody>
      </p:sp>
      <p:sp>
        <p:nvSpPr>
          <p:cNvPr id="36869" name="Slide Number Placeholder 4"/>
          <p:cNvSpPr>
            <a:spLocks noGrp="1"/>
          </p:cNvSpPr>
          <p:nvPr>
            <p:ph type="sldNum" sz="quarter" idx="5"/>
          </p:nvPr>
        </p:nvSpPr>
        <p:spPr>
          <a:noFill/>
        </p:spPr>
        <p:txBody>
          <a:bodyPr/>
          <a:lstStyle/>
          <a:p>
            <a:pPr defTabSz="966387"/>
            <a:fld id="{14BBFF45-95E4-44E8-9F2E-8B751949D653}" type="slidenum">
              <a:rPr lang="en-US" smtClean="0"/>
              <a:pPr defTabSz="966387"/>
              <a:t>15</a:t>
            </a:fld>
            <a:endParaRPr lang="en-US" dirty="0"/>
          </a:p>
        </p:txBody>
      </p:sp>
    </p:spTree>
    <p:extLst>
      <p:ext uri="{BB962C8B-B14F-4D97-AF65-F5344CB8AC3E}">
        <p14:creationId xmlns:p14="http://schemas.microsoft.com/office/powerpoint/2010/main" val="40442333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p:spPr>
        <p:txBody>
          <a:bodyPr/>
          <a:lstStyle/>
          <a:p>
            <a:endParaRPr lang="en-US"/>
          </a:p>
        </p:txBody>
      </p:sp>
      <p:sp>
        <p:nvSpPr>
          <p:cNvPr id="48132" name="Header Placeholder 3"/>
          <p:cNvSpPr>
            <a:spLocks noGrp="1"/>
          </p:cNvSpPr>
          <p:nvPr>
            <p:ph type="hdr" sz="quarter"/>
          </p:nvPr>
        </p:nvSpPr>
        <p:spPr>
          <a:noFill/>
        </p:spPr>
        <p:txBody>
          <a:bodyPr/>
          <a:lstStyle/>
          <a:p>
            <a:pPr defTabSz="964832"/>
            <a:r>
              <a:rPr lang="en-US"/>
              <a:t>Subprograms</a:t>
            </a:r>
          </a:p>
        </p:txBody>
      </p:sp>
      <p:sp>
        <p:nvSpPr>
          <p:cNvPr id="48133" name="Slide Number Placeholder 4"/>
          <p:cNvSpPr>
            <a:spLocks noGrp="1"/>
          </p:cNvSpPr>
          <p:nvPr>
            <p:ph type="sldNum" sz="quarter" idx="5"/>
          </p:nvPr>
        </p:nvSpPr>
        <p:spPr>
          <a:noFill/>
        </p:spPr>
        <p:txBody>
          <a:bodyPr/>
          <a:lstStyle/>
          <a:p>
            <a:pPr defTabSz="964832"/>
            <a:fld id="{E3C060E8-07A0-4097-86CE-B741702B405C}" type="slidenum">
              <a:rPr lang="en-US" smtClean="0"/>
              <a:pPr defTabSz="964832"/>
              <a:t>16</a:t>
            </a:fld>
            <a:endParaRPr lang="en-US"/>
          </a:p>
        </p:txBody>
      </p:sp>
    </p:spTree>
    <p:extLst>
      <p:ext uri="{BB962C8B-B14F-4D97-AF65-F5344CB8AC3E}">
        <p14:creationId xmlns:p14="http://schemas.microsoft.com/office/powerpoint/2010/main" val="25534630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p:spPr>
        <p:txBody>
          <a:bodyPr/>
          <a:lstStyle/>
          <a:p>
            <a:endParaRPr lang="en-US" dirty="0"/>
          </a:p>
        </p:txBody>
      </p:sp>
      <p:sp>
        <p:nvSpPr>
          <p:cNvPr id="48132" name="Header Placeholder 3"/>
          <p:cNvSpPr>
            <a:spLocks noGrp="1"/>
          </p:cNvSpPr>
          <p:nvPr>
            <p:ph type="hdr" sz="quarter"/>
          </p:nvPr>
        </p:nvSpPr>
        <p:spPr>
          <a:noFill/>
        </p:spPr>
        <p:txBody>
          <a:bodyPr/>
          <a:lstStyle/>
          <a:p>
            <a:pPr defTabSz="964832"/>
            <a:r>
              <a:rPr lang="en-US"/>
              <a:t>Subprograms</a:t>
            </a:r>
          </a:p>
        </p:txBody>
      </p:sp>
      <p:sp>
        <p:nvSpPr>
          <p:cNvPr id="48133" name="Slide Number Placeholder 4"/>
          <p:cNvSpPr>
            <a:spLocks noGrp="1"/>
          </p:cNvSpPr>
          <p:nvPr>
            <p:ph type="sldNum" sz="quarter" idx="5"/>
          </p:nvPr>
        </p:nvSpPr>
        <p:spPr>
          <a:noFill/>
        </p:spPr>
        <p:txBody>
          <a:bodyPr/>
          <a:lstStyle/>
          <a:p>
            <a:pPr defTabSz="964832"/>
            <a:fld id="{E3C060E8-07A0-4097-86CE-B741702B405C}" type="slidenum">
              <a:rPr lang="en-US" smtClean="0"/>
              <a:pPr defTabSz="964832"/>
              <a:t>17</a:t>
            </a:fld>
            <a:endParaRPr lang="en-US"/>
          </a:p>
        </p:txBody>
      </p:sp>
    </p:spTree>
    <p:extLst>
      <p:ext uri="{BB962C8B-B14F-4D97-AF65-F5344CB8AC3E}">
        <p14:creationId xmlns:p14="http://schemas.microsoft.com/office/powerpoint/2010/main" val="21072677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p:spPr>
        <p:txBody>
          <a:bodyPr/>
          <a:lstStyle/>
          <a:p>
            <a:endParaRPr lang="en-US"/>
          </a:p>
        </p:txBody>
      </p:sp>
      <p:sp>
        <p:nvSpPr>
          <p:cNvPr id="49156" name="Header Placeholder 3"/>
          <p:cNvSpPr>
            <a:spLocks noGrp="1"/>
          </p:cNvSpPr>
          <p:nvPr>
            <p:ph type="hdr" sz="quarter"/>
          </p:nvPr>
        </p:nvSpPr>
        <p:spPr>
          <a:noFill/>
        </p:spPr>
        <p:txBody>
          <a:bodyPr/>
          <a:lstStyle/>
          <a:p>
            <a:pPr defTabSz="964832"/>
            <a:r>
              <a:rPr lang="en-US"/>
              <a:t>Subprograms</a:t>
            </a:r>
          </a:p>
        </p:txBody>
      </p:sp>
      <p:sp>
        <p:nvSpPr>
          <p:cNvPr id="49157" name="Slide Number Placeholder 4"/>
          <p:cNvSpPr>
            <a:spLocks noGrp="1"/>
          </p:cNvSpPr>
          <p:nvPr>
            <p:ph type="sldNum" sz="quarter" idx="5"/>
          </p:nvPr>
        </p:nvSpPr>
        <p:spPr>
          <a:noFill/>
        </p:spPr>
        <p:txBody>
          <a:bodyPr/>
          <a:lstStyle/>
          <a:p>
            <a:pPr defTabSz="964832"/>
            <a:fld id="{CFD82E65-4A99-464B-9822-320074BC2484}" type="slidenum">
              <a:rPr lang="en-US" smtClean="0"/>
              <a:pPr defTabSz="964832"/>
              <a:t>20</a:t>
            </a:fld>
            <a:endParaRPr lang="en-US"/>
          </a:p>
        </p:txBody>
      </p:sp>
    </p:spTree>
    <p:extLst>
      <p:ext uri="{BB962C8B-B14F-4D97-AF65-F5344CB8AC3E}">
        <p14:creationId xmlns:p14="http://schemas.microsoft.com/office/powerpoint/2010/main" val="6410085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noFill/>
          <a:ln/>
        </p:spPr>
        <p:txBody>
          <a:bodyPr/>
          <a:lstStyle/>
          <a:p>
            <a:endParaRPr lang="en-US"/>
          </a:p>
        </p:txBody>
      </p:sp>
      <p:sp>
        <p:nvSpPr>
          <p:cNvPr id="50180" name="Header Placeholder 3"/>
          <p:cNvSpPr>
            <a:spLocks noGrp="1"/>
          </p:cNvSpPr>
          <p:nvPr>
            <p:ph type="hdr" sz="quarter"/>
          </p:nvPr>
        </p:nvSpPr>
        <p:spPr>
          <a:noFill/>
        </p:spPr>
        <p:txBody>
          <a:bodyPr/>
          <a:lstStyle/>
          <a:p>
            <a:pPr defTabSz="964832"/>
            <a:r>
              <a:rPr lang="en-US"/>
              <a:t>Subprograms</a:t>
            </a:r>
          </a:p>
        </p:txBody>
      </p:sp>
      <p:sp>
        <p:nvSpPr>
          <p:cNvPr id="50181" name="Slide Number Placeholder 4"/>
          <p:cNvSpPr>
            <a:spLocks noGrp="1"/>
          </p:cNvSpPr>
          <p:nvPr>
            <p:ph type="sldNum" sz="quarter" idx="5"/>
          </p:nvPr>
        </p:nvSpPr>
        <p:spPr>
          <a:noFill/>
        </p:spPr>
        <p:txBody>
          <a:bodyPr/>
          <a:lstStyle/>
          <a:p>
            <a:pPr defTabSz="964832"/>
            <a:fld id="{275314F5-DC0F-409F-8DD6-E8BBC59DC18E}" type="slidenum">
              <a:rPr lang="en-US" smtClean="0"/>
              <a:pPr defTabSz="964832"/>
              <a:t>21</a:t>
            </a:fld>
            <a:endParaRPr lang="en-US"/>
          </a:p>
        </p:txBody>
      </p:sp>
    </p:spTree>
    <p:extLst>
      <p:ext uri="{BB962C8B-B14F-4D97-AF65-F5344CB8AC3E}">
        <p14:creationId xmlns:p14="http://schemas.microsoft.com/office/powerpoint/2010/main" val="37658016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Subprograms</a:t>
            </a:r>
          </a:p>
        </p:txBody>
      </p:sp>
      <p:sp>
        <p:nvSpPr>
          <p:cNvPr id="5" name="Slide Number Placeholder 4"/>
          <p:cNvSpPr>
            <a:spLocks noGrp="1"/>
          </p:cNvSpPr>
          <p:nvPr>
            <p:ph type="sldNum" sz="quarter" idx="11"/>
          </p:nvPr>
        </p:nvSpPr>
        <p:spPr/>
        <p:txBody>
          <a:bodyPr/>
          <a:lstStyle/>
          <a:p>
            <a:pPr>
              <a:defRPr/>
            </a:pPr>
            <a:fld id="{F210BF87-E27C-4C1A-9442-4417E7FF324F}" type="slidenum">
              <a:rPr lang="en-US" smtClean="0"/>
              <a:pPr>
                <a:defRPr/>
              </a:pPr>
              <a:t>22</a:t>
            </a:fld>
            <a:endParaRPr lang="en-US"/>
          </a:p>
        </p:txBody>
      </p:sp>
    </p:spTree>
    <p:extLst>
      <p:ext uri="{BB962C8B-B14F-4D97-AF65-F5344CB8AC3E}">
        <p14:creationId xmlns:p14="http://schemas.microsoft.com/office/powerpoint/2010/main" val="3659130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Subprograms</a:t>
            </a:r>
          </a:p>
        </p:txBody>
      </p:sp>
      <p:sp>
        <p:nvSpPr>
          <p:cNvPr id="5" name="Slide Number Placeholder 4"/>
          <p:cNvSpPr>
            <a:spLocks noGrp="1"/>
          </p:cNvSpPr>
          <p:nvPr>
            <p:ph type="sldNum" sz="quarter" idx="11"/>
          </p:nvPr>
        </p:nvSpPr>
        <p:spPr/>
        <p:txBody>
          <a:bodyPr/>
          <a:lstStyle/>
          <a:p>
            <a:pPr>
              <a:defRPr/>
            </a:pPr>
            <a:fld id="{F210BF87-E27C-4C1A-9442-4417E7FF324F}" type="slidenum">
              <a:rPr lang="en-US" smtClean="0"/>
              <a:pPr>
                <a:defRPr/>
              </a:pPr>
              <a:t>23</a:t>
            </a:fld>
            <a:endParaRPr lang="en-US"/>
          </a:p>
        </p:txBody>
      </p:sp>
    </p:spTree>
    <p:extLst>
      <p:ext uri="{BB962C8B-B14F-4D97-AF65-F5344CB8AC3E}">
        <p14:creationId xmlns:p14="http://schemas.microsoft.com/office/powerpoint/2010/main" val="12871045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p:spPr>
        <p:txBody>
          <a:bodyPr/>
          <a:lstStyle/>
          <a:p>
            <a:endParaRPr lang="en-US"/>
          </a:p>
        </p:txBody>
      </p:sp>
      <p:sp>
        <p:nvSpPr>
          <p:cNvPr id="51204" name="Header Placeholder 3"/>
          <p:cNvSpPr>
            <a:spLocks noGrp="1"/>
          </p:cNvSpPr>
          <p:nvPr>
            <p:ph type="hdr" sz="quarter"/>
          </p:nvPr>
        </p:nvSpPr>
        <p:spPr>
          <a:noFill/>
        </p:spPr>
        <p:txBody>
          <a:bodyPr/>
          <a:lstStyle/>
          <a:p>
            <a:pPr defTabSz="964832"/>
            <a:r>
              <a:rPr lang="en-US"/>
              <a:t>Subprograms</a:t>
            </a:r>
          </a:p>
        </p:txBody>
      </p:sp>
      <p:sp>
        <p:nvSpPr>
          <p:cNvPr id="51205" name="Slide Number Placeholder 4"/>
          <p:cNvSpPr>
            <a:spLocks noGrp="1"/>
          </p:cNvSpPr>
          <p:nvPr>
            <p:ph type="sldNum" sz="quarter" idx="5"/>
          </p:nvPr>
        </p:nvSpPr>
        <p:spPr>
          <a:noFill/>
        </p:spPr>
        <p:txBody>
          <a:bodyPr/>
          <a:lstStyle/>
          <a:p>
            <a:pPr defTabSz="964832"/>
            <a:fld id="{075CFEEC-27A7-4324-B2F7-29E65C8E0D3B}" type="slidenum">
              <a:rPr lang="en-US" smtClean="0"/>
              <a:pPr defTabSz="964832"/>
              <a:t>24</a:t>
            </a:fld>
            <a:endParaRPr lang="en-US"/>
          </a:p>
        </p:txBody>
      </p:sp>
    </p:spTree>
    <p:extLst>
      <p:ext uri="{BB962C8B-B14F-4D97-AF65-F5344CB8AC3E}">
        <p14:creationId xmlns:p14="http://schemas.microsoft.com/office/powerpoint/2010/main" val="33605534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p:spPr>
        <p:txBody>
          <a:bodyPr/>
          <a:lstStyle/>
          <a:p>
            <a:endParaRPr lang="en-US"/>
          </a:p>
        </p:txBody>
      </p:sp>
      <p:sp>
        <p:nvSpPr>
          <p:cNvPr id="51204" name="Header Placeholder 3"/>
          <p:cNvSpPr>
            <a:spLocks noGrp="1"/>
          </p:cNvSpPr>
          <p:nvPr>
            <p:ph type="hdr" sz="quarter"/>
          </p:nvPr>
        </p:nvSpPr>
        <p:spPr>
          <a:noFill/>
        </p:spPr>
        <p:txBody>
          <a:bodyPr/>
          <a:lstStyle/>
          <a:p>
            <a:pPr defTabSz="964832"/>
            <a:r>
              <a:rPr lang="en-US"/>
              <a:t>Subprograms</a:t>
            </a:r>
          </a:p>
        </p:txBody>
      </p:sp>
      <p:sp>
        <p:nvSpPr>
          <p:cNvPr id="51205" name="Slide Number Placeholder 4"/>
          <p:cNvSpPr>
            <a:spLocks noGrp="1"/>
          </p:cNvSpPr>
          <p:nvPr>
            <p:ph type="sldNum" sz="quarter" idx="5"/>
          </p:nvPr>
        </p:nvSpPr>
        <p:spPr>
          <a:noFill/>
        </p:spPr>
        <p:txBody>
          <a:bodyPr/>
          <a:lstStyle/>
          <a:p>
            <a:pPr defTabSz="964832"/>
            <a:fld id="{075CFEEC-27A7-4324-B2F7-29E65C8E0D3B}" type="slidenum">
              <a:rPr lang="en-US" smtClean="0"/>
              <a:pPr defTabSz="964832"/>
              <a:t>28</a:t>
            </a:fld>
            <a:endParaRPr lang="en-US"/>
          </a:p>
        </p:txBody>
      </p:sp>
    </p:spTree>
    <p:extLst>
      <p:ext uri="{BB962C8B-B14F-4D97-AF65-F5344CB8AC3E}">
        <p14:creationId xmlns:p14="http://schemas.microsoft.com/office/powerpoint/2010/main" val="26497172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p:spPr>
        <p:txBody>
          <a:bodyPr/>
          <a:lstStyle/>
          <a:p>
            <a:endParaRPr lang="en-US"/>
          </a:p>
        </p:txBody>
      </p:sp>
      <p:sp>
        <p:nvSpPr>
          <p:cNvPr id="52228" name="Header Placeholder 3"/>
          <p:cNvSpPr>
            <a:spLocks noGrp="1"/>
          </p:cNvSpPr>
          <p:nvPr>
            <p:ph type="hdr" sz="quarter"/>
          </p:nvPr>
        </p:nvSpPr>
        <p:spPr>
          <a:noFill/>
        </p:spPr>
        <p:txBody>
          <a:bodyPr/>
          <a:lstStyle/>
          <a:p>
            <a:pPr defTabSz="964832"/>
            <a:r>
              <a:rPr lang="en-US"/>
              <a:t>Subprograms</a:t>
            </a:r>
          </a:p>
        </p:txBody>
      </p:sp>
      <p:sp>
        <p:nvSpPr>
          <p:cNvPr id="52229" name="Slide Number Placeholder 4"/>
          <p:cNvSpPr>
            <a:spLocks noGrp="1"/>
          </p:cNvSpPr>
          <p:nvPr>
            <p:ph type="sldNum" sz="quarter" idx="5"/>
          </p:nvPr>
        </p:nvSpPr>
        <p:spPr>
          <a:noFill/>
        </p:spPr>
        <p:txBody>
          <a:bodyPr/>
          <a:lstStyle/>
          <a:p>
            <a:pPr defTabSz="964832"/>
            <a:fld id="{6AABD8DE-277E-4E2D-975F-03CE0BD20194}" type="slidenum">
              <a:rPr lang="en-US" smtClean="0"/>
              <a:pPr defTabSz="964832"/>
              <a:t>36</a:t>
            </a:fld>
            <a:endParaRPr lang="en-US"/>
          </a:p>
        </p:txBody>
      </p:sp>
    </p:spTree>
    <p:extLst>
      <p:ext uri="{BB962C8B-B14F-4D97-AF65-F5344CB8AC3E}">
        <p14:creationId xmlns:p14="http://schemas.microsoft.com/office/powerpoint/2010/main" val="11785338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p:spPr>
        <p:txBody>
          <a:bodyPr/>
          <a:lstStyle/>
          <a:p>
            <a:endParaRPr lang="en-US"/>
          </a:p>
        </p:txBody>
      </p:sp>
      <p:sp>
        <p:nvSpPr>
          <p:cNvPr id="53252" name="Header Placeholder 3"/>
          <p:cNvSpPr>
            <a:spLocks noGrp="1"/>
          </p:cNvSpPr>
          <p:nvPr>
            <p:ph type="hdr" sz="quarter"/>
          </p:nvPr>
        </p:nvSpPr>
        <p:spPr>
          <a:noFill/>
        </p:spPr>
        <p:txBody>
          <a:bodyPr/>
          <a:lstStyle/>
          <a:p>
            <a:pPr defTabSz="964832"/>
            <a:r>
              <a:rPr lang="en-US"/>
              <a:t>Subprograms</a:t>
            </a:r>
          </a:p>
        </p:txBody>
      </p:sp>
      <p:sp>
        <p:nvSpPr>
          <p:cNvPr id="53253" name="Slide Number Placeholder 4"/>
          <p:cNvSpPr>
            <a:spLocks noGrp="1"/>
          </p:cNvSpPr>
          <p:nvPr>
            <p:ph type="sldNum" sz="quarter" idx="5"/>
          </p:nvPr>
        </p:nvSpPr>
        <p:spPr>
          <a:noFill/>
        </p:spPr>
        <p:txBody>
          <a:bodyPr/>
          <a:lstStyle/>
          <a:p>
            <a:pPr defTabSz="964832"/>
            <a:fld id="{D8DD6345-1170-48A5-985B-EC96D61CA5D8}" type="slidenum">
              <a:rPr lang="en-US" smtClean="0"/>
              <a:pPr defTabSz="964832"/>
              <a:t>37</a:t>
            </a:fld>
            <a:endParaRPr lang="en-US"/>
          </a:p>
        </p:txBody>
      </p:sp>
    </p:spTree>
    <p:extLst>
      <p:ext uri="{BB962C8B-B14F-4D97-AF65-F5344CB8AC3E}">
        <p14:creationId xmlns:p14="http://schemas.microsoft.com/office/powerpoint/2010/main" val="6541356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a:p>
        </p:txBody>
      </p:sp>
      <p:sp>
        <p:nvSpPr>
          <p:cNvPr id="54276" name="Header Placeholder 3"/>
          <p:cNvSpPr>
            <a:spLocks noGrp="1"/>
          </p:cNvSpPr>
          <p:nvPr>
            <p:ph type="hdr" sz="quarter"/>
          </p:nvPr>
        </p:nvSpPr>
        <p:spPr>
          <a:noFill/>
        </p:spPr>
        <p:txBody>
          <a:bodyPr/>
          <a:lstStyle/>
          <a:p>
            <a:pPr defTabSz="964832"/>
            <a:r>
              <a:rPr lang="en-US"/>
              <a:t>Subprograms</a:t>
            </a:r>
          </a:p>
        </p:txBody>
      </p:sp>
      <p:sp>
        <p:nvSpPr>
          <p:cNvPr id="54277" name="Slide Number Placeholder 4"/>
          <p:cNvSpPr>
            <a:spLocks noGrp="1"/>
          </p:cNvSpPr>
          <p:nvPr>
            <p:ph type="sldNum" sz="quarter" idx="5"/>
          </p:nvPr>
        </p:nvSpPr>
        <p:spPr>
          <a:noFill/>
        </p:spPr>
        <p:txBody>
          <a:bodyPr/>
          <a:lstStyle/>
          <a:p>
            <a:pPr defTabSz="964832"/>
            <a:fld id="{2FDE86E9-4526-4E85-8D5C-6C553B334C97}" type="slidenum">
              <a:rPr lang="en-US" smtClean="0"/>
              <a:pPr defTabSz="964832"/>
              <a:t>40</a:t>
            </a:fld>
            <a:endParaRPr lang="en-US"/>
          </a:p>
        </p:txBody>
      </p:sp>
    </p:spTree>
    <p:extLst>
      <p:ext uri="{BB962C8B-B14F-4D97-AF65-F5344CB8AC3E}">
        <p14:creationId xmlns:p14="http://schemas.microsoft.com/office/powerpoint/2010/main" val="12324186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Subprograms</a:t>
            </a:r>
          </a:p>
        </p:txBody>
      </p:sp>
      <p:sp>
        <p:nvSpPr>
          <p:cNvPr id="5" name="Slide Number Placeholder 4"/>
          <p:cNvSpPr>
            <a:spLocks noGrp="1"/>
          </p:cNvSpPr>
          <p:nvPr>
            <p:ph type="sldNum" sz="quarter" idx="11"/>
          </p:nvPr>
        </p:nvSpPr>
        <p:spPr/>
        <p:txBody>
          <a:bodyPr/>
          <a:lstStyle/>
          <a:p>
            <a:pPr>
              <a:defRPr/>
            </a:pPr>
            <a:fld id="{F210BF87-E27C-4C1A-9442-4417E7FF324F}" type="slidenum">
              <a:rPr lang="en-US" smtClean="0"/>
              <a:pPr>
                <a:defRPr/>
              </a:pPr>
              <a:t>43</a:t>
            </a:fld>
            <a:endParaRPr lang="en-US"/>
          </a:p>
        </p:txBody>
      </p:sp>
    </p:spTree>
    <p:extLst>
      <p:ext uri="{BB962C8B-B14F-4D97-AF65-F5344CB8AC3E}">
        <p14:creationId xmlns:p14="http://schemas.microsoft.com/office/powerpoint/2010/main" val="39065156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Subprograms</a:t>
            </a:r>
          </a:p>
        </p:txBody>
      </p:sp>
      <p:sp>
        <p:nvSpPr>
          <p:cNvPr id="5" name="Slide Number Placeholder 4"/>
          <p:cNvSpPr>
            <a:spLocks noGrp="1"/>
          </p:cNvSpPr>
          <p:nvPr>
            <p:ph type="sldNum" sz="quarter" idx="11"/>
          </p:nvPr>
        </p:nvSpPr>
        <p:spPr/>
        <p:txBody>
          <a:bodyPr/>
          <a:lstStyle/>
          <a:p>
            <a:pPr>
              <a:defRPr/>
            </a:pPr>
            <a:fld id="{F210BF87-E27C-4C1A-9442-4417E7FF324F}" type="slidenum">
              <a:rPr lang="en-US" smtClean="0"/>
              <a:pPr>
                <a:defRPr/>
              </a:pPr>
              <a:t>44</a:t>
            </a:fld>
            <a:endParaRPr lang="en-US"/>
          </a:p>
        </p:txBody>
      </p:sp>
    </p:spTree>
    <p:extLst>
      <p:ext uri="{BB962C8B-B14F-4D97-AF65-F5344CB8AC3E}">
        <p14:creationId xmlns:p14="http://schemas.microsoft.com/office/powerpoint/2010/main" val="15660419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endParaRPr lang="en-US"/>
          </a:p>
        </p:txBody>
      </p:sp>
      <p:sp>
        <p:nvSpPr>
          <p:cNvPr id="55300" name="Header Placeholder 3"/>
          <p:cNvSpPr>
            <a:spLocks noGrp="1"/>
          </p:cNvSpPr>
          <p:nvPr>
            <p:ph type="hdr" sz="quarter"/>
          </p:nvPr>
        </p:nvSpPr>
        <p:spPr>
          <a:noFill/>
        </p:spPr>
        <p:txBody>
          <a:bodyPr/>
          <a:lstStyle/>
          <a:p>
            <a:pPr defTabSz="964832"/>
            <a:r>
              <a:rPr lang="en-US"/>
              <a:t>Subprograms</a:t>
            </a:r>
          </a:p>
        </p:txBody>
      </p:sp>
      <p:sp>
        <p:nvSpPr>
          <p:cNvPr id="55301" name="Slide Number Placeholder 4"/>
          <p:cNvSpPr>
            <a:spLocks noGrp="1"/>
          </p:cNvSpPr>
          <p:nvPr>
            <p:ph type="sldNum" sz="quarter" idx="5"/>
          </p:nvPr>
        </p:nvSpPr>
        <p:spPr>
          <a:noFill/>
        </p:spPr>
        <p:txBody>
          <a:bodyPr/>
          <a:lstStyle/>
          <a:p>
            <a:pPr defTabSz="964832"/>
            <a:fld id="{662CC49B-6813-45E9-B161-6D1C4C664607}" type="slidenum">
              <a:rPr lang="en-US" smtClean="0"/>
              <a:pPr defTabSz="964832"/>
              <a:t>45</a:t>
            </a:fld>
            <a:endParaRPr lang="en-US"/>
          </a:p>
        </p:txBody>
      </p:sp>
    </p:spTree>
    <p:extLst>
      <p:ext uri="{BB962C8B-B14F-4D97-AF65-F5344CB8AC3E}">
        <p14:creationId xmlns:p14="http://schemas.microsoft.com/office/powerpoint/2010/main" val="14335603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p:spPr>
        <p:txBody>
          <a:bodyPr/>
          <a:lstStyle/>
          <a:p>
            <a:endParaRPr lang="en-US"/>
          </a:p>
        </p:txBody>
      </p:sp>
      <p:sp>
        <p:nvSpPr>
          <p:cNvPr id="56324" name="Header Placeholder 3"/>
          <p:cNvSpPr>
            <a:spLocks noGrp="1"/>
          </p:cNvSpPr>
          <p:nvPr>
            <p:ph type="hdr" sz="quarter"/>
          </p:nvPr>
        </p:nvSpPr>
        <p:spPr>
          <a:noFill/>
        </p:spPr>
        <p:txBody>
          <a:bodyPr/>
          <a:lstStyle/>
          <a:p>
            <a:pPr defTabSz="964832"/>
            <a:r>
              <a:rPr lang="en-US"/>
              <a:t>Subprograms</a:t>
            </a:r>
          </a:p>
        </p:txBody>
      </p:sp>
      <p:sp>
        <p:nvSpPr>
          <p:cNvPr id="56325" name="Slide Number Placeholder 4"/>
          <p:cNvSpPr>
            <a:spLocks noGrp="1"/>
          </p:cNvSpPr>
          <p:nvPr>
            <p:ph type="sldNum" sz="quarter" idx="5"/>
          </p:nvPr>
        </p:nvSpPr>
        <p:spPr>
          <a:noFill/>
        </p:spPr>
        <p:txBody>
          <a:bodyPr/>
          <a:lstStyle/>
          <a:p>
            <a:pPr defTabSz="964832"/>
            <a:fld id="{93AFA024-7C4D-4338-9A21-2A5F7BE59F73}" type="slidenum">
              <a:rPr lang="en-US" smtClean="0"/>
              <a:pPr defTabSz="964832"/>
              <a:t>47</a:t>
            </a:fld>
            <a:endParaRPr lang="en-US"/>
          </a:p>
        </p:txBody>
      </p:sp>
    </p:spTree>
    <p:extLst>
      <p:ext uri="{BB962C8B-B14F-4D97-AF65-F5344CB8AC3E}">
        <p14:creationId xmlns:p14="http://schemas.microsoft.com/office/powerpoint/2010/main" val="17486025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p:spPr>
        <p:txBody>
          <a:bodyPr/>
          <a:lstStyle/>
          <a:p>
            <a:endParaRPr lang="en-US"/>
          </a:p>
        </p:txBody>
      </p:sp>
      <p:sp>
        <p:nvSpPr>
          <p:cNvPr id="56324" name="Header Placeholder 3"/>
          <p:cNvSpPr>
            <a:spLocks noGrp="1"/>
          </p:cNvSpPr>
          <p:nvPr>
            <p:ph type="hdr" sz="quarter"/>
          </p:nvPr>
        </p:nvSpPr>
        <p:spPr>
          <a:noFill/>
        </p:spPr>
        <p:txBody>
          <a:bodyPr/>
          <a:lstStyle/>
          <a:p>
            <a:pPr defTabSz="964832"/>
            <a:r>
              <a:rPr lang="en-US"/>
              <a:t>Subprograms</a:t>
            </a:r>
          </a:p>
        </p:txBody>
      </p:sp>
      <p:sp>
        <p:nvSpPr>
          <p:cNvPr id="56325" name="Slide Number Placeholder 4"/>
          <p:cNvSpPr>
            <a:spLocks noGrp="1"/>
          </p:cNvSpPr>
          <p:nvPr>
            <p:ph type="sldNum" sz="quarter" idx="5"/>
          </p:nvPr>
        </p:nvSpPr>
        <p:spPr>
          <a:noFill/>
        </p:spPr>
        <p:txBody>
          <a:bodyPr/>
          <a:lstStyle/>
          <a:p>
            <a:pPr defTabSz="964832"/>
            <a:fld id="{93AFA024-7C4D-4338-9A21-2A5F7BE59F73}" type="slidenum">
              <a:rPr lang="en-US" smtClean="0"/>
              <a:pPr defTabSz="964832"/>
              <a:t>48</a:t>
            </a:fld>
            <a:endParaRPr lang="en-US"/>
          </a:p>
        </p:txBody>
      </p:sp>
    </p:spTree>
    <p:extLst>
      <p:ext uri="{BB962C8B-B14F-4D97-AF65-F5344CB8AC3E}">
        <p14:creationId xmlns:p14="http://schemas.microsoft.com/office/powerpoint/2010/main" val="11760132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Subprograms</a:t>
            </a:r>
          </a:p>
        </p:txBody>
      </p:sp>
      <p:sp>
        <p:nvSpPr>
          <p:cNvPr id="5" name="Slide Number Placeholder 4"/>
          <p:cNvSpPr>
            <a:spLocks noGrp="1"/>
          </p:cNvSpPr>
          <p:nvPr>
            <p:ph type="sldNum" sz="quarter" idx="11"/>
          </p:nvPr>
        </p:nvSpPr>
        <p:spPr/>
        <p:txBody>
          <a:bodyPr/>
          <a:lstStyle/>
          <a:p>
            <a:pPr>
              <a:defRPr/>
            </a:pPr>
            <a:fld id="{F210BF87-E27C-4C1A-9442-4417E7FF324F}" type="slidenum">
              <a:rPr lang="en-US" smtClean="0"/>
              <a:pPr>
                <a:defRPr/>
              </a:pPr>
              <a:t>54</a:t>
            </a:fld>
            <a:endParaRPr lang="en-US"/>
          </a:p>
        </p:txBody>
      </p:sp>
    </p:spTree>
    <p:extLst>
      <p:ext uri="{BB962C8B-B14F-4D97-AF65-F5344CB8AC3E}">
        <p14:creationId xmlns:p14="http://schemas.microsoft.com/office/powerpoint/2010/main" val="19558305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Subprograms</a:t>
            </a:r>
          </a:p>
        </p:txBody>
      </p:sp>
      <p:sp>
        <p:nvSpPr>
          <p:cNvPr id="5" name="Slide Number Placeholder 4"/>
          <p:cNvSpPr>
            <a:spLocks noGrp="1"/>
          </p:cNvSpPr>
          <p:nvPr>
            <p:ph type="sldNum" sz="quarter" idx="11"/>
          </p:nvPr>
        </p:nvSpPr>
        <p:spPr/>
        <p:txBody>
          <a:bodyPr/>
          <a:lstStyle/>
          <a:p>
            <a:pPr>
              <a:defRPr/>
            </a:pPr>
            <a:fld id="{F210BF87-E27C-4C1A-9442-4417E7FF324F}" type="slidenum">
              <a:rPr lang="en-US" smtClean="0"/>
              <a:pPr>
                <a:defRPr/>
              </a:pPr>
              <a:t>55</a:t>
            </a:fld>
            <a:endParaRPr lang="en-US"/>
          </a:p>
        </p:txBody>
      </p:sp>
    </p:spTree>
    <p:extLst>
      <p:ext uri="{BB962C8B-B14F-4D97-AF65-F5344CB8AC3E}">
        <p14:creationId xmlns:p14="http://schemas.microsoft.com/office/powerpoint/2010/main" val="16729466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p:spPr>
        <p:txBody>
          <a:bodyPr/>
          <a:lstStyle/>
          <a:p>
            <a:endParaRPr lang="en-US"/>
          </a:p>
        </p:txBody>
      </p:sp>
      <p:sp>
        <p:nvSpPr>
          <p:cNvPr id="52228" name="Header Placeholder 3"/>
          <p:cNvSpPr>
            <a:spLocks noGrp="1"/>
          </p:cNvSpPr>
          <p:nvPr>
            <p:ph type="hdr" sz="quarter"/>
          </p:nvPr>
        </p:nvSpPr>
        <p:spPr>
          <a:noFill/>
        </p:spPr>
        <p:txBody>
          <a:bodyPr/>
          <a:lstStyle/>
          <a:p>
            <a:pPr defTabSz="964832"/>
            <a:r>
              <a:rPr lang="en-US"/>
              <a:t>Subprograms</a:t>
            </a:r>
          </a:p>
        </p:txBody>
      </p:sp>
      <p:sp>
        <p:nvSpPr>
          <p:cNvPr id="52229" name="Slide Number Placeholder 4"/>
          <p:cNvSpPr>
            <a:spLocks noGrp="1"/>
          </p:cNvSpPr>
          <p:nvPr>
            <p:ph type="sldNum" sz="quarter" idx="5"/>
          </p:nvPr>
        </p:nvSpPr>
        <p:spPr>
          <a:noFill/>
        </p:spPr>
        <p:txBody>
          <a:bodyPr/>
          <a:lstStyle/>
          <a:p>
            <a:pPr defTabSz="964832"/>
            <a:fld id="{6AABD8DE-277E-4E2D-975F-03CE0BD20194}" type="slidenum">
              <a:rPr lang="en-US" smtClean="0"/>
              <a:pPr defTabSz="964832"/>
              <a:t>56</a:t>
            </a:fld>
            <a:endParaRPr lang="en-US"/>
          </a:p>
        </p:txBody>
      </p:sp>
    </p:spTree>
    <p:extLst>
      <p:ext uri="{BB962C8B-B14F-4D97-AF65-F5344CB8AC3E}">
        <p14:creationId xmlns:p14="http://schemas.microsoft.com/office/powerpoint/2010/main" val="40780086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p:spPr>
        <p:txBody>
          <a:bodyPr/>
          <a:lstStyle/>
          <a:p>
            <a:endParaRPr lang="en-US"/>
          </a:p>
        </p:txBody>
      </p:sp>
      <p:sp>
        <p:nvSpPr>
          <p:cNvPr id="53252" name="Header Placeholder 3"/>
          <p:cNvSpPr>
            <a:spLocks noGrp="1"/>
          </p:cNvSpPr>
          <p:nvPr>
            <p:ph type="hdr" sz="quarter"/>
          </p:nvPr>
        </p:nvSpPr>
        <p:spPr>
          <a:noFill/>
        </p:spPr>
        <p:txBody>
          <a:bodyPr/>
          <a:lstStyle/>
          <a:p>
            <a:pPr defTabSz="964832"/>
            <a:r>
              <a:rPr lang="en-US"/>
              <a:t>Subprograms</a:t>
            </a:r>
          </a:p>
        </p:txBody>
      </p:sp>
      <p:sp>
        <p:nvSpPr>
          <p:cNvPr id="53253" name="Slide Number Placeholder 4"/>
          <p:cNvSpPr>
            <a:spLocks noGrp="1"/>
          </p:cNvSpPr>
          <p:nvPr>
            <p:ph type="sldNum" sz="quarter" idx="5"/>
          </p:nvPr>
        </p:nvSpPr>
        <p:spPr>
          <a:noFill/>
        </p:spPr>
        <p:txBody>
          <a:bodyPr/>
          <a:lstStyle/>
          <a:p>
            <a:pPr defTabSz="964832"/>
            <a:fld id="{D8DD6345-1170-48A5-985B-EC96D61CA5D8}" type="slidenum">
              <a:rPr lang="en-US" smtClean="0"/>
              <a:pPr defTabSz="964832"/>
              <a:t>57</a:t>
            </a:fld>
            <a:endParaRPr lang="en-US"/>
          </a:p>
        </p:txBody>
      </p:sp>
    </p:spTree>
    <p:extLst>
      <p:ext uri="{BB962C8B-B14F-4D97-AF65-F5344CB8AC3E}">
        <p14:creationId xmlns:p14="http://schemas.microsoft.com/office/powerpoint/2010/main" val="33201600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Subprograms</a:t>
            </a:r>
          </a:p>
        </p:txBody>
      </p:sp>
      <p:sp>
        <p:nvSpPr>
          <p:cNvPr id="5" name="Slide Number Placeholder 4"/>
          <p:cNvSpPr>
            <a:spLocks noGrp="1"/>
          </p:cNvSpPr>
          <p:nvPr>
            <p:ph type="sldNum" sz="quarter" idx="11"/>
          </p:nvPr>
        </p:nvSpPr>
        <p:spPr/>
        <p:txBody>
          <a:bodyPr/>
          <a:lstStyle/>
          <a:p>
            <a:pPr>
              <a:defRPr/>
            </a:pPr>
            <a:fld id="{F210BF87-E27C-4C1A-9442-4417E7FF324F}" type="slidenum">
              <a:rPr lang="en-US" smtClean="0"/>
              <a:pPr>
                <a:defRPr/>
              </a:pPr>
              <a:t>59</a:t>
            </a:fld>
            <a:endParaRPr lang="en-US"/>
          </a:p>
        </p:txBody>
      </p:sp>
    </p:spTree>
    <p:extLst>
      <p:ext uri="{BB962C8B-B14F-4D97-AF65-F5344CB8AC3E}">
        <p14:creationId xmlns:p14="http://schemas.microsoft.com/office/powerpoint/2010/main" val="527288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p:spPr>
        <p:txBody>
          <a:bodyPr/>
          <a:lstStyle/>
          <a:p>
            <a:endParaRPr lang="en-US"/>
          </a:p>
        </p:txBody>
      </p:sp>
      <p:sp>
        <p:nvSpPr>
          <p:cNvPr id="52228" name="Header Placeholder 3"/>
          <p:cNvSpPr>
            <a:spLocks noGrp="1"/>
          </p:cNvSpPr>
          <p:nvPr>
            <p:ph type="hdr" sz="quarter"/>
          </p:nvPr>
        </p:nvSpPr>
        <p:spPr>
          <a:noFill/>
        </p:spPr>
        <p:txBody>
          <a:bodyPr/>
          <a:lstStyle/>
          <a:p>
            <a:pPr defTabSz="964832"/>
            <a:r>
              <a:rPr lang="en-US"/>
              <a:t>Subprograms</a:t>
            </a:r>
          </a:p>
        </p:txBody>
      </p:sp>
      <p:sp>
        <p:nvSpPr>
          <p:cNvPr id="52229" name="Slide Number Placeholder 4"/>
          <p:cNvSpPr>
            <a:spLocks noGrp="1"/>
          </p:cNvSpPr>
          <p:nvPr>
            <p:ph type="sldNum" sz="quarter" idx="5"/>
          </p:nvPr>
        </p:nvSpPr>
        <p:spPr>
          <a:noFill/>
        </p:spPr>
        <p:txBody>
          <a:bodyPr/>
          <a:lstStyle/>
          <a:p>
            <a:pPr defTabSz="964832"/>
            <a:fld id="{6AABD8DE-277E-4E2D-975F-03CE0BD20194}" type="slidenum">
              <a:rPr lang="en-US" smtClean="0"/>
              <a:pPr defTabSz="964832"/>
              <a:t>60</a:t>
            </a:fld>
            <a:endParaRPr lang="en-US"/>
          </a:p>
        </p:txBody>
      </p:sp>
    </p:spTree>
    <p:extLst>
      <p:ext uri="{BB962C8B-B14F-4D97-AF65-F5344CB8AC3E}">
        <p14:creationId xmlns:p14="http://schemas.microsoft.com/office/powerpoint/2010/main" val="28480995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p:spPr>
        <p:txBody>
          <a:bodyPr/>
          <a:lstStyle/>
          <a:p>
            <a:endParaRPr lang="en-US"/>
          </a:p>
        </p:txBody>
      </p:sp>
      <p:sp>
        <p:nvSpPr>
          <p:cNvPr id="53252" name="Header Placeholder 3"/>
          <p:cNvSpPr>
            <a:spLocks noGrp="1"/>
          </p:cNvSpPr>
          <p:nvPr>
            <p:ph type="hdr" sz="quarter"/>
          </p:nvPr>
        </p:nvSpPr>
        <p:spPr>
          <a:noFill/>
        </p:spPr>
        <p:txBody>
          <a:bodyPr/>
          <a:lstStyle/>
          <a:p>
            <a:pPr defTabSz="964832"/>
            <a:r>
              <a:rPr lang="en-US"/>
              <a:t>Subprograms</a:t>
            </a:r>
          </a:p>
        </p:txBody>
      </p:sp>
      <p:sp>
        <p:nvSpPr>
          <p:cNvPr id="53253" name="Slide Number Placeholder 4"/>
          <p:cNvSpPr>
            <a:spLocks noGrp="1"/>
          </p:cNvSpPr>
          <p:nvPr>
            <p:ph type="sldNum" sz="quarter" idx="5"/>
          </p:nvPr>
        </p:nvSpPr>
        <p:spPr>
          <a:noFill/>
        </p:spPr>
        <p:txBody>
          <a:bodyPr/>
          <a:lstStyle/>
          <a:p>
            <a:pPr defTabSz="964832"/>
            <a:fld id="{D8DD6345-1170-48A5-985B-EC96D61CA5D8}" type="slidenum">
              <a:rPr lang="en-US" smtClean="0"/>
              <a:pPr defTabSz="964832"/>
              <a:t>61</a:t>
            </a:fld>
            <a:endParaRPr lang="en-US"/>
          </a:p>
        </p:txBody>
      </p:sp>
    </p:spTree>
    <p:extLst>
      <p:ext uri="{BB962C8B-B14F-4D97-AF65-F5344CB8AC3E}">
        <p14:creationId xmlns:p14="http://schemas.microsoft.com/office/powerpoint/2010/main" val="39914905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Subprograms</a:t>
            </a:r>
          </a:p>
        </p:txBody>
      </p:sp>
      <p:sp>
        <p:nvSpPr>
          <p:cNvPr id="5" name="Slide Number Placeholder 4"/>
          <p:cNvSpPr>
            <a:spLocks noGrp="1"/>
          </p:cNvSpPr>
          <p:nvPr>
            <p:ph type="sldNum" sz="quarter" idx="11"/>
          </p:nvPr>
        </p:nvSpPr>
        <p:spPr/>
        <p:txBody>
          <a:bodyPr/>
          <a:lstStyle/>
          <a:p>
            <a:pPr>
              <a:defRPr/>
            </a:pPr>
            <a:fld id="{F210BF87-E27C-4C1A-9442-4417E7FF324F}" type="slidenum">
              <a:rPr lang="en-US" smtClean="0"/>
              <a:pPr>
                <a:defRPr/>
              </a:pPr>
              <a:t>63</a:t>
            </a:fld>
            <a:endParaRPr lang="en-US"/>
          </a:p>
        </p:txBody>
      </p:sp>
    </p:spTree>
    <p:extLst>
      <p:ext uri="{BB962C8B-B14F-4D97-AF65-F5344CB8AC3E}">
        <p14:creationId xmlns:p14="http://schemas.microsoft.com/office/powerpoint/2010/main" val="3930527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5"/>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
        <p:nvSpPr>
          <p:cNvPr id="105474" name="Rectangle 2"/>
          <p:cNvSpPr>
            <a:spLocks noGrp="1" noChangeArrowheads="1"/>
          </p:cNvSpPr>
          <p:nvPr>
            <p:ph type="ctrTitle" sz="quarter"/>
          </p:nvPr>
        </p:nvSpPr>
        <p:spPr>
          <a:xfrm>
            <a:off x="687388" y="1600200"/>
            <a:ext cx="7772400" cy="1371600"/>
          </a:xfrm>
          <a:ln w="25400">
            <a:solidFill>
              <a:srgbClr val="800000"/>
            </a:solidFill>
            <a:headEnd type="none" w="sm" len="sm"/>
            <a:tailEnd type="none" w="sm" len="sm"/>
          </a:ln>
        </p:spPr>
        <p:txBody>
          <a:bodyPr wrap="none" lIns="91440" tIns="45720" rIns="91440" bIns="45720"/>
          <a:lstStyle>
            <a:lvl1pPr>
              <a:defRPr sz="3600"/>
            </a:lvl1pPr>
          </a:lstStyle>
          <a:p>
            <a:r>
              <a:rPr lang="en-US" dirty="0"/>
              <a:t>Click to edit Master title style</a:t>
            </a:r>
          </a:p>
        </p:txBody>
      </p:sp>
      <p:sp>
        <p:nvSpPr>
          <p:cNvPr id="105475" name="Rectangle 3"/>
          <p:cNvSpPr>
            <a:spLocks noGrp="1" noChangeArrowheads="1"/>
          </p:cNvSpPr>
          <p:nvPr>
            <p:ph type="subTitle" sz="quarter" idx="1"/>
          </p:nvPr>
        </p:nvSpPr>
        <p:spPr>
          <a:xfrm>
            <a:off x="687388" y="3276600"/>
            <a:ext cx="7772400" cy="2819400"/>
          </a:xfrm>
        </p:spPr>
        <p:txBody>
          <a:bodyPr/>
          <a:lstStyle>
            <a:lvl1pPr marL="0" indent="0">
              <a:buFontTx/>
              <a:buNone/>
              <a:defRPr sz="2800"/>
            </a:lvl1pPr>
          </a:lstStyle>
          <a:p>
            <a:r>
              <a:rPr lang="en-US" dirty="0"/>
              <a:t>Click to edit Master subtitle style</a:t>
            </a:r>
          </a:p>
        </p:txBody>
      </p:sp>
      <p:sp>
        <p:nvSpPr>
          <p:cNvPr id="5" name="Rectangle 4"/>
          <p:cNvSpPr>
            <a:spLocks noGrp="1" noChangeArrowheads="1"/>
          </p:cNvSpPr>
          <p:nvPr>
            <p:ph type="ftr" sz="quarter" idx="10"/>
          </p:nvPr>
        </p:nvSpPr>
        <p:spPr/>
        <p:txBody>
          <a:bodyPr/>
          <a:lstStyle>
            <a:lvl1pPr>
              <a:defRPr/>
            </a:lvl1pPr>
          </a:lstStyle>
          <a:p>
            <a:pPr>
              <a:defRPr/>
            </a:pPr>
            <a:r>
              <a:rPr lang="en-US"/>
              <a:t>©SoftMoore Consulting</a:t>
            </a:r>
          </a:p>
        </p:txBody>
      </p:sp>
      <p:sp>
        <p:nvSpPr>
          <p:cNvPr id="6" name="Rectangle 6"/>
          <p:cNvSpPr>
            <a:spLocks noGrp="1" noChangeArrowheads="1"/>
          </p:cNvSpPr>
          <p:nvPr>
            <p:ph type="sldNum" sz="quarter" idx="11"/>
          </p:nvPr>
        </p:nvSpPr>
        <p:spPr/>
        <p:txBody>
          <a:bodyPr/>
          <a:lstStyle>
            <a:lvl1pPr>
              <a:defRPr/>
            </a:lvl1pPr>
          </a:lstStyle>
          <a:p>
            <a:pPr>
              <a:defRPr/>
            </a:pPr>
            <a:r>
              <a:rPr lang="en-US"/>
              <a:t>Slide </a:t>
            </a:r>
            <a:fld id="{C64D2E24-5CD2-43FB-9BC1-B7989670F42C}"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t>Slide </a:t>
            </a:r>
            <a:fld id="{4E55CFDC-59FD-439A-9888-9166DC8A400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8788" y="1363663"/>
            <a:ext cx="4037012" cy="4935537"/>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63663"/>
            <a:ext cx="4037013" cy="4935537"/>
          </a:xfrm>
          <a:noFill/>
          <a:ln w="9525">
            <a:noFill/>
            <a:miter lim="800000"/>
            <a:headEnd/>
            <a:tailEnd/>
          </a:ln>
        </p:spPr>
        <p:txBody>
          <a:bodyPr/>
          <a:lstStyle>
            <a:lvl1pPr algn="l" rtl="0" eaLnBrk="0" fontAlgn="base" hangingPunct="0">
              <a:spcAft>
                <a:spcPct val="0"/>
              </a:spcAft>
              <a:defRPr kumimoji="1" lang="en-US" sz="2400" smtClean="0">
                <a:solidFill>
                  <a:schemeClr val="tx1"/>
                </a:solidFill>
                <a:latin typeface="+mn-lt"/>
                <a:ea typeface="+mn-ea"/>
                <a:cs typeface="+mn-cs"/>
              </a:defRPr>
            </a:lvl1pPr>
            <a:lvl2pPr algn="l" rtl="0" eaLnBrk="0" fontAlgn="base" hangingPunct="0">
              <a:spcAft>
                <a:spcPct val="0"/>
              </a:spcAft>
              <a:defRPr kumimoji="1" lang="en-US" sz="2000" smtClean="0">
                <a:solidFill>
                  <a:schemeClr val="tx1"/>
                </a:solidFill>
                <a:latin typeface="+mn-lt"/>
                <a:ea typeface="+mn-ea"/>
                <a:cs typeface="+mn-cs"/>
              </a:defRPr>
            </a:lvl2pPr>
            <a:lvl3pPr algn="l" rtl="0" eaLnBrk="0" fontAlgn="base" hangingPunct="0">
              <a:spcAft>
                <a:spcPct val="0"/>
              </a:spcAft>
              <a:defRPr kumimoji="1" lang="en-US" sz="1800" smtClean="0">
                <a:solidFill>
                  <a:schemeClr val="tx1"/>
                </a:solidFill>
                <a:latin typeface="+mn-lt"/>
                <a:ea typeface="+mn-ea"/>
                <a:cs typeface="+mn-cs"/>
              </a:defRPr>
            </a:lvl3pPr>
            <a:lvl4pPr algn="l" rtl="0" eaLnBrk="0" fontAlgn="base" hangingPunct="0">
              <a:spcAft>
                <a:spcPct val="0"/>
              </a:spcAft>
              <a:defRPr kumimoji="1" lang="en-US" sz="1600" smtClean="0">
                <a:solidFill>
                  <a:schemeClr val="tx1"/>
                </a:solidFill>
                <a:latin typeface="+mn-lt"/>
                <a:ea typeface="+mn-ea"/>
                <a:cs typeface="+mn-cs"/>
              </a:defRPr>
            </a:lvl4pPr>
            <a:lvl5pPr algn="l" rtl="0" eaLnBrk="0" fontAlgn="base" hangingPunct="0">
              <a:spcAft>
                <a:spcPct val="0"/>
              </a:spcAft>
              <a:defRPr kumimoji="1" lang="en-US" sz="140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t>Slide </a:t>
            </a:r>
            <a:fld id="{7D26BD19-5D37-483D-8FA1-17DF52BF9E84}"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a:t>Slide </a:t>
            </a:r>
            <a:fld id="{E6DF8550-1B8D-4350-9831-B0516B0EC45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a:t>Slide </a:t>
            </a:r>
            <a:fld id="{1FC14F8B-E294-42DC-A852-4D66E25A58CD}"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38113"/>
            <a:ext cx="7315200" cy="1004887"/>
          </a:xfrm>
          <a:prstGeom prst="rect">
            <a:avLst/>
          </a:prstGeom>
          <a:noFill/>
          <a:ln w="6350">
            <a:noFill/>
            <a:miter lim="800000"/>
            <a:headEnd/>
            <a:tailEnd/>
          </a:ln>
        </p:spPr>
        <p:txBody>
          <a:bodyPr vert="horz" wrap="square" lIns="92075" tIns="46038" rIns="92075" bIns="46038"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8788" y="1363663"/>
            <a:ext cx="8226425" cy="4935537"/>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452" name="Rectangle 4"/>
          <p:cNvSpPr>
            <a:spLocks noGrp="1" noChangeArrowheads="1"/>
          </p:cNvSpPr>
          <p:nvPr>
            <p:ph type="ftr" sz="quarter" idx="3"/>
          </p:nvPr>
        </p:nvSpPr>
        <p:spPr bwMode="auto">
          <a:xfrm>
            <a:off x="685800" y="6477000"/>
            <a:ext cx="2741613"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l">
              <a:spcBef>
                <a:spcPct val="50000"/>
              </a:spcBef>
              <a:defRPr sz="1200"/>
            </a:lvl1pPr>
          </a:lstStyle>
          <a:p>
            <a:pPr>
              <a:defRPr/>
            </a:pPr>
            <a:r>
              <a:rPr lang="en-US"/>
              <a:t>©SoftMoore Consulting</a:t>
            </a:r>
          </a:p>
        </p:txBody>
      </p:sp>
      <p:sp>
        <p:nvSpPr>
          <p:cNvPr id="104453" name="Rectangle 5"/>
          <p:cNvSpPr>
            <a:spLocks noGrp="1" noChangeArrowheads="1"/>
          </p:cNvSpPr>
          <p:nvPr>
            <p:ph type="sldNum" sz="quarter" idx="4"/>
          </p:nvPr>
        </p:nvSpPr>
        <p:spPr bwMode="auto">
          <a:xfrm>
            <a:off x="6578600" y="6477000"/>
            <a:ext cx="1828800"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spcBef>
                <a:spcPct val="50000"/>
              </a:spcBef>
              <a:defRPr sz="1200"/>
            </a:lvl1pPr>
          </a:lstStyle>
          <a:p>
            <a:pPr>
              <a:defRPr/>
            </a:pPr>
            <a:r>
              <a:rPr lang="en-US"/>
              <a:t>Slide </a:t>
            </a:r>
            <a:fld id="{3006E235-0EBD-4407-B9E9-0F2CCB6A373F}" type="slidenum">
              <a:rPr lang="en-US"/>
              <a:pPr>
                <a:defRPr/>
              </a:pPr>
              <a:t>‹#›</a:t>
            </a:fld>
            <a:endParaRPr lang="en-US"/>
          </a:p>
        </p:txBody>
      </p:sp>
      <p:sp>
        <p:nvSpPr>
          <p:cNvPr id="104454" name="Line 6"/>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
        <p:nvSpPr>
          <p:cNvPr id="104455" name="Line 7"/>
          <p:cNvSpPr>
            <a:spLocks noChangeShapeType="1"/>
          </p:cNvSpPr>
          <p:nvPr/>
        </p:nvSpPr>
        <p:spPr bwMode="auto">
          <a:xfrm>
            <a:off x="914400" y="1209675"/>
            <a:ext cx="7313613"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Tree>
  </p:cSld>
  <p:clrMap bg1="lt1" tx1="dk1" bg2="lt2" tx2="dk2" accent1="accent1" accent2="accent2" accent3="accent3" accent4="accent4" accent5="accent5" accent6="accent6" hlink="hlink" folHlink="folHlink"/>
  <p:sldLayoutIdLst>
    <p:sldLayoutId id="2147483854" r:id="rId1"/>
    <p:sldLayoutId id="2147483844" r:id="rId2"/>
    <p:sldLayoutId id="2147483846" r:id="rId3"/>
    <p:sldLayoutId id="2147483848" r:id="rId4"/>
    <p:sldLayoutId id="2147483849" r:id="rId5"/>
  </p:sldLayoutIdLst>
  <p:hf hdr="0" dt="0"/>
  <p:txStyles>
    <p:titleStyle>
      <a:lvl1pPr algn="ctr" rtl="0" eaLnBrk="0" fontAlgn="base" hangingPunct="0">
        <a:spcBef>
          <a:spcPct val="0"/>
        </a:spcBef>
        <a:spcAft>
          <a:spcPct val="0"/>
        </a:spcAft>
        <a:defRPr kumimoji="1" sz="2800">
          <a:solidFill>
            <a:schemeClr val="tx1"/>
          </a:solidFill>
          <a:latin typeface="+mj-lt"/>
          <a:ea typeface="+mj-ea"/>
          <a:cs typeface="+mj-cs"/>
        </a:defRPr>
      </a:lvl1pPr>
      <a:lvl2pPr algn="ctr" rtl="0" eaLnBrk="0" fontAlgn="base" hangingPunct="0">
        <a:spcBef>
          <a:spcPct val="0"/>
        </a:spcBef>
        <a:spcAft>
          <a:spcPct val="0"/>
        </a:spcAft>
        <a:defRPr kumimoji="1" sz="3000">
          <a:solidFill>
            <a:schemeClr val="tx1"/>
          </a:solidFill>
          <a:latin typeface="Arial" charset="0"/>
        </a:defRPr>
      </a:lvl2pPr>
      <a:lvl3pPr algn="ctr" rtl="0" eaLnBrk="0" fontAlgn="base" hangingPunct="0">
        <a:spcBef>
          <a:spcPct val="0"/>
        </a:spcBef>
        <a:spcAft>
          <a:spcPct val="0"/>
        </a:spcAft>
        <a:defRPr kumimoji="1" sz="3000">
          <a:solidFill>
            <a:schemeClr val="tx1"/>
          </a:solidFill>
          <a:latin typeface="Arial" charset="0"/>
        </a:defRPr>
      </a:lvl3pPr>
      <a:lvl4pPr algn="ctr" rtl="0" eaLnBrk="0" fontAlgn="base" hangingPunct="0">
        <a:spcBef>
          <a:spcPct val="0"/>
        </a:spcBef>
        <a:spcAft>
          <a:spcPct val="0"/>
        </a:spcAft>
        <a:defRPr kumimoji="1" sz="3000">
          <a:solidFill>
            <a:schemeClr val="tx1"/>
          </a:solidFill>
          <a:latin typeface="Arial" charset="0"/>
        </a:defRPr>
      </a:lvl4pPr>
      <a:lvl5pPr algn="ctr" rtl="0" eaLnBrk="0" fontAlgn="base" hangingPunct="0">
        <a:spcBef>
          <a:spcPct val="0"/>
        </a:spcBef>
        <a:spcAft>
          <a:spcPct val="0"/>
        </a:spcAft>
        <a:defRPr kumimoji="1" sz="3000">
          <a:solidFill>
            <a:schemeClr val="tx1"/>
          </a:solidFill>
          <a:latin typeface="Arial" charset="0"/>
        </a:defRPr>
      </a:lvl5pPr>
      <a:lvl6pPr marL="457200" algn="ctr" rtl="0" eaLnBrk="0" fontAlgn="base" hangingPunct="0">
        <a:spcBef>
          <a:spcPct val="0"/>
        </a:spcBef>
        <a:spcAft>
          <a:spcPct val="0"/>
        </a:spcAft>
        <a:defRPr kumimoji="1" sz="3000">
          <a:solidFill>
            <a:schemeClr val="tx1"/>
          </a:solidFill>
          <a:latin typeface="Arial" charset="0"/>
        </a:defRPr>
      </a:lvl6pPr>
      <a:lvl7pPr marL="914400" algn="ctr" rtl="0" eaLnBrk="0" fontAlgn="base" hangingPunct="0">
        <a:spcBef>
          <a:spcPct val="0"/>
        </a:spcBef>
        <a:spcAft>
          <a:spcPct val="0"/>
        </a:spcAft>
        <a:defRPr kumimoji="1" sz="3000">
          <a:solidFill>
            <a:schemeClr val="tx1"/>
          </a:solidFill>
          <a:latin typeface="Arial" charset="0"/>
        </a:defRPr>
      </a:lvl7pPr>
      <a:lvl8pPr marL="1371600" algn="ctr" rtl="0" eaLnBrk="0" fontAlgn="base" hangingPunct="0">
        <a:spcBef>
          <a:spcPct val="0"/>
        </a:spcBef>
        <a:spcAft>
          <a:spcPct val="0"/>
        </a:spcAft>
        <a:defRPr kumimoji="1" sz="3000">
          <a:solidFill>
            <a:schemeClr val="tx1"/>
          </a:solidFill>
          <a:latin typeface="Arial" charset="0"/>
        </a:defRPr>
      </a:lvl8pPr>
      <a:lvl9pPr marL="1828800" algn="ctr" rtl="0" eaLnBrk="0" fontAlgn="base" hangingPunct="0">
        <a:spcBef>
          <a:spcPct val="0"/>
        </a:spcBef>
        <a:spcAft>
          <a:spcPct val="0"/>
        </a:spcAft>
        <a:defRPr kumimoji="1" sz="3000">
          <a:solidFill>
            <a:schemeClr val="tx1"/>
          </a:solidFill>
          <a:latin typeface="Arial" charset="0"/>
        </a:defRPr>
      </a:lvl9pPr>
    </p:titleStyle>
    <p:bodyStyle>
      <a:lvl1pPr marL="342900" indent="-342900" algn="l" rtl="0" eaLnBrk="0" fontAlgn="base" hangingPunct="0">
        <a:spcBef>
          <a:spcPct val="50000"/>
        </a:spcBef>
        <a:spcAft>
          <a:spcPct val="0"/>
        </a:spcAft>
        <a:buSzPct val="125000"/>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defRPr>
      </a:lvl2pPr>
      <a:lvl3pPr marL="1143000" indent="-228600" algn="l" rtl="0" eaLnBrk="0" fontAlgn="base" hangingPunct="0">
        <a:spcBef>
          <a:spcPct val="20000"/>
        </a:spcBef>
        <a:spcAft>
          <a:spcPct val="0"/>
        </a:spcAft>
        <a:buSzPct val="125000"/>
        <a:buChar char="•"/>
        <a:defRPr kumimoji="1" sz="1800">
          <a:solidFill>
            <a:schemeClr val="tx1"/>
          </a:solidFill>
          <a:latin typeface="+mn-lt"/>
        </a:defRPr>
      </a:lvl3pPr>
      <a:lvl4pPr marL="1600200" indent="-228600" algn="l" rtl="0" eaLnBrk="0" fontAlgn="base" hangingPunct="0">
        <a:spcBef>
          <a:spcPct val="20000"/>
        </a:spcBef>
        <a:spcAft>
          <a:spcPct val="0"/>
        </a:spcAft>
        <a:buChar char="–"/>
        <a:defRPr kumimoji="1" sz="1600">
          <a:solidFill>
            <a:schemeClr val="tx1"/>
          </a:solidFill>
          <a:latin typeface="+mn-lt"/>
        </a:defRPr>
      </a:lvl4pPr>
      <a:lvl5pPr marL="2057400" indent="-228600" algn="l" rtl="0" eaLnBrk="0" fontAlgn="base" hangingPunct="0">
        <a:spcBef>
          <a:spcPct val="20000"/>
        </a:spcBef>
        <a:spcAft>
          <a:spcPct val="0"/>
        </a:spcAft>
        <a:buSzPct val="125000"/>
        <a:buChar char="•"/>
        <a:defRPr kumimoji="1" sz="1400">
          <a:solidFill>
            <a:schemeClr val="tx1"/>
          </a:solidFill>
          <a:latin typeface="+mn-lt"/>
        </a:defRPr>
      </a:lvl5pPr>
      <a:lvl6pPr marL="2514600" indent="-228600" algn="l" rtl="0" eaLnBrk="0" fontAlgn="base" hangingPunct="0">
        <a:spcBef>
          <a:spcPct val="20000"/>
        </a:spcBef>
        <a:spcAft>
          <a:spcPct val="0"/>
        </a:spcAft>
        <a:buSzPct val="125000"/>
        <a:buChar char="•"/>
        <a:defRPr kumimoji="1" sz="1400">
          <a:solidFill>
            <a:schemeClr val="tx1"/>
          </a:solidFill>
          <a:latin typeface="+mn-lt"/>
        </a:defRPr>
      </a:lvl6pPr>
      <a:lvl7pPr marL="2971800" indent="-228600" algn="l" rtl="0" eaLnBrk="0" fontAlgn="base" hangingPunct="0">
        <a:spcBef>
          <a:spcPct val="20000"/>
        </a:spcBef>
        <a:spcAft>
          <a:spcPct val="0"/>
        </a:spcAft>
        <a:buSzPct val="125000"/>
        <a:buChar char="•"/>
        <a:defRPr kumimoji="1" sz="1400">
          <a:solidFill>
            <a:schemeClr val="tx1"/>
          </a:solidFill>
          <a:latin typeface="+mn-lt"/>
        </a:defRPr>
      </a:lvl7pPr>
      <a:lvl8pPr marL="3429000" indent="-228600" algn="l" rtl="0" eaLnBrk="0" fontAlgn="base" hangingPunct="0">
        <a:spcBef>
          <a:spcPct val="20000"/>
        </a:spcBef>
        <a:spcAft>
          <a:spcPct val="0"/>
        </a:spcAft>
        <a:buSzPct val="125000"/>
        <a:buChar char="•"/>
        <a:defRPr kumimoji="1" sz="1400">
          <a:solidFill>
            <a:schemeClr val="tx1"/>
          </a:solidFill>
          <a:latin typeface="+mn-lt"/>
        </a:defRPr>
      </a:lvl8pPr>
      <a:lvl9pPr marL="3886200" indent="-228600" algn="l" rtl="0" eaLnBrk="0" fontAlgn="base" hangingPunct="0">
        <a:spcBef>
          <a:spcPct val="20000"/>
        </a:spcBef>
        <a:spcAft>
          <a:spcPct val="0"/>
        </a:spcAft>
        <a:buSzPct val="125000"/>
        <a:buChar char="•"/>
        <a:defRPr kumimoji="1"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ftr" sz="quarter" idx="10"/>
          </p:nvPr>
        </p:nvSpPr>
        <p:spPr>
          <a:noFill/>
        </p:spPr>
        <p:txBody>
          <a:bodyPr/>
          <a:lstStyle/>
          <a:p>
            <a:r>
              <a:rPr lang="en-US" dirty="0"/>
              <a:t>©</a:t>
            </a:r>
            <a:r>
              <a:rPr lang="en-US" dirty="0" err="1"/>
              <a:t>SoftMoore</a:t>
            </a:r>
            <a:r>
              <a:rPr lang="en-US" dirty="0"/>
              <a:t> Consulting</a:t>
            </a:r>
          </a:p>
        </p:txBody>
      </p:sp>
      <p:sp>
        <p:nvSpPr>
          <p:cNvPr id="3075" name="Rectangle 6"/>
          <p:cNvSpPr>
            <a:spLocks noGrp="1" noChangeArrowheads="1"/>
          </p:cNvSpPr>
          <p:nvPr>
            <p:ph type="sldNum" sz="quarter" idx="11"/>
          </p:nvPr>
        </p:nvSpPr>
        <p:spPr>
          <a:noFill/>
        </p:spPr>
        <p:txBody>
          <a:bodyPr/>
          <a:lstStyle/>
          <a:p>
            <a:r>
              <a:rPr lang="en-US"/>
              <a:t>Slide </a:t>
            </a:r>
            <a:fld id="{05E1C5B7-E473-48DA-85C5-A1683C15293C}" type="slidenum">
              <a:rPr lang="en-US" smtClean="0"/>
              <a:pPr/>
              <a:t>1</a:t>
            </a:fld>
            <a:endParaRPr lang="en-US"/>
          </a:p>
        </p:txBody>
      </p:sp>
      <p:sp>
        <p:nvSpPr>
          <p:cNvPr id="3076" name="Rectangle 2"/>
          <p:cNvSpPr>
            <a:spLocks noGrp="1" noChangeArrowheads="1"/>
          </p:cNvSpPr>
          <p:nvPr>
            <p:ph type="ctrTitle"/>
          </p:nvPr>
        </p:nvSpPr>
        <p:spPr/>
        <p:txBody>
          <a:bodyPr/>
          <a:lstStyle/>
          <a:p>
            <a:r>
              <a:rPr lang="en-US" dirty="0"/>
              <a:t>Subprograms</a:t>
            </a:r>
          </a:p>
        </p:txBody>
      </p:sp>
      <p:sp>
        <p:nvSpPr>
          <p:cNvPr id="3077" name="Rectangle 3"/>
          <p:cNvSpPr>
            <a:spLocks noGrp="1" noChangeArrowheads="1"/>
          </p:cNvSpPr>
          <p:nvPr>
            <p:ph type="subTitle" idx="1"/>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a:t>Subprograms</a:t>
            </a:r>
          </a:p>
        </p:txBody>
      </p:sp>
      <p:sp>
        <p:nvSpPr>
          <p:cNvPr id="4099" name="Content Placeholder 2"/>
          <p:cNvSpPr>
            <a:spLocks noGrp="1"/>
          </p:cNvSpPr>
          <p:nvPr>
            <p:ph idx="1"/>
          </p:nvPr>
        </p:nvSpPr>
        <p:spPr/>
        <p:txBody>
          <a:bodyPr/>
          <a:lstStyle/>
          <a:p>
            <a:r>
              <a:rPr lang="en-US" dirty="0"/>
              <a:t>The term </a:t>
            </a:r>
            <a:r>
              <a:rPr lang="en-US" i="1" dirty="0"/>
              <a:t>subprogram</a:t>
            </a:r>
            <a:r>
              <a:rPr lang="en-US" dirty="0"/>
              <a:t> will be used to mean either a </a:t>
            </a:r>
            <a:r>
              <a:rPr lang="en-US" i="1" dirty="0"/>
              <a:t>procedure</a:t>
            </a:r>
            <a:r>
              <a:rPr lang="en-US" dirty="0"/>
              <a:t> or a </a:t>
            </a:r>
            <a:r>
              <a:rPr lang="en-US" i="1" dirty="0"/>
              <a:t>function</a:t>
            </a:r>
            <a:r>
              <a:rPr lang="en-US" dirty="0"/>
              <a:t>.</a:t>
            </a:r>
          </a:p>
          <a:p>
            <a:r>
              <a:rPr lang="en-US" dirty="0"/>
              <a:t>We have already addressed subprograms and issues of scope within the scanner, parser, and identifier table, so most of the remaining effort required to implement subprograms involves modifications of the AST classes.</a:t>
            </a:r>
          </a:p>
        </p:txBody>
      </p:sp>
      <p:sp>
        <p:nvSpPr>
          <p:cNvPr id="4100" name="Footer Placeholder 3"/>
          <p:cNvSpPr>
            <a:spLocks noGrp="1"/>
          </p:cNvSpPr>
          <p:nvPr>
            <p:ph type="ftr" sz="quarter" idx="10"/>
          </p:nvPr>
        </p:nvSpPr>
        <p:spPr>
          <a:noFill/>
        </p:spPr>
        <p:txBody>
          <a:bodyPr/>
          <a:lstStyle/>
          <a:p>
            <a:r>
              <a:rPr lang="en-US"/>
              <a:t>©SoftMoore Consulting</a:t>
            </a:r>
          </a:p>
        </p:txBody>
      </p:sp>
      <p:sp>
        <p:nvSpPr>
          <p:cNvPr id="4101" name="Slide Number Placeholder 4"/>
          <p:cNvSpPr>
            <a:spLocks noGrp="1"/>
          </p:cNvSpPr>
          <p:nvPr>
            <p:ph type="sldNum" sz="quarter" idx="11"/>
          </p:nvPr>
        </p:nvSpPr>
        <p:spPr>
          <a:noFill/>
        </p:spPr>
        <p:txBody>
          <a:bodyPr/>
          <a:lstStyle/>
          <a:p>
            <a:r>
              <a:rPr lang="en-US"/>
              <a:t>Slide </a:t>
            </a:r>
            <a:fld id="{CCCB5BDA-6201-4109-B9AB-F34465C2450F}"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dirty="0"/>
              <a:t>Relevant Parser Methods</a:t>
            </a:r>
            <a:br>
              <a:rPr lang="en-US" dirty="0"/>
            </a:br>
            <a:r>
              <a:rPr lang="en-US" sz="2400" dirty="0"/>
              <a:t>(based on grammar rules)</a:t>
            </a:r>
          </a:p>
        </p:txBody>
      </p:sp>
      <p:sp>
        <p:nvSpPr>
          <p:cNvPr id="10243" name="Content Placeholder 2"/>
          <p:cNvSpPr>
            <a:spLocks noGrp="1"/>
          </p:cNvSpPr>
          <p:nvPr>
            <p:ph idx="1"/>
          </p:nvPr>
        </p:nvSpPr>
        <p:spPr/>
        <p:txBody>
          <a:bodyPr/>
          <a:lstStyle/>
          <a:p>
            <a:pPr marL="525780">
              <a:spcBef>
                <a:spcPts val="1200"/>
              </a:spcBef>
            </a:pPr>
            <a:r>
              <a:rPr lang="en-US" sz="2000" dirty="0">
                <a:latin typeface="Consolas" pitchFamily="49" charset="0"/>
                <a:cs typeface="Consolas" pitchFamily="49" charset="0"/>
              </a:rPr>
              <a:t>private List&lt;SubprogramDecl&gt; </a:t>
            </a:r>
            <a:r>
              <a:rPr lang="en-US" sz="2000" dirty="0" err="1">
                <a:latin typeface="Consolas" pitchFamily="49" charset="0"/>
                <a:cs typeface="Consolas" pitchFamily="49" charset="0"/>
              </a:rPr>
              <a:t>parseSubprogramDecls</a:t>
            </a:r>
            <a:r>
              <a:rPr lang="en-US" sz="2000" dirty="0">
                <a:latin typeface="Consolas" pitchFamily="49" charset="0"/>
                <a:cs typeface="Consolas" pitchFamily="49" charset="0"/>
              </a:rPr>
              <a:t>()</a:t>
            </a:r>
          </a:p>
          <a:p>
            <a:pPr marL="525780">
              <a:spcBef>
                <a:spcPts val="1200"/>
              </a:spcBef>
            </a:pPr>
            <a:r>
              <a:rPr lang="en-US" sz="2000" dirty="0">
                <a:latin typeface="Consolas" pitchFamily="49" charset="0"/>
                <a:cs typeface="Consolas" pitchFamily="49" charset="0"/>
              </a:rPr>
              <a:t>private SubprogramDecl       </a:t>
            </a:r>
            <a:r>
              <a:rPr lang="en-US" sz="2000" dirty="0" err="1">
                <a:latin typeface="Consolas" pitchFamily="49" charset="0"/>
                <a:cs typeface="Consolas" pitchFamily="49" charset="0"/>
              </a:rPr>
              <a:t>parseSubprogramDecl</a:t>
            </a:r>
            <a:r>
              <a:rPr lang="en-US" sz="2000" dirty="0">
                <a:latin typeface="Consolas" pitchFamily="49" charset="0"/>
                <a:cs typeface="Consolas" pitchFamily="49" charset="0"/>
              </a:rPr>
              <a:t>()</a:t>
            </a:r>
          </a:p>
          <a:p>
            <a:pPr marL="525780">
              <a:spcBef>
                <a:spcPts val="1200"/>
              </a:spcBef>
            </a:pPr>
            <a:r>
              <a:rPr lang="en-US" sz="2000" dirty="0">
                <a:latin typeface="Consolas" pitchFamily="49" charset="0"/>
                <a:cs typeface="Consolas" pitchFamily="49" charset="0"/>
              </a:rPr>
              <a:t>private SubprogramDecl       </a:t>
            </a:r>
            <a:r>
              <a:rPr lang="en-US" sz="2000" dirty="0" err="1">
                <a:latin typeface="Consolas" pitchFamily="49" charset="0"/>
                <a:cs typeface="Consolas" pitchFamily="49" charset="0"/>
              </a:rPr>
              <a:t>parseProcedureDecl</a:t>
            </a:r>
            <a:r>
              <a:rPr lang="en-US" sz="2000" dirty="0">
                <a:latin typeface="Consolas" pitchFamily="49" charset="0"/>
                <a:cs typeface="Consolas" pitchFamily="49" charset="0"/>
              </a:rPr>
              <a:t>()</a:t>
            </a:r>
          </a:p>
          <a:p>
            <a:pPr marL="525780">
              <a:spcBef>
                <a:spcPts val="1200"/>
              </a:spcBef>
            </a:pPr>
            <a:r>
              <a:rPr lang="en-US" sz="2000" dirty="0">
                <a:latin typeface="Consolas" pitchFamily="49" charset="0"/>
                <a:cs typeface="Consolas" pitchFamily="49" charset="0"/>
              </a:rPr>
              <a:t>private SubprogramDecl       </a:t>
            </a:r>
            <a:r>
              <a:rPr lang="en-US" sz="2000" dirty="0" err="1">
                <a:latin typeface="Consolas" pitchFamily="49" charset="0"/>
                <a:cs typeface="Consolas" pitchFamily="49" charset="0"/>
              </a:rPr>
              <a:t>parseFunctionDecl</a:t>
            </a:r>
            <a:r>
              <a:rPr lang="en-US" sz="2000" dirty="0">
                <a:latin typeface="Consolas" pitchFamily="49" charset="0"/>
                <a:cs typeface="Consolas" pitchFamily="49" charset="0"/>
              </a:rPr>
              <a:t>()</a:t>
            </a:r>
          </a:p>
          <a:p>
            <a:pPr marL="525780">
              <a:spcBef>
                <a:spcPts val="1200"/>
              </a:spcBef>
            </a:pPr>
            <a:r>
              <a:rPr lang="en-US" sz="2000" dirty="0">
                <a:latin typeface="Consolas" pitchFamily="49" charset="0"/>
                <a:cs typeface="Consolas" pitchFamily="49" charset="0"/>
              </a:rPr>
              <a:t>private List&lt;</a:t>
            </a:r>
            <a:r>
              <a:rPr lang="en-US" sz="2000" dirty="0" err="1">
                <a:latin typeface="Consolas" pitchFamily="49" charset="0"/>
                <a:cs typeface="Consolas" pitchFamily="49" charset="0"/>
              </a:rPr>
              <a:t>ParameterDecl</a:t>
            </a:r>
            <a:r>
              <a:rPr lang="en-US" sz="2000" dirty="0">
                <a:latin typeface="Consolas" pitchFamily="49" charset="0"/>
                <a:cs typeface="Consolas" pitchFamily="49" charset="0"/>
              </a:rPr>
              <a:t>&gt;  </a:t>
            </a:r>
            <a:r>
              <a:rPr lang="en-US" sz="2000" dirty="0" err="1">
                <a:latin typeface="Consolas" pitchFamily="49" charset="0"/>
                <a:cs typeface="Consolas" pitchFamily="49" charset="0"/>
              </a:rPr>
              <a:t>parseParameterDecls</a:t>
            </a:r>
            <a:r>
              <a:rPr lang="en-US" sz="2000" dirty="0">
                <a:latin typeface="Consolas" pitchFamily="49" charset="0"/>
                <a:cs typeface="Consolas" pitchFamily="49" charset="0"/>
              </a:rPr>
              <a:t>()</a:t>
            </a:r>
          </a:p>
          <a:p>
            <a:pPr marL="525780">
              <a:spcBef>
                <a:spcPts val="1200"/>
              </a:spcBef>
            </a:pPr>
            <a:r>
              <a:rPr lang="en-US" sz="2000" dirty="0">
                <a:latin typeface="Consolas" pitchFamily="49" charset="0"/>
                <a:cs typeface="Consolas" pitchFamily="49" charset="0"/>
              </a:rPr>
              <a:t>private </a:t>
            </a:r>
            <a:r>
              <a:rPr lang="en-US" sz="2000" dirty="0" err="1">
                <a:latin typeface="Consolas" pitchFamily="49" charset="0"/>
                <a:cs typeface="Consolas" pitchFamily="49" charset="0"/>
              </a:rPr>
              <a:t>ParameterDecl</a:t>
            </a:r>
            <a:r>
              <a:rPr lang="en-US" sz="2000" dirty="0">
                <a:latin typeface="Consolas" pitchFamily="49" charset="0"/>
                <a:cs typeface="Consolas" pitchFamily="49" charset="0"/>
              </a:rPr>
              <a:t>        </a:t>
            </a:r>
            <a:r>
              <a:rPr lang="en-US" sz="2000" dirty="0" err="1">
                <a:latin typeface="Consolas" pitchFamily="49" charset="0"/>
                <a:cs typeface="Consolas" pitchFamily="49" charset="0"/>
              </a:rPr>
              <a:t>parseParameterDecl</a:t>
            </a:r>
            <a:r>
              <a:rPr lang="en-US" sz="2000" dirty="0">
                <a:latin typeface="Consolas" pitchFamily="49" charset="0"/>
                <a:cs typeface="Consolas" pitchFamily="49" charset="0"/>
              </a:rPr>
              <a:t>()</a:t>
            </a:r>
          </a:p>
          <a:p>
            <a:pPr marL="525780">
              <a:spcBef>
                <a:spcPts val="1200"/>
              </a:spcBef>
            </a:pPr>
            <a:r>
              <a:rPr lang="en-US" sz="2000" dirty="0">
                <a:latin typeface="Consolas" pitchFamily="49" charset="0"/>
                <a:cs typeface="Consolas" pitchFamily="49" charset="0"/>
              </a:rPr>
              <a:t>private Statement            </a:t>
            </a:r>
            <a:r>
              <a:rPr lang="en-US" sz="2000" dirty="0" err="1">
                <a:latin typeface="Consolas" pitchFamily="49" charset="0"/>
                <a:cs typeface="Consolas" pitchFamily="49" charset="0"/>
              </a:rPr>
              <a:t>parseProcedureCallStmt</a:t>
            </a:r>
            <a:r>
              <a:rPr lang="en-US" sz="2000" dirty="0">
                <a:latin typeface="Consolas" pitchFamily="49" charset="0"/>
                <a:cs typeface="Consolas" pitchFamily="49" charset="0"/>
              </a:rPr>
              <a:t>()</a:t>
            </a:r>
          </a:p>
          <a:p>
            <a:pPr marL="525780">
              <a:spcBef>
                <a:spcPts val="1200"/>
              </a:spcBef>
            </a:pPr>
            <a:r>
              <a:rPr lang="en-US" sz="2000" dirty="0">
                <a:latin typeface="Consolas" pitchFamily="49" charset="0"/>
                <a:cs typeface="Consolas" pitchFamily="49" charset="0"/>
              </a:rPr>
              <a:t>private List&lt;Expression&gt;     </a:t>
            </a:r>
            <a:r>
              <a:rPr lang="en-US" sz="2000" dirty="0" err="1">
                <a:latin typeface="Consolas" pitchFamily="49" charset="0"/>
                <a:cs typeface="Consolas" pitchFamily="49" charset="0"/>
              </a:rPr>
              <a:t>parseExpressions</a:t>
            </a:r>
            <a:r>
              <a:rPr lang="en-US" sz="2000" dirty="0">
                <a:latin typeface="Consolas" pitchFamily="49" charset="0"/>
                <a:cs typeface="Consolas" pitchFamily="49" charset="0"/>
              </a:rPr>
              <a:t>()</a:t>
            </a:r>
            <a:br>
              <a:rPr lang="en-US" sz="2000" dirty="0">
                <a:latin typeface="Consolas" pitchFamily="49" charset="0"/>
                <a:cs typeface="Consolas" pitchFamily="49" charset="0"/>
              </a:rPr>
            </a:br>
            <a:r>
              <a:rPr lang="en-US" sz="2000" dirty="0">
                <a:latin typeface="Consolas" pitchFamily="49" charset="0"/>
                <a:cs typeface="Consolas" pitchFamily="49" charset="0"/>
              </a:rPr>
              <a:t>    // for actual params</a:t>
            </a:r>
          </a:p>
          <a:p>
            <a:pPr marL="525780">
              <a:spcBef>
                <a:spcPts val="1200"/>
              </a:spcBef>
            </a:pPr>
            <a:r>
              <a:rPr lang="en-US" sz="2000" dirty="0">
                <a:latin typeface="Consolas" pitchFamily="49" charset="0"/>
                <a:cs typeface="Consolas" pitchFamily="49" charset="0"/>
              </a:rPr>
              <a:t>private Statement            </a:t>
            </a:r>
            <a:r>
              <a:rPr lang="en-US" sz="2000" dirty="0" err="1">
                <a:latin typeface="Consolas" pitchFamily="49" charset="0"/>
                <a:cs typeface="Consolas" pitchFamily="49" charset="0"/>
              </a:rPr>
              <a:t>parseReturnStmt</a:t>
            </a:r>
            <a:r>
              <a:rPr lang="en-US" sz="2000" dirty="0">
                <a:latin typeface="Consolas" pitchFamily="49" charset="0"/>
                <a:cs typeface="Consolas" pitchFamily="49" charset="0"/>
              </a:rPr>
              <a:t>()</a:t>
            </a:r>
          </a:p>
          <a:p>
            <a:pPr marL="525780">
              <a:spcBef>
                <a:spcPts val="1200"/>
              </a:spcBef>
            </a:pPr>
            <a:r>
              <a:rPr lang="en-US" sz="2000" dirty="0">
                <a:latin typeface="Consolas" pitchFamily="49" charset="0"/>
                <a:cs typeface="Consolas" pitchFamily="49" charset="0"/>
              </a:rPr>
              <a:t>private Expression           </a:t>
            </a:r>
            <a:r>
              <a:rPr lang="en-US" sz="2000" dirty="0" err="1">
                <a:latin typeface="Consolas" pitchFamily="49" charset="0"/>
                <a:cs typeface="Consolas" pitchFamily="49" charset="0"/>
              </a:rPr>
              <a:t>parseFunctionCallExpr</a:t>
            </a:r>
            <a:r>
              <a:rPr lang="en-US" sz="2000" dirty="0">
                <a:latin typeface="Consolas" pitchFamily="49" charset="0"/>
                <a:cs typeface="Consolas" pitchFamily="49" charset="0"/>
              </a:rPr>
              <a:t>()</a:t>
            </a:r>
          </a:p>
        </p:txBody>
      </p:sp>
      <p:sp>
        <p:nvSpPr>
          <p:cNvPr id="10244" name="Footer Placeholder 3"/>
          <p:cNvSpPr>
            <a:spLocks noGrp="1"/>
          </p:cNvSpPr>
          <p:nvPr>
            <p:ph type="ftr" sz="quarter" idx="10"/>
          </p:nvPr>
        </p:nvSpPr>
        <p:spPr>
          <a:noFill/>
        </p:spPr>
        <p:txBody>
          <a:bodyPr/>
          <a:lstStyle/>
          <a:p>
            <a:r>
              <a:rPr lang="en-US"/>
              <a:t>©SoftMoore Consulting</a:t>
            </a:r>
          </a:p>
        </p:txBody>
      </p:sp>
      <p:sp>
        <p:nvSpPr>
          <p:cNvPr id="10245" name="Slide Number Placeholder 4"/>
          <p:cNvSpPr>
            <a:spLocks noGrp="1"/>
          </p:cNvSpPr>
          <p:nvPr>
            <p:ph type="sldNum" sz="quarter" idx="11"/>
          </p:nvPr>
        </p:nvSpPr>
        <p:spPr>
          <a:noFill/>
        </p:spPr>
        <p:txBody>
          <a:bodyPr/>
          <a:lstStyle/>
          <a:p>
            <a:r>
              <a:rPr lang="en-US"/>
              <a:t>Slide </a:t>
            </a:r>
            <a:fld id="{0F913F4D-88D4-4F43-AAC0-039367251AF5}"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2"/>
          <p:cNvSpPr>
            <a:spLocks noGrp="1"/>
          </p:cNvSpPr>
          <p:nvPr>
            <p:ph type="ftr" sz="quarter" idx="10"/>
          </p:nvPr>
        </p:nvSpPr>
        <p:spPr>
          <a:noFill/>
        </p:spPr>
        <p:txBody>
          <a:bodyPr/>
          <a:lstStyle/>
          <a:p>
            <a:r>
              <a:rPr lang="en-US"/>
              <a:t>©SoftMoore Consulting</a:t>
            </a:r>
          </a:p>
        </p:txBody>
      </p:sp>
      <p:sp>
        <p:nvSpPr>
          <p:cNvPr id="11267" name="Slide Number Placeholder 3"/>
          <p:cNvSpPr>
            <a:spLocks noGrp="1"/>
          </p:cNvSpPr>
          <p:nvPr>
            <p:ph type="sldNum" sz="quarter" idx="11"/>
          </p:nvPr>
        </p:nvSpPr>
        <p:spPr>
          <a:noFill/>
        </p:spPr>
        <p:txBody>
          <a:bodyPr/>
          <a:lstStyle/>
          <a:p>
            <a:r>
              <a:rPr lang="en-US"/>
              <a:t>Slide </a:t>
            </a:r>
            <a:fld id="{CBE60CEC-B1EA-4690-9C7B-982C9BE6BA91}" type="slidenum">
              <a:rPr lang="en-US" smtClean="0"/>
              <a:pPr/>
              <a:t>4</a:t>
            </a:fld>
            <a:endParaRPr lang="en-US"/>
          </a:p>
        </p:txBody>
      </p:sp>
      <p:sp>
        <p:nvSpPr>
          <p:cNvPr id="11268" name="Rectangle 2"/>
          <p:cNvSpPr>
            <a:spLocks noGrp="1" noChangeArrowheads="1"/>
          </p:cNvSpPr>
          <p:nvPr>
            <p:ph type="title"/>
          </p:nvPr>
        </p:nvSpPr>
        <p:spPr/>
        <p:txBody>
          <a:bodyPr/>
          <a:lstStyle/>
          <a:p>
            <a:r>
              <a:rPr lang="en-US" dirty="0"/>
              <a:t>Inheritance Hierarchy for</a:t>
            </a:r>
            <a:br>
              <a:rPr lang="en-US" dirty="0"/>
            </a:br>
            <a:r>
              <a:rPr lang="en-US" dirty="0"/>
              <a:t>Relevant AST Classes</a:t>
            </a:r>
          </a:p>
        </p:txBody>
      </p:sp>
      <p:grpSp>
        <p:nvGrpSpPr>
          <p:cNvPr id="4" name="Group 3">
            <a:extLst>
              <a:ext uri="{FF2B5EF4-FFF2-40B4-BE49-F238E27FC236}">
                <a16:creationId xmlns:a16="http://schemas.microsoft.com/office/drawing/2014/main" id="{6338636D-9A3E-43E7-8AC3-424C2F90F113}"/>
              </a:ext>
            </a:extLst>
          </p:cNvPr>
          <p:cNvGrpSpPr/>
          <p:nvPr/>
        </p:nvGrpSpPr>
        <p:grpSpPr>
          <a:xfrm>
            <a:off x="266700" y="1905000"/>
            <a:ext cx="8610600" cy="3467015"/>
            <a:chOff x="381000" y="1977581"/>
            <a:chExt cx="8610600" cy="3467015"/>
          </a:xfrm>
        </p:grpSpPr>
        <p:sp>
          <p:nvSpPr>
            <p:cNvPr id="11269" name="Text Box 4"/>
            <p:cNvSpPr txBox="1">
              <a:spLocks noChangeArrowheads="1"/>
            </p:cNvSpPr>
            <p:nvPr/>
          </p:nvSpPr>
          <p:spPr bwMode="auto">
            <a:xfrm>
              <a:off x="4394554" y="1977581"/>
              <a:ext cx="583493" cy="339196"/>
            </a:xfrm>
            <a:prstGeom prst="rect">
              <a:avLst/>
            </a:prstGeom>
            <a:noFill/>
            <a:ln w="9525">
              <a:solidFill>
                <a:schemeClr val="tx1"/>
              </a:solidFill>
              <a:miter lim="800000"/>
              <a:headEnd/>
              <a:tailEnd/>
            </a:ln>
          </p:spPr>
          <p:txBody>
            <a:bodyPr wrap="none" lIns="92075" tIns="46038" rIns="92075" bIns="46038">
              <a:spAutoFit/>
            </a:bodyPr>
            <a:lstStyle/>
            <a:p>
              <a:pPr>
                <a:spcBef>
                  <a:spcPct val="50000"/>
                </a:spcBef>
              </a:pPr>
              <a:r>
                <a:rPr lang="en-US" sz="1600" i="1" dirty="0">
                  <a:latin typeface="+mn-lt"/>
                </a:rPr>
                <a:t>AST</a:t>
              </a:r>
            </a:p>
          </p:txBody>
        </p:sp>
        <p:sp>
          <p:nvSpPr>
            <p:cNvPr id="11271" name="Rectangle 6"/>
            <p:cNvSpPr>
              <a:spLocks noChangeArrowheads="1"/>
            </p:cNvSpPr>
            <p:nvPr/>
          </p:nvSpPr>
          <p:spPr bwMode="auto">
            <a:xfrm>
              <a:off x="1399052" y="2989506"/>
              <a:ext cx="1221489" cy="339196"/>
            </a:xfrm>
            <a:prstGeom prst="rect">
              <a:avLst/>
            </a:prstGeom>
            <a:noFill/>
            <a:ln w="9525">
              <a:solidFill>
                <a:schemeClr val="tx1"/>
              </a:solidFill>
              <a:miter lim="800000"/>
              <a:headEnd/>
              <a:tailEnd/>
            </a:ln>
          </p:spPr>
          <p:txBody>
            <a:bodyPr wrap="none" lIns="92075" tIns="46038" rIns="92075" bIns="46038" anchor="ctr">
              <a:spAutoFit/>
            </a:bodyPr>
            <a:lstStyle/>
            <a:p>
              <a:r>
                <a:rPr lang="en-US" sz="1600" i="1" dirty="0">
                  <a:latin typeface="+mn-lt"/>
                </a:rPr>
                <a:t>Declaration</a:t>
              </a:r>
            </a:p>
          </p:txBody>
        </p:sp>
        <p:sp>
          <p:nvSpPr>
            <p:cNvPr id="11272" name="Rectangle 7"/>
            <p:cNvSpPr>
              <a:spLocks noChangeArrowheads="1"/>
            </p:cNvSpPr>
            <p:nvPr/>
          </p:nvSpPr>
          <p:spPr bwMode="auto">
            <a:xfrm>
              <a:off x="5113415" y="2989506"/>
              <a:ext cx="1122103" cy="339196"/>
            </a:xfrm>
            <a:prstGeom prst="rect">
              <a:avLst/>
            </a:prstGeom>
            <a:noFill/>
            <a:ln w="9525">
              <a:solidFill>
                <a:schemeClr val="tx1"/>
              </a:solidFill>
              <a:miter lim="800000"/>
              <a:headEnd/>
              <a:tailEnd/>
            </a:ln>
          </p:spPr>
          <p:txBody>
            <a:bodyPr wrap="none" lIns="92075" tIns="46038" rIns="92075" bIns="46038" anchor="ctr">
              <a:spAutoFit/>
            </a:bodyPr>
            <a:lstStyle/>
            <a:p>
              <a:r>
                <a:rPr lang="en-US" sz="1600" i="1" dirty="0">
                  <a:latin typeface="+mn-lt"/>
                </a:rPr>
                <a:t>Statement</a:t>
              </a:r>
            </a:p>
          </p:txBody>
        </p:sp>
        <p:sp>
          <p:nvSpPr>
            <p:cNvPr id="11275" name="Text Box 11"/>
            <p:cNvSpPr txBox="1">
              <a:spLocks noChangeArrowheads="1"/>
            </p:cNvSpPr>
            <p:nvPr/>
          </p:nvSpPr>
          <p:spPr bwMode="auto">
            <a:xfrm>
              <a:off x="3897939" y="4067475"/>
              <a:ext cx="1905971" cy="339196"/>
            </a:xfrm>
            <a:prstGeom prst="rect">
              <a:avLst/>
            </a:prstGeom>
            <a:noFill/>
            <a:ln w="9525">
              <a:solidFill>
                <a:schemeClr val="tx1"/>
              </a:solidFill>
              <a:miter lim="800000"/>
              <a:headEnd/>
              <a:tailEnd/>
            </a:ln>
          </p:spPr>
          <p:txBody>
            <a:bodyPr wrap="none" lIns="92075" tIns="46038" rIns="92075" bIns="46038">
              <a:spAutoFit/>
            </a:bodyPr>
            <a:lstStyle/>
            <a:p>
              <a:pPr>
                <a:spcBef>
                  <a:spcPct val="50000"/>
                </a:spcBef>
              </a:pPr>
              <a:r>
                <a:rPr lang="en-US" sz="1600" dirty="0">
                  <a:latin typeface="+mn-lt"/>
                </a:rPr>
                <a:t>ProcedureCallStmt</a:t>
              </a:r>
            </a:p>
          </p:txBody>
        </p:sp>
        <p:sp>
          <p:nvSpPr>
            <p:cNvPr id="11276" name="Text Box 12"/>
            <p:cNvSpPr txBox="1">
              <a:spLocks noChangeArrowheads="1"/>
            </p:cNvSpPr>
            <p:nvPr/>
          </p:nvSpPr>
          <p:spPr bwMode="auto">
            <a:xfrm>
              <a:off x="5894767" y="4067475"/>
              <a:ext cx="1224695" cy="339196"/>
            </a:xfrm>
            <a:prstGeom prst="rect">
              <a:avLst/>
            </a:prstGeom>
            <a:noFill/>
            <a:ln w="9525">
              <a:solidFill>
                <a:schemeClr val="tx1"/>
              </a:solidFill>
              <a:miter lim="800000"/>
              <a:headEnd/>
              <a:tailEnd/>
            </a:ln>
          </p:spPr>
          <p:txBody>
            <a:bodyPr wrap="none" lIns="92075" tIns="46038" rIns="92075" bIns="46038">
              <a:spAutoFit/>
            </a:bodyPr>
            <a:lstStyle/>
            <a:p>
              <a:pPr>
                <a:spcBef>
                  <a:spcPct val="50000"/>
                </a:spcBef>
              </a:pPr>
              <a:r>
                <a:rPr lang="en-US" sz="1600" dirty="0" err="1">
                  <a:latin typeface="+mn-lt"/>
                </a:rPr>
                <a:t>ReturnStmt</a:t>
              </a:r>
              <a:endParaRPr lang="en-US" sz="1600" dirty="0">
                <a:latin typeface="+mn-lt"/>
              </a:endParaRPr>
            </a:p>
          </p:txBody>
        </p:sp>
        <p:sp>
          <p:nvSpPr>
            <p:cNvPr id="11277" name="Rectangle 13"/>
            <p:cNvSpPr>
              <a:spLocks noChangeArrowheads="1"/>
            </p:cNvSpPr>
            <p:nvPr/>
          </p:nvSpPr>
          <p:spPr bwMode="auto">
            <a:xfrm>
              <a:off x="7520043" y="2989506"/>
              <a:ext cx="1199047" cy="339196"/>
            </a:xfrm>
            <a:prstGeom prst="rect">
              <a:avLst/>
            </a:prstGeom>
            <a:noFill/>
            <a:ln w="9525">
              <a:solidFill>
                <a:schemeClr val="tx1"/>
              </a:solidFill>
              <a:miter lim="800000"/>
              <a:headEnd/>
              <a:tailEnd/>
            </a:ln>
          </p:spPr>
          <p:txBody>
            <a:bodyPr wrap="none" lIns="92075" tIns="46038" rIns="92075" bIns="46038" anchor="ctr">
              <a:spAutoFit/>
            </a:bodyPr>
            <a:lstStyle/>
            <a:p>
              <a:r>
                <a:rPr lang="en-US" sz="1600" i="1">
                  <a:latin typeface="+mn-lt"/>
                </a:rPr>
                <a:t>Expression</a:t>
              </a:r>
            </a:p>
          </p:txBody>
        </p:sp>
        <p:cxnSp>
          <p:nvCxnSpPr>
            <p:cNvPr id="11281" name="AutoShape 18"/>
            <p:cNvCxnSpPr>
              <a:cxnSpLocks noChangeShapeType="1"/>
              <a:stCxn id="11271" idx="0"/>
              <a:endCxn id="2" idx="3"/>
            </p:cNvCxnSpPr>
            <p:nvPr/>
          </p:nvCxnSpPr>
          <p:spPr bwMode="auto">
            <a:xfrm rot="5400000" flipH="1" flipV="1">
              <a:off x="3092910" y="1396115"/>
              <a:ext cx="510279" cy="2676504"/>
            </a:xfrm>
            <a:prstGeom prst="bentConnector3">
              <a:avLst>
                <a:gd name="adj1" fmla="val 50000"/>
              </a:avLst>
            </a:prstGeom>
            <a:noFill/>
            <a:ln w="9525">
              <a:solidFill>
                <a:schemeClr val="tx1"/>
              </a:solidFill>
              <a:miter lim="800000"/>
              <a:headEnd/>
              <a:tailEnd type="none" w="lg" len="lg"/>
            </a:ln>
          </p:spPr>
        </p:cxnSp>
        <p:cxnSp>
          <p:nvCxnSpPr>
            <p:cNvPr id="11282" name="AutoShape 20"/>
            <p:cNvCxnSpPr>
              <a:cxnSpLocks noChangeShapeType="1"/>
              <a:stCxn id="11272" idx="0"/>
              <a:endCxn id="2" idx="3"/>
            </p:cNvCxnSpPr>
            <p:nvPr/>
          </p:nvCxnSpPr>
          <p:spPr bwMode="auto">
            <a:xfrm rot="16200000" flipV="1">
              <a:off x="4925245" y="2240284"/>
              <a:ext cx="510279" cy="988166"/>
            </a:xfrm>
            <a:prstGeom prst="bentConnector3">
              <a:avLst>
                <a:gd name="adj1" fmla="val 50000"/>
              </a:avLst>
            </a:prstGeom>
            <a:noFill/>
            <a:ln w="9525">
              <a:solidFill>
                <a:schemeClr val="tx1"/>
              </a:solidFill>
              <a:miter lim="800000"/>
              <a:headEnd/>
              <a:tailEnd type="none" w="lg" len="lg"/>
            </a:ln>
          </p:spPr>
        </p:cxnSp>
        <p:cxnSp>
          <p:nvCxnSpPr>
            <p:cNvPr id="11283" name="AutoShape 21"/>
            <p:cNvCxnSpPr>
              <a:cxnSpLocks noChangeShapeType="1"/>
              <a:stCxn id="11277" idx="0"/>
              <a:endCxn id="2" idx="3"/>
            </p:cNvCxnSpPr>
            <p:nvPr/>
          </p:nvCxnSpPr>
          <p:spPr bwMode="auto">
            <a:xfrm rot="16200000" flipV="1">
              <a:off x="6147795" y="1017734"/>
              <a:ext cx="510279" cy="3433266"/>
            </a:xfrm>
            <a:prstGeom prst="bentConnector3">
              <a:avLst>
                <a:gd name="adj1" fmla="val 50000"/>
              </a:avLst>
            </a:prstGeom>
            <a:noFill/>
            <a:ln w="9525">
              <a:solidFill>
                <a:schemeClr val="tx1"/>
              </a:solidFill>
              <a:miter lim="800000"/>
              <a:headEnd/>
              <a:tailEnd type="none" w="lg" len="lg"/>
            </a:ln>
          </p:spPr>
        </p:cxnSp>
        <p:sp>
          <p:nvSpPr>
            <p:cNvPr id="11286" name="Text Box 24"/>
            <p:cNvSpPr txBox="1">
              <a:spLocks noChangeArrowheads="1"/>
            </p:cNvSpPr>
            <p:nvPr/>
          </p:nvSpPr>
          <p:spPr bwMode="auto">
            <a:xfrm>
              <a:off x="7247533" y="4067475"/>
              <a:ext cx="1744067" cy="339196"/>
            </a:xfrm>
            <a:prstGeom prst="rect">
              <a:avLst/>
            </a:prstGeom>
            <a:noFill/>
            <a:ln w="9525">
              <a:solidFill>
                <a:schemeClr val="tx1"/>
              </a:solidFill>
              <a:miter lim="800000"/>
              <a:headEnd/>
              <a:tailEnd/>
            </a:ln>
          </p:spPr>
          <p:txBody>
            <a:bodyPr wrap="none" lIns="92075" tIns="46038" rIns="92075" bIns="46038">
              <a:spAutoFit/>
            </a:bodyPr>
            <a:lstStyle/>
            <a:p>
              <a:pPr>
                <a:spcBef>
                  <a:spcPct val="50000"/>
                </a:spcBef>
              </a:pPr>
              <a:r>
                <a:rPr lang="en-US" sz="1600" dirty="0" err="1">
                  <a:latin typeface="+mn-lt"/>
                </a:rPr>
                <a:t>FunctionCallExpr</a:t>
              </a:r>
              <a:endParaRPr lang="en-US" sz="1600" dirty="0">
                <a:latin typeface="+mn-lt"/>
              </a:endParaRPr>
            </a:p>
          </p:txBody>
        </p:sp>
        <p:cxnSp>
          <p:nvCxnSpPr>
            <p:cNvPr id="11287" name="AutoShape 25"/>
            <p:cNvCxnSpPr>
              <a:cxnSpLocks noChangeShapeType="1"/>
              <a:stCxn id="11275" idx="0"/>
              <a:endCxn id="35" idx="3"/>
            </p:cNvCxnSpPr>
            <p:nvPr/>
          </p:nvCxnSpPr>
          <p:spPr bwMode="auto">
            <a:xfrm rot="5400000" flipH="1" flipV="1">
              <a:off x="4972891" y="3365899"/>
              <a:ext cx="579611" cy="823542"/>
            </a:xfrm>
            <a:prstGeom prst="bentConnector3">
              <a:avLst>
                <a:gd name="adj1" fmla="val 50000"/>
              </a:avLst>
            </a:prstGeom>
            <a:noFill/>
            <a:ln w="9525">
              <a:solidFill>
                <a:schemeClr val="tx1"/>
              </a:solidFill>
              <a:miter lim="800000"/>
              <a:headEnd/>
              <a:tailEnd type="none" w="lg" len="lg"/>
            </a:ln>
          </p:spPr>
        </p:cxnSp>
        <p:cxnSp>
          <p:nvCxnSpPr>
            <p:cNvPr id="11288" name="AutoShape 26"/>
            <p:cNvCxnSpPr>
              <a:cxnSpLocks noChangeShapeType="1"/>
              <a:stCxn id="11276" idx="0"/>
              <a:endCxn id="35" idx="3"/>
            </p:cNvCxnSpPr>
            <p:nvPr/>
          </p:nvCxnSpPr>
          <p:spPr bwMode="auto">
            <a:xfrm rot="16200000" flipV="1">
              <a:off x="5800986" y="3361346"/>
              <a:ext cx="579611" cy="832648"/>
            </a:xfrm>
            <a:prstGeom prst="bentConnector3">
              <a:avLst>
                <a:gd name="adj1" fmla="val 50000"/>
              </a:avLst>
            </a:prstGeom>
            <a:noFill/>
            <a:ln w="9525">
              <a:solidFill>
                <a:schemeClr val="tx1"/>
              </a:solidFill>
              <a:miter lim="800000"/>
              <a:headEnd/>
              <a:tailEnd type="none" w="lg" len="lg"/>
            </a:ln>
          </p:spPr>
        </p:cxnSp>
        <p:cxnSp>
          <p:nvCxnSpPr>
            <p:cNvPr id="11290" name="AutoShape 28"/>
            <p:cNvCxnSpPr>
              <a:cxnSpLocks noChangeShapeType="1"/>
              <a:stCxn id="11286" idx="0"/>
              <a:endCxn id="39" idx="3"/>
            </p:cNvCxnSpPr>
            <p:nvPr/>
          </p:nvCxnSpPr>
          <p:spPr bwMode="auto">
            <a:xfrm rot="5400000" flipH="1" flipV="1">
              <a:off x="7830088" y="3777344"/>
              <a:ext cx="579611" cy="652"/>
            </a:xfrm>
            <a:prstGeom prst="bentConnector3">
              <a:avLst>
                <a:gd name="adj1" fmla="val 50000"/>
              </a:avLst>
            </a:prstGeom>
            <a:noFill/>
            <a:ln w="9525">
              <a:solidFill>
                <a:schemeClr val="tx1"/>
              </a:solidFill>
              <a:miter lim="800000"/>
              <a:headEnd/>
              <a:tailEnd type="none" w="lg" len="lg"/>
            </a:ln>
          </p:spPr>
        </p:cxnSp>
        <p:sp>
          <p:nvSpPr>
            <p:cNvPr id="30" name="Text Box 9"/>
            <p:cNvSpPr txBox="1">
              <a:spLocks noChangeArrowheads="1"/>
            </p:cNvSpPr>
            <p:nvPr/>
          </p:nvSpPr>
          <p:spPr bwMode="auto">
            <a:xfrm>
              <a:off x="2046784" y="4067475"/>
              <a:ext cx="1723229" cy="339196"/>
            </a:xfrm>
            <a:prstGeom prst="rect">
              <a:avLst/>
            </a:prstGeom>
            <a:noFill/>
            <a:ln w="9525">
              <a:solidFill>
                <a:schemeClr val="tx1"/>
              </a:solidFill>
              <a:miter lim="800000"/>
              <a:headEnd/>
              <a:tailEnd/>
            </a:ln>
          </p:spPr>
          <p:txBody>
            <a:bodyPr wrap="none" lIns="92075" tIns="46038" rIns="92075" bIns="46038">
              <a:spAutoFit/>
            </a:bodyPr>
            <a:lstStyle/>
            <a:p>
              <a:pPr>
                <a:spcBef>
                  <a:spcPct val="50000"/>
                </a:spcBef>
              </a:pPr>
              <a:r>
                <a:rPr lang="en-US" sz="1600" i="1" dirty="0" err="1">
                  <a:latin typeface="+mn-lt"/>
                </a:rPr>
                <a:t>SubprogramDecl</a:t>
              </a:r>
              <a:endParaRPr lang="en-US" sz="1600" i="1" dirty="0">
                <a:latin typeface="+mn-lt"/>
              </a:endParaRPr>
            </a:p>
          </p:txBody>
        </p:sp>
        <p:cxnSp>
          <p:nvCxnSpPr>
            <p:cNvPr id="32" name="Elbow Connector 31"/>
            <p:cNvCxnSpPr>
              <a:stCxn id="30" idx="0"/>
              <a:endCxn id="31" idx="3"/>
            </p:cNvCxnSpPr>
            <p:nvPr/>
          </p:nvCxnSpPr>
          <p:spPr bwMode="auto">
            <a:xfrm rot="16200000" flipV="1">
              <a:off x="2169293" y="3328369"/>
              <a:ext cx="579611" cy="898602"/>
            </a:xfrm>
            <a:prstGeom prst="bentConnector3">
              <a:avLst>
                <a:gd name="adj1" fmla="val 50000"/>
              </a:avLst>
            </a:prstGeom>
            <a:noFill/>
            <a:ln w="9525">
              <a:solidFill>
                <a:schemeClr val="tx1"/>
              </a:solidFill>
              <a:miter lim="800000"/>
              <a:headEnd/>
              <a:tailEnd type="none" w="lg" len="lg"/>
            </a:ln>
          </p:spPr>
        </p:cxnSp>
        <p:sp>
          <p:nvSpPr>
            <p:cNvPr id="33" name="Text Box 9"/>
            <p:cNvSpPr txBox="1">
              <a:spLocks noChangeArrowheads="1"/>
            </p:cNvSpPr>
            <p:nvPr/>
          </p:nvSpPr>
          <p:spPr bwMode="auto">
            <a:xfrm>
              <a:off x="1447800" y="5105400"/>
              <a:ext cx="1380186" cy="339196"/>
            </a:xfrm>
            <a:prstGeom prst="rect">
              <a:avLst/>
            </a:prstGeom>
            <a:noFill/>
            <a:ln w="9525">
              <a:solidFill>
                <a:schemeClr val="tx1"/>
              </a:solidFill>
              <a:miter lim="800000"/>
              <a:headEnd/>
              <a:tailEnd/>
            </a:ln>
          </p:spPr>
          <p:txBody>
            <a:bodyPr wrap="none" lIns="92075" tIns="46038" rIns="92075" bIns="46038">
              <a:spAutoFit/>
            </a:bodyPr>
            <a:lstStyle/>
            <a:p>
              <a:pPr>
                <a:spcBef>
                  <a:spcPct val="50000"/>
                </a:spcBef>
              </a:pPr>
              <a:r>
                <a:rPr lang="en-US" sz="1600" dirty="0" err="1">
                  <a:latin typeface="+mn-lt"/>
                </a:rPr>
                <a:t>FunctionDecl</a:t>
              </a:r>
              <a:endParaRPr lang="en-US" sz="1600" dirty="0">
                <a:latin typeface="+mn-lt"/>
              </a:endParaRPr>
            </a:p>
          </p:txBody>
        </p:sp>
        <p:sp>
          <p:nvSpPr>
            <p:cNvPr id="34" name="Text Box 9"/>
            <p:cNvSpPr txBox="1">
              <a:spLocks noChangeArrowheads="1"/>
            </p:cNvSpPr>
            <p:nvPr/>
          </p:nvSpPr>
          <p:spPr bwMode="auto">
            <a:xfrm>
              <a:off x="2918388" y="5105400"/>
              <a:ext cx="1540486" cy="339196"/>
            </a:xfrm>
            <a:prstGeom prst="rect">
              <a:avLst/>
            </a:prstGeom>
            <a:noFill/>
            <a:ln w="9525">
              <a:solidFill>
                <a:schemeClr val="tx1"/>
              </a:solidFill>
              <a:miter lim="800000"/>
              <a:headEnd/>
              <a:tailEnd/>
            </a:ln>
          </p:spPr>
          <p:txBody>
            <a:bodyPr wrap="none" lIns="92075" tIns="46038" rIns="92075" bIns="46038">
              <a:spAutoFit/>
            </a:bodyPr>
            <a:lstStyle/>
            <a:p>
              <a:pPr>
                <a:spcBef>
                  <a:spcPct val="50000"/>
                </a:spcBef>
              </a:pPr>
              <a:r>
                <a:rPr lang="en-US" sz="1600" dirty="0" err="1">
                  <a:latin typeface="+mn-lt"/>
                </a:rPr>
                <a:t>ProcedureDecl</a:t>
              </a:r>
              <a:endParaRPr lang="en-US" sz="1600" dirty="0">
                <a:latin typeface="+mn-lt"/>
              </a:endParaRPr>
            </a:p>
          </p:txBody>
        </p:sp>
        <p:cxnSp>
          <p:nvCxnSpPr>
            <p:cNvPr id="36" name="Elbow Connector 35"/>
            <p:cNvCxnSpPr>
              <a:stCxn id="33" idx="0"/>
              <a:endCxn id="37" idx="3"/>
            </p:cNvCxnSpPr>
            <p:nvPr/>
          </p:nvCxnSpPr>
          <p:spPr bwMode="auto">
            <a:xfrm rot="5400000" flipH="1" flipV="1">
              <a:off x="2256446" y="4453447"/>
              <a:ext cx="533400" cy="770506"/>
            </a:xfrm>
            <a:prstGeom prst="bentConnector3">
              <a:avLst>
                <a:gd name="adj1" fmla="val 50000"/>
              </a:avLst>
            </a:prstGeom>
            <a:noFill/>
            <a:ln w="9525">
              <a:solidFill>
                <a:schemeClr val="tx1"/>
              </a:solidFill>
              <a:miter lim="800000"/>
              <a:headEnd/>
              <a:tailEnd type="none" w="lg" len="lg"/>
            </a:ln>
          </p:spPr>
        </p:cxnSp>
        <p:cxnSp>
          <p:nvCxnSpPr>
            <p:cNvPr id="38" name="Elbow Connector 37"/>
            <p:cNvCxnSpPr>
              <a:stCxn id="34" idx="0"/>
              <a:endCxn id="37" idx="3"/>
            </p:cNvCxnSpPr>
            <p:nvPr/>
          </p:nvCxnSpPr>
          <p:spPr bwMode="auto">
            <a:xfrm rot="16200000" flipV="1">
              <a:off x="3031815" y="4448584"/>
              <a:ext cx="533400" cy="780232"/>
            </a:xfrm>
            <a:prstGeom prst="bentConnector3">
              <a:avLst>
                <a:gd name="adj1" fmla="val 50000"/>
              </a:avLst>
            </a:prstGeom>
            <a:noFill/>
            <a:ln w="9525">
              <a:solidFill>
                <a:schemeClr val="tx1"/>
              </a:solidFill>
              <a:miter lim="800000"/>
              <a:headEnd/>
              <a:tailEnd type="none" w="lg" len="lg"/>
            </a:ln>
          </p:spPr>
        </p:cxnSp>
        <p:sp>
          <p:nvSpPr>
            <p:cNvPr id="40" name="Text Box 9"/>
            <p:cNvSpPr txBox="1">
              <a:spLocks noChangeArrowheads="1"/>
            </p:cNvSpPr>
            <p:nvPr/>
          </p:nvSpPr>
          <p:spPr bwMode="auto">
            <a:xfrm>
              <a:off x="381000" y="4067475"/>
              <a:ext cx="1553310" cy="339196"/>
            </a:xfrm>
            <a:prstGeom prst="rect">
              <a:avLst/>
            </a:prstGeom>
            <a:noFill/>
            <a:ln w="9525">
              <a:solidFill>
                <a:schemeClr val="tx1"/>
              </a:solidFill>
              <a:miter lim="800000"/>
              <a:headEnd/>
              <a:tailEnd/>
            </a:ln>
          </p:spPr>
          <p:txBody>
            <a:bodyPr wrap="none" lIns="92075" tIns="46038" rIns="92075" bIns="46038">
              <a:spAutoFit/>
            </a:bodyPr>
            <a:lstStyle/>
            <a:p>
              <a:pPr>
                <a:spcBef>
                  <a:spcPct val="50000"/>
                </a:spcBef>
              </a:pPr>
              <a:r>
                <a:rPr lang="en-US" sz="1600" dirty="0" err="1">
                  <a:latin typeface="+mn-lt"/>
                </a:rPr>
                <a:t>ParameterDecl</a:t>
              </a:r>
              <a:endParaRPr lang="en-US" sz="1600" dirty="0">
                <a:latin typeface="+mn-lt"/>
              </a:endParaRPr>
            </a:p>
          </p:txBody>
        </p:sp>
        <p:cxnSp>
          <p:nvCxnSpPr>
            <p:cNvPr id="42" name="Elbow Connector 41"/>
            <p:cNvCxnSpPr>
              <a:stCxn id="40" idx="0"/>
              <a:endCxn id="31" idx="3"/>
            </p:cNvCxnSpPr>
            <p:nvPr/>
          </p:nvCxnSpPr>
          <p:spPr bwMode="auto">
            <a:xfrm rot="5400000" flipH="1" flipV="1">
              <a:off x="1293921" y="3351599"/>
              <a:ext cx="579611" cy="852142"/>
            </a:xfrm>
            <a:prstGeom prst="bentConnector3">
              <a:avLst>
                <a:gd name="adj1" fmla="val 50000"/>
              </a:avLst>
            </a:prstGeom>
            <a:noFill/>
            <a:ln w="9525">
              <a:solidFill>
                <a:schemeClr val="tx1"/>
              </a:solidFill>
              <a:miter lim="800000"/>
              <a:headEnd/>
              <a:tailEnd type="none" w="lg" len="lg"/>
            </a:ln>
          </p:spPr>
        </p:cxnSp>
        <p:sp>
          <p:nvSpPr>
            <p:cNvPr id="2" name="Isosceles Triangle 1"/>
            <p:cNvSpPr/>
            <p:nvPr/>
          </p:nvSpPr>
          <p:spPr bwMode="auto">
            <a:xfrm>
              <a:off x="4597562" y="2326230"/>
              <a:ext cx="177477" cy="152997"/>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31" name="Isosceles Triangle 30"/>
            <p:cNvSpPr/>
            <p:nvPr/>
          </p:nvSpPr>
          <p:spPr bwMode="auto">
            <a:xfrm>
              <a:off x="1921058" y="3334867"/>
              <a:ext cx="177477" cy="152997"/>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35" name="Isosceles Triangle 34"/>
            <p:cNvSpPr/>
            <p:nvPr/>
          </p:nvSpPr>
          <p:spPr bwMode="auto">
            <a:xfrm>
              <a:off x="5585728" y="3334867"/>
              <a:ext cx="177477" cy="152997"/>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37" name="Isosceles Triangle 36"/>
            <p:cNvSpPr/>
            <p:nvPr/>
          </p:nvSpPr>
          <p:spPr bwMode="auto">
            <a:xfrm>
              <a:off x="2819660" y="4419003"/>
              <a:ext cx="177477" cy="152997"/>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39" name="Isosceles Triangle 38"/>
            <p:cNvSpPr/>
            <p:nvPr/>
          </p:nvSpPr>
          <p:spPr bwMode="auto">
            <a:xfrm>
              <a:off x="8031480" y="3334867"/>
              <a:ext cx="177477" cy="152997"/>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dirty="0"/>
              <a:t>Procedure Example – Parameters</a:t>
            </a:r>
          </a:p>
        </p:txBody>
      </p:sp>
      <p:sp>
        <p:nvSpPr>
          <p:cNvPr id="6147" name="Content Placeholder 2"/>
          <p:cNvSpPr>
            <a:spLocks noGrp="1"/>
          </p:cNvSpPr>
          <p:nvPr>
            <p:ph idx="1"/>
          </p:nvPr>
        </p:nvSpPr>
        <p:spPr>
          <a:xfrm>
            <a:off x="458788" y="1363663"/>
            <a:ext cx="8226425" cy="4935537"/>
          </a:xfrm>
        </p:spPr>
        <p:txBody>
          <a:bodyPr tIns="91440"/>
          <a:lstStyle/>
          <a:p>
            <a:pPr marL="274320" indent="0">
              <a:spcBef>
                <a:spcPts val="200"/>
              </a:spcBef>
              <a:buFontTx/>
              <a:buNone/>
            </a:pPr>
            <a:r>
              <a:rPr lang="en-US" sz="1800" dirty="0">
                <a:latin typeface="Consolas" pitchFamily="49" charset="0"/>
                <a:cs typeface="Consolas" pitchFamily="49" charset="0"/>
              </a:rPr>
              <a:t>var x : Integer;</a:t>
            </a:r>
          </a:p>
          <a:p>
            <a:pPr marL="274320" indent="0">
              <a:spcBef>
                <a:spcPts val="200"/>
              </a:spcBef>
              <a:buFontTx/>
              <a:buNone/>
            </a:pPr>
            <a:endParaRPr lang="en-US" sz="1800" dirty="0">
              <a:latin typeface="Consolas" pitchFamily="49" charset="0"/>
              <a:cs typeface="Consolas" pitchFamily="49" charset="0"/>
            </a:endParaRPr>
          </a:p>
          <a:p>
            <a:pPr marL="274320" indent="0">
              <a:spcBef>
                <a:spcPts val="200"/>
              </a:spcBef>
              <a:buFontTx/>
              <a:buNone/>
            </a:pPr>
            <a:r>
              <a:rPr lang="en-US" sz="1800" dirty="0">
                <a:latin typeface="Consolas" pitchFamily="49" charset="0"/>
                <a:cs typeface="Consolas" pitchFamily="49" charset="0"/>
              </a:rPr>
              <a:t>proc main()</a:t>
            </a:r>
          </a:p>
          <a:p>
            <a:pPr marL="274320" indent="0">
              <a:spcBef>
                <a:spcPts val="200"/>
              </a:spcBef>
              <a:buFontTx/>
              <a:buNone/>
            </a:pPr>
            <a:r>
              <a:rPr lang="en-US" sz="1800" dirty="0">
                <a:latin typeface="Consolas" pitchFamily="49" charset="0"/>
                <a:cs typeface="Consolas" pitchFamily="49" charset="0"/>
              </a:rPr>
              <a:t>  {</a:t>
            </a:r>
          </a:p>
          <a:p>
            <a:pPr marL="274320" indent="0">
              <a:spcBef>
                <a:spcPts val="200"/>
              </a:spcBef>
              <a:buFontTx/>
              <a:buNone/>
            </a:pPr>
            <a:r>
              <a:rPr lang="en-US" sz="1800" dirty="0">
                <a:latin typeface="Consolas" pitchFamily="49" charset="0"/>
                <a:cs typeface="Consolas" pitchFamily="49" charset="0"/>
              </a:rPr>
              <a:t>    x := 5;</a:t>
            </a:r>
          </a:p>
          <a:p>
            <a:pPr marL="274320" indent="0">
              <a:spcBef>
                <a:spcPts val="2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inc</a:t>
            </a:r>
            <a:r>
              <a:rPr lang="en-US" sz="1800" dirty="0">
                <a:latin typeface="Consolas" pitchFamily="49" charset="0"/>
                <a:cs typeface="Consolas" pitchFamily="49" charset="0"/>
              </a:rPr>
              <a:t>(x);</a:t>
            </a:r>
          </a:p>
          <a:p>
            <a:pPr marL="274320" indent="0">
              <a:spcBef>
                <a:spcPts val="2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writeln</a:t>
            </a:r>
            <a:r>
              <a:rPr lang="en-US" sz="1800" dirty="0">
                <a:latin typeface="Consolas" pitchFamily="49" charset="0"/>
                <a:cs typeface="Consolas" pitchFamily="49" charset="0"/>
              </a:rPr>
              <a:t> x;</a:t>
            </a:r>
          </a:p>
          <a:p>
            <a:pPr marL="274320" indent="0">
              <a:spcBef>
                <a:spcPts val="200"/>
              </a:spcBef>
              <a:buFontTx/>
              <a:buNone/>
            </a:pPr>
            <a:r>
              <a:rPr lang="en-US" sz="1800" dirty="0">
                <a:latin typeface="Consolas" pitchFamily="49" charset="0"/>
                <a:cs typeface="Consolas" pitchFamily="49" charset="0"/>
              </a:rPr>
              <a:t>  }</a:t>
            </a:r>
          </a:p>
          <a:p>
            <a:pPr marL="274320" indent="0">
              <a:spcBef>
                <a:spcPts val="200"/>
              </a:spcBef>
              <a:buFontTx/>
              <a:buNone/>
            </a:pPr>
            <a:endParaRPr lang="en-US" sz="1800" dirty="0">
              <a:latin typeface="Consolas" pitchFamily="49" charset="0"/>
              <a:cs typeface="Consolas" pitchFamily="49" charset="0"/>
            </a:endParaRPr>
          </a:p>
          <a:p>
            <a:pPr marL="274320" indent="0">
              <a:spcBef>
                <a:spcPts val="200"/>
              </a:spcBef>
              <a:buFontTx/>
              <a:buNone/>
            </a:pPr>
            <a:r>
              <a:rPr lang="en-US" sz="1800" dirty="0">
                <a:latin typeface="Consolas" pitchFamily="49" charset="0"/>
                <a:cs typeface="Consolas" pitchFamily="49" charset="0"/>
              </a:rPr>
              <a:t>proc </a:t>
            </a:r>
            <a:r>
              <a:rPr lang="en-US" sz="1800" dirty="0" err="1">
                <a:latin typeface="Consolas" pitchFamily="49" charset="0"/>
                <a:cs typeface="Consolas" pitchFamily="49" charset="0"/>
              </a:rPr>
              <a:t>inc</a:t>
            </a:r>
            <a:r>
              <a:rPr lang="en-US" sz="1800" dirty="0">
                <a:latin typeface="Consolas" pitchFamily="49" charset="0"/>
                <a:cs typeface="Consolas" pitchFamily="49" charset="0"/>
              </a:rPr>
              <a:t>(var n : Integer)</a:t>
            </a:r>
          </a:p>
          <a:p>
            <a:pPr marL="274320" indent="0">
              <a:spcBef>
                <a:spcPts val="200"/>
              </a:spcBef>
              <a:buFontTx/>
              <a:buNone/>
            </a:pPr>
            <a:r>
              <a:rPr lang="en-US" sz="1800" dirty="0">
                <a:latin typeface="Consolas" pitchFamily="49" charset="0"/>
                <a:cs typeface="Consolas" pitchFamily="49" charset="0"/>
              </a:rPr>
              <a:t>  {</a:t>
            </a:r>
          </a:p>
          <a:p>
            <a:pPr marL="274320" indent="0">
              <a:spcBef>
                <a:spcPts val="200"/>
              </a:spcBef>
              <a:buFontTx/>
              <a:buNone/>
            </a:pPr>
            <a:r>
              <a:rPr lang="en-US" sz="1800" dirty="0">
                <a:latin typeface="Consolas" pitchFamily="49" charset="0"/>
                <a:cs typeface="Consolas" pitchFamily="49" charset="0"/>
              </a:rPr>
              <a:t>    n := n + 1;</a:t>
            </a:r>
          </a:p>
          <a:p>
            <a:pPr marL="274320" indent="0">
              <a:spcBef>
                <a:spcPts val="200"/>
              </a:spcBef>
              <a:buFontTx/>
              <a:buNone/>
            </a:pPr>
            <a:r>
              <a:rPr lang="en-US" sz="1800" dirty="0">
                <a:latin typeface="Consolas" pitchFamily="49" charset="0"/>
                <a:cs typeface="Consolas" pitchFamily="49" charset="0"/>
              </a:rPr>
              <a:t>  }</a:t>
            </a:r>
          </a:p>
        </p:txBody>
      </p:sp>
      <p:sp>
        <p:nvSpPr>
          <p:cNvPr id="6148" name="Footer Placeholder 3"/>
          <p:cNvSpPr>
            <a:spLocks noGrp="1"/>
          </p:cNvSpPr>
          <p:nvPr>
            <p:ph type="ftr" sz="quarter" idx="10"/>
          </p:nvPr>
        </p:nvSpPr>
        <p:spPr>
          <a:noFill/>
        </p:spPr>
        <p:txBody>
          <a:bodyPr/>
          <a:lstStyle/>
          <a:p>
            <a:r>
              <a:rPr lang="en-US"/>
              <a:t>©SoftMoore Consulting</a:t>
            </a:r>
          </a:p>
        </p:txBody>
      </p:sp>
      <p:sp>
        <p:nvSpPr>
          <p:cNvPr id="6149" name="Slide Number Placeholder 4"/>
          <p:cNvSpPr>
            <a:spLocks noGrp="1"/>
          </p:cNvSpPr>
          <p:nvPr>
            <p:ph type="sldNum" sz="quarter" idx="11"/>
          </p:nvPr>
        </p:nvSpPr>
        <p:spPr>
          <a:noFill/>
        </p:spPr>
        <p:txBody>
          <a:bodyPr/>
          <a:lstStyle/>
          <a:p>
            <a:r>
              <a:rPr lang="en-US"/>
              <a:t>Slide </a:t>
            </a:r>
            <a:fld id="{51F53113-F4AE-4FA6-88FC-9C7B2F2E2FCE}" type="slidenum">
              <a:rPr lang="en-US" smtClean="0"/>
              <a:pPr/>
              <a:t>5</a:t>
            </a:fld>
            <a:endParaRPr lang="en-US"/>
          </a:p>
        </p:txBody>
      </p:sp>
      <p:sp>
        <p:nvSpPr>
          <p:cNvPr id="2" name="TextBox 1"/>
          <p:cNvSpPr txBox="1"/>
          <p:nvPr/>
        </p:nvSpPr>
        <p:spPr>
          <a:xfrm>
            <a:off x="1425145" y="5486400"/>
            <a:ext cx="6293711" cy="769441"/>
          </a:xfrm>
          <a:prstGeom prst="rect">
            <a:avLst/>
          </a:prstGeom>
          <a:noFill/>
          <a:ln>
            <a:solidFill>
              <a:schemeClr val="tx1"/>
            </a:solidFill>
          </a:ln>
        </p:spPr>
        <p:txBody>
          <a:bodyPr wrap="none" rtlCol="0">
            <a:spAutoFit/>
          </a:bodyPr>
          <a:lstStyle/>
          <a:p>
            <a:pPr algn="l"/>
            <a:r>
              <a:rPr lang="en-US" sz="2200" dirty="0"/>
              <a:t>What value is printed?  If “</a:t>
            </a:r>
            <a:r>
              <a:rPr lang="en-US" sz="2200" dirty="0">
                <a:latin typeface="Consolas" pitchFamily="49" charset="0"/>
                <a:cs typeface="Consolas" pitchFamily="49" charset="0"/>
              </a:rPr>
              <a:t>var</a:t>
            </a:r>
            <a:r>
              <a:rPr lang="en-US" sz="2200" dirty="0"/>
              <a:t>” is removed from</a:t>
            </a:r>
          </a:p>
          <a:p>
            <a:pPr algn="l"/>
            <a:r>
              <a:rPr lang="en-US" sz="2200" dirty="0"/>
              <a:t>the parameter declaration, what value is printed?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Scope Level of a </a:t>
            </a:r>
            <a:r>
              <a:rPr lang="en-US" dirty="0">
                <a:latin typeface="Consolas" panose="020B0609020204030204" pitchFamily="49" charset="0"/>
              </a:rPr>
              <a:t>Var</a:t>
            </a:r>
            <a:r>
              <a:rPr lang="en-US" dirty="0"/>
              <a:t> Declaration</a:t>
            </a:r>
          </a:p>
        </p:txBody>
      </p:sp>
      <p:sp>
        <p:nvSpPr>
          <p:cNvPr id="3" name="Content Placeholder 2"/>
          <p:cNvSpPr>
            <a:spLocks noGrp="1"/>
          </p:cNvSpPr>
          <p:nvPr>
            <p:ph idx="1"/>
          </p:nvPr>
        </p:nvSpPr>
        <p:spPr/>
        <p:txBody>
          <a:bodyPr/>
          <a:lstStyle/>
          <a:p>
            <a:r>
              <a:rPr lang="en-US" dirty="0"/>
              <a:t>Declarations introduce a name (identifier) into a scope.</a:t>
            </a:r>
          </a:p>
          <a:p>
            <a:r>
              <a:rPr lang="en-US" dirty="0"/>
              <a:t>During code generation, when a variable is referenced in the statement part of a program or subprogram, we need to be able to determine its scope.</a:t>
            </a:r>
          </a:p>
          <a:p>
            <a:r>
              <a:rPr lang="en-US" dirty="0"/>
              <a:t>Class </a:t>
            </a:r>
            <a:r>
              <a:rPr lang="en-US" sz="2300" dirty="0" err="1">
                <a:latin typeface="Consolas" panose="020B0609020204030204" pitchFamily="49" charset="0"/>
              </a:rPr>
              <a:t>IdTable</a:t>
            </a:r>
            <a:r>
              <a:rPr lang="en-US" dirty="0"/>
              <a:t> contains a method named </a:t>
            </a:r>
            <a:r>
              <a:rPr lang="en-US" sz="2300" dirty="0" err="1">
                <a:latin typeface="Consolas" panose="020B0609020204030204" pitchFamily="49" charset="0"/>
              </a:rPr>
              <a:t>scopeLevel</a:t>
            </a:r>
            <a:r>
              <a:rPr lang="en-US" sz="2300" dirty="0">
                <a:latin typeface="Consolas" panose="020B0609020204030204" pitchFamily="49" charset="0"/>
              </a:rPr>
              <a:t>()</a:t>
            </a:r>
            <a:r>
              <a:rPr lang="en-US" dirty="0"/>
              <a:t> that returns the current scope level.</a:t>
            </a:r>
          </a:p>
          <a:p>
            <a:pPr lvl="1"/>
            <a:r>
              <a:rPr lang="en-US" dirty="0">
                <a:latin typeface="Consolas" panose="020B0609020204030204" pitchFamily="49" charset="0"/>
              </a:rPr>
              <a:t>GLOBAL</a:t>
            </a:r>
            <a:r>
              <a:rPr lang="en-US" dirty="0"/>
              <a:t> for objects declared at the outermost (program) scope</a:t>
            </a:r>
          </a:p>
          <a:p>
            <a:pPr lvl="1"/>
            <a:r>
              <a:rPr lang="en-US" dirty="0">
                <a:latin typeface="Consolas" panose="020B0609020204030204" pitchFamily="49" charset="0"/>
              </a:rPr>
              <a:t>LOCAL</a:t>
            </a:r>
            <a:r>
              <a:rPr lang="en-US" dirty="0"/>
              <a:t> for objects declared within a subprogram</a:t>
            </a:r>
          </a:p>
          <a:p>
            <a:pPr lvl="1"/>
            <a:r>
              <a:rPr lang="en-US" dirty="0">
                <a:latin typeface="Consolas" panose="020B0609020204030204" pitchFamily="49" charset="0"/>
              </a:rPr>
              <a:t>RECORD</a:t>
            </a:r>
            <a:r>
              <a:rPr lang="en-US" dirty="0"/>
              <a:t> for objects (fields) declared within a record</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A413A2F6-7BFD-463C-B63A-922040FAF32C}" type="slidenum">
              <a:rPr lang="en-US" smtClean="0"/>
              <a:pPr>
                <a:defRPr/>
              </a:pPr>
              <a:t>6</a:t>
            </a:fld>
            <a:endParaRPr lang="en-US"/>
          </a:p>
        </p:txBody>
      </p:sp>
    </p:spTree>
    <p:extLst>
      <p:ext uri="{BB962C8B-B14F-4D97-AF65-F5344CB8AC3E}">
        <p14:creationId xmlns:p14="http://schemas.microsoft.com/office/powerpoint/2010/main" val="720601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38113"/>
            <a:ext cx="7315200" cy="1004887"/>
          </a:xfrm>
        </p:spPr>
        <p:txBody>
          <a:bodyPr/>
          <a:lstStyle/>
          <a:p>
            <a:r>
              <a:rPr lang="en-US" dirty="0"/>
              <a:t>The Scope Level of a </a:t>
            </a:r>
            <a:r>
              <a:rPr lang="en-US" dirty="0">
                <a:latin typeface="Consolas" panose="020B0609020204030204" pitchFamily="49" charset="0"/>
              </a:rPr>
              <a:t>Var</a:t>
            </a:r>
            <a:r>
              <a:rPr lang="en-US" dirty="0"/>
              <a:t> Declaration</a:t>
            </a:r>
            <a:br>
              <a:rPr lang="en-US" dirty="0"/>
            </a:br>
            <a:r>
              <a:rPr lang="en-US" sz="2400" dirty="0"/>
              <a:t>(continued)</a:t>
            </a:r>
            <a:endParaRPr lang="en-US" dirty="0"/>
          </a:p>
        </p:txBody>
      </p:sp>
      <p:sp>
        <p:nvSpPr>
          <p:cNvPr id="3" name="Content Placeholder 2"/>
          <p:cNvSpPr>
            <a:spLocks noGrp="1"/>
          </p:cNvSpPr>
          <p:nvPr>
            <p:ph idx="1"/>
          </p:nvPr>
        </p:nvSpPr>
        <p:spPr>
          <a:xfrm>
            <a:off x="458787" y="1363663"/>
            <a:ext cx="8229600" cy="4935537"/>
          </a:xfrm>
        </p:spPr>
        <p:txBody>
          <a:bodyPr/>
          <a:lstStyle/>
          <a:p>
            <a:r>
              <a:rPr lang="en-US" dirty="0"/>
              <a:t>When a variable is </a:t>
            </a:r>
            <a:r>
              <a:rPr lang="en-US" b="1" dirty="0"/>
              <a:t>declared</a:t>
            </a:r>
            <a:r>
              <a:rPr lang="en-US" dirty="0"/>
              <a:t>, the parser initializes the declaration with the current scope level.</a:t>
            </a:r>
          </a:p>
          <a:p>
            <a:pPr marL="457200" lvl="1" indent="0">
              <a:buNone/>
            </a:pPr>
            <a:r>
              <a:rPr lang="en-US" sz="1800" dirty="0">
                <a:latin typeface="Consolas" panose="020B0609020204030204" pitchFamily="49" charset="0"/>
              </a:rPr>
              <a:t>var </a:t>
            </a:r>
            <a:r>
              <a:rPr lang="en-US" sz="1800" dirty="0" err="1">
                <a:latin typeface="Consolas" panose="020B0609020204030204" pitchFamily="49" charset="0"/>
              </a:rPr>
              <a:t>varDecl</a:t>
            </a:r>
            <a:r>
              <a:rPr lang="en-US" sz="1800" dirty="0">
                <a:latin typeface="Consolas" panose="020B0609020204030204" pitchFamily="49" charset="0"/>
              </a:rPr>
              <a:t> = new</a:t>
            </a:r>
          </a:p>
          <a:p>
            <a:pPr marL="457200" lvl="1" indent="0">
              <a:spcBef>
                <a:spcPts val="300"/>
              </a:spcBef>
              <a:buNone/>
            </a:pPr>
            <a:r>
              <a:rPr lang="en-US" sz="1800" dirty="0">
                <a:latin typeface="Consolas" panose="020B0609020204030204" pitchFamily="49" charset="0"/>
              </a:rPr>
              <a:t>    </a:t>
            </a:r>
            <a:r>
              <a:rPr lang="en-US" sz="1800" dirty="0" err="1">
                <a:latin typeface="Consolas" panose="020B0609020204030204" pitchFamily="49" charset="0"/>
              </a:rPr>
              <a:t>VarDecl</a:t>
            </a:r>
            <a:r>
              <a:rPr lang="en-US" sz="1800" dirty="0">
                <a:latin typeface="Consolas" panose="020B0609020204030204" pitchFamily="49" charset="0"/>
              </a:rPr>
              <a:t>(identifiers, </a:t>
            </a:r>
            <a:r>
              <a:rPr lang="en-US" sz="1800" dirty="0" err="1">
                <a:latin typeface="Consolas" panose="020B0609020204030204" pitchFamily="49" charset="0"/>
              </a:rPr>
              <a:t>varType</a:t>
            </a:r>
            <a:r>
              <a:rPr lang="en-US" sz="1800" dirty="0">
                <a:latin typeface="Consolas" panose="020B0609020204030204" pitchFamily="49" charset="0"/>
              </a:rPr>
              <a:t>, </a:t>
            </a:r>
            <a:r>
              <a:rPr lang="en-US" sz="1800" dirty="0" err="1">
                <a:latin typeface="Consolas" panose="020B0609020204030204" pitchFamily="49" charset="0"/>
              </a:rPr>
              <a:t>initialValue</a:t>
            </a:r>
            <a:r>
              <a:rPr lang="en-US" sz="1800" dirty="0">
                <a:latin typeface="Consolas" panose="020B0609020204030204" pitchFamily="49" charset="0"/>
              </a:rPr>
              <a:t>,</a:t>
            </a:r>
          </a:p>
          <a:p>
            <a:pPr marL="457200" lvl="1" indent="0">
              <a:spcBef>
                <a:spcPts val="300"/>
              </a:spcBef>
              <a:buNone/>
            </a:pPr>
            <a:r>
              <a:rPr lang="en-US" sz="1800" dirty="0">
                <a:latin typeface="Consolas" panose="020B0609020204030204" pitchFamily="49" charset="0"/>
              </a:rPr>
              <a:t>            </a:t>
            </a:r>
            <a:r>
              <a:rPr lang="en-US" sz="1800" b="1" dirty="0" err="1">
                <a:latin typeface="Consolas" panose="020B0609020204030204" pitchFamily="49" charset="0"/>
              </a:rPr>
              <a:t>idTable.scopeLevel</a:t>
            </a:r>
            <a:r>
              <a:rPr lang="en-US" sz="1800" b="1" dirty="0">
                <a:latin typeface="Consolas" panose="020B0609020204030204" pitchFamily="49" charset="0"/>
              </a:rPr>
              <a:t>()</a:t>
            </a:r>
            <a:r>
              <a:rPr lang="en-US" sz="1800" dirty="0">
                <a:latin typeface="Consolas" panose="020B0609020204030204" pitchFamily="49" charset="0"/>
              </a:rPr>
              <a:t>);</a:t>
            </a:r>
          </a:p>
          <a:p>
            <a:r>
              <a:rPr lang="en-US" dirty="0"/>
              <a:t>The constructor for </a:t>
            </a:r>
            <a:r>
              <a:rPr lang="en-US" sz="2300" dirty="0" err="1">
                <a:latin typeface="Consolas" panose="020B0609020204030204" pitchFamily="49" charset="0"/>
              </a:rPr>
              <a:t>VarDecl</a:t>
            </a:r>
            <a:r>
              <a:rPr lang="en-US" dirty="0"/>
              <a:t> adds this scope level to the declaration.</a:t>
            </a:r>
          </a:p>
        </p:txBody>
      </p:sp>
      <p:sp>
        <p:nvSpPr>
          <p:cNvPr id="4" name="Footer Placeholder 3"/>
          <p:cNvSpPr>
            <a:spLocks noGrp="1"/>
          </p:cNvSpPr>
          <p:nvPr>
            <p:ph type="ftr" sz="quarter" idx="10"/>
          </p:nvPr>
        </p:nvSpPr>
        <p:spPr>
          <a:xfrm>
            <a:off x="685800" y="6477000"/>
            <a:ext cx="2741613" cy="274638"/>
          </a:xfrm>
        </p:spPr>
        <p:txBody>
          <a:bodyPr/>
          <a:lstStyle/>
          <a:p>
            <a:r>
              <a:rPr lang="en-US"/>
              <a:t>©SoftMoore Consulting</a:t>
            </a:r>
          </a:p>
        </p:txBody>
      </p:sp>
      <p:sp>
        <p:nvSpPr>
          <p:cNvPr id="5" name="Slide Number Placeholder 4"/>
          <p:cNvSpPr>
            <a:spLocks noGrp="1"/>
          </p:cNvSpPr>
          <p:nvPr>
            <p:ph type="sldNum" sz="quarter" idx="11"/>
          </p:nvPr>
        </p:nvSpPr>
        <p:spPr>
          <a:xfrm>
            <a:off x="6578600" y="6477000"/>
            <a:ext cx="1828800" cy="274638"/>
          </a:xfrm>
        </p:spPr>
        <p:txBody>
          <a:bodyPr/>
          <a:lstStyle/>
          <a:p>
            <a:r>
              <a:rPr lang="en-US"/>
              <a:t>Slide </a:t>
            </a:r>
            <a:fld id="{A413A2F6-7BFD-463C-B63A-922040FAF32C}" type="slidenum">
              <a:rPr lang="en-US" smtClean="0"/>
              <a:pPr/>
              <a:t>7</a:t>
            </a:fld>
            <a:endParaRPr lang="en-US"/>
          </a:p>
        </p:txBody>
      </p:sp>
    </p:spTree>
    <p:extLst>
      <p:ext uri="{BB962C8B-B14F-4D97-AF65-F5344CB8AC3E}">
        <p14:creationId xmlns:p14="http://schemas.microsoft.com/office/powerpoint/2010/main" val="1123681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Scope Levels</a:t>
            </a:r>
          </a:p>
        </p:txBody>
      </p:sp>
      <p:sp>
        <p:nvSpPr>
          <p:cNvPr id="3" name="Content Placeholder 2"/>
          <p:cNvSpPr>
            <a:spLocks noGrp="1"/>
          </p:cNvSpPr>
          <p:nvPr>
            <p:ph idx="1"/>
          </p:nvPr>
        </p:nvSpPr>
        <p:spPr>
          <a:xfrm>
            <a:off x="458786" y="1363663"/>
            <a:ext cx="8229600" cy="4935537"/>
          </a:xfrm>
        </p:spPr>
        <p:txBody>
          <a:bodyPr/>
          <a:lstStyle/>
          <a:p>
            <a:pPr marL="182880" indent="0">
              <a:spcBef>
                <a:spcPts val="0"/>
              </a:spcBef>
              <a:buFontTx/>
              <a:buNone/>
            </a:pPr>
            <a:r>
              <a:rPr lang="en-US" sz="1800" dirty="0">
                <a:latin typeface="Consolas" pitchFamily="49" charset="0"/>
                <a:cs typeface="Consolas" pitchFamily="49" charset="0"/>
              </a:rPr>
              <a:t>var x : Integer;       // scope level of x is GLOBAL</a:t>
            </a:r>
          </a:p>
          <a:p>
            <a:pPr marL="182880" indent="0">
              <a:spcBef>
                <a:spcPts val="0"/>
              </a:spcBef>
              <a:buFontTx/>
              <a:buNone/>
            </a:pPr>
            <a:r>
              <a:rPr lang="en-US" sz="1800" dirty="0">
                <a:latin typeface="Consolas" pitchFamily="49" charset="0"/>
                <a:cs typeface="Consolas" pitchFamily="49" charset="0"/>
              </a:rPr>
              <a:t>var y : Integer;       // scope level of y is GLOBAL</a:t>
            </a:r>
          </a:p>
          <a:p>
            <a:pPr marL="182880" indent="0">
              <a:spcBef>
                <a:spcPts val="0"/>
              </a:spcBef>
              <a:buFontTx/>
              <a:buNone/>
            </a:pPr>
            <a:endParaRPr lang="en-US" sz="1800" dirty="0">
              <a:latin typeface="Consolas" pitchFamily="49" charset="0"/>
              <a:cs typeface="Consolas" pitchFamily="49" charset="0"/>
            </a:endParaRPr>
          </a:p>
          <a:p>
            <a:pPr marL="182880" indent="0">
              <a:spcBef>
                <a:spcPts val="0"/>
              </a:spcBef>
              <a:buFontTx/>
              <a:buNone/>
            </a:pPr>
            <a:r>
              <a:rPr lang="en-US" sz="1800" dirty="0">
                <a:latin typeface="Consolas" pitchFamily="49" charset="0"/>
                <a:cs typeface="Consolas" pitchFamily="49" charset="0"/>
              </a:rPr>
              <a:t>proc p(n : Integer)    // scope level of p is GLOBAL</a:t>
            </a:r>
          </a:p>
          <a:p>
            <a:pPr marL="182880" indent="0">
              <a:spcBef>
                <a:spcPts val="0"/>
              </a:spcBef>
              <a:buFontTx/>
              <a:buNone/>
            </a:pPr>
            <a:r>
              <a:rPr lang="en-US" sz="1800" dirty="0">
                <a:latin typeface="Consolas" pitchFamily="49" charset="0"/>
                <a:cs typeface="Consolas" pitchFamily="49" charset="0"/>
              </a:rPr>
              <a:t>  {                    // scope level of n is LOCAL</a:t>
            </a:r>
          </a:p>
          <a:p>
            <a:pPr marL="182880" indent="0">
              <a:spcBef>
                <a:spcPts val="0"/>
              </a:spcBef>
              <a:buFontTx/>
              <a:buNone/>
            </a:pPr>
            <a:r>
              <a:rPr lang="en-US" sz="1800" dirty="0">
                <a:latin typeface="Consolas" pitchFamily="49" charset="0"/>
                <a:cs typeface="Consolas" pitchFamily="49" charset="0"/>
              </a:rPr>
              <a:t>    var x : Integer;   // scope level of x is LOCAL</a:t>
            </a:r>
          </a:p>
          <a:p>
            <a:pPr marL="182880" indent="0">
              <a:spcBef>
                <a:spcPts val="0"/>
              </a:spcBef>
              <a:buFontTx/>
              <a:buNone/>
            </a:pPr>
            <a:r>
              <a:rPr lang="en-US" sz="1800" dirty="0">
                <a:latin typeface="Consolas" pitchFamily="49" charset="0"/>
                <a:cs typeface="Consolas" pitchFamily="49" charset="0"/>
              </a:rPr>
              <a:t>    ... x ...          // x was declared at LOCAL scope</a:t>
            </a:r>
          </a:p>
          <a:p>
            <a:pPr marL="182880" indent="0">
              <a:spcBef>
                <a:spcPts val="0"/>
              </a:spcBef>
              <a:buFontTx/>
              <a:buNone/>
            </a:pPr>
            <a:r>
              <a:rPr lang="en-US" sz="1800" dirty="0">
                <a:latin typeface="Consolas" pitchFamily="49" charset="0"/>
                <a:cs typeface="Consolas" pitchFamily="49" charset="0"/>
              </a:rPr>
              <a:t>    ... y ...          // y was declared at GLOBAL scope</a:t>
            </a:r>
          </a:p>
          <a:p>
            <a:pPr marL="182880" indent="0">
              <a:spcBef>
                <a:spcPts val="0"/>
              </a:spcBef>
              <a:buFontTx/>
              <a:buNone/>
            </a:pPr>
            <a:r>
              <a:rPr lang="en-US" sz="1800" dirty="0">
                <a:latin typeface="Consolas" pitchFamily="49" charset="0"/>
                <a:cs typeface="Consolas" pitchFamily="49" charset="0"/>
              </a:rPr>
              <a:t>  }</a:t>
            </a:r>
          </a:p>
          <a:p>
            <a:pPr marL="182880" indent="0">
              <a:spcBef>
                <a:spcPts val="0"/>
              </a:spcBef>
              <a:buFontTx/>
              <a:buNone/>
            </a:pPr>
            <a:endParaRPr lang="en-US" sz="1800" dirty="0">
              <a:latin typeface="Consolas" pitchFamily="49" charset="0"/>
              <a:cs typeface="Consolas" pitchFamily="49" charset="0"/>
            </a:endParaRPr>
          </a:p>
          <a:p>
            <a:pPr marL="182880" indent="0">
              <a:spcBef>
                <a:spcPts val="0"/>
              </a:spcBef>
              <a:buFontTx/>
              <a:buNone/>
            </a:pPr>
            <a:r>
              <a:rPr lang="en-US" sz="1800" dirty="0">
                <a:latin typeface="Consolas" pitchFamily="49" charset="0"/>
                <a:cs typeface="Consolas" pitchFamily="49" charset="0"/>
              </a:rPr>
              <a:t>proc main()            // scope level of main is GLOBAL</a:t>
            </a:r>
          </a:p>
          <a:p>
            <a:pPr marL="182880" indent="0">
              <a:spcBef>
                <a:spcPts val="0"/>
              </a:spcBef>
              <a:buFontTx/>
              <a:buNone/>
            </a:pPr>
            <a:r>
              <a:rPr lang="en-US" sz="1800" dirty="0">
                <a:latin typeface="Consolas" pitchFamily="49" charset="0"/>
                <a:cs typeface="Consolas" pitchFamily="49" charset="0"/>
              </a:rPr>
              <a:t>  {</a:t>
            </a:r>
          </a:p>
          <a:p>
            <a:pPr marL="182880" indent="0">
              <a:spcBef>
                <a:spcPts val="0"/>
              </a:spcBef>
              <a:buFontTx/>
              <a:buNone/>
            </a:pPr>
            <a:r>
              <a:rPr lang="en-US" sz="1800" dirty="0">
                <a:latin typeface="Consolas" pitchFamily="49" charset="0"/>
                <a:cs typeface="Consolas" pitchFamily="49" charset="0"/>
              </a:rPr>
              <a:t>    var y : Integer;   // scope level of y is LOCAL</a:t>
            </a:r>
          </a:p>
          <a:p>
            <a:pPr marL="182880" indent="0">
              <a:spcBef>
                <a:spcPts val="0"/>
              </a:spcBef>
              <a:buFontTx/>
              <a:buNone/>
            </a:pPr>
            <a:r>
              <a:rPr lang="en-US" sz="1800" dirty="0">
                <a:latin typeface="Consolas" pitchFamily="49" charset="0"/>
                <a:cs typeface="Consolas" pitchFamily="49" charset="0"/>
              </a:rPr>
              <a:t>    ... x  ...         // x was declared at GLOBAL scope</a:t>
            </a:r>
          </a:p>
          <a:p>
            <a:pPr marL="182880" indent="0">
              <a:spcBef>
                <a:spcPts val="0"/>
              </a:spcBef>
              <a:buFontTx/>
              <a:buNone/>
            </a:pPr>
            <a:r>
              <a:rPr lang="en-US" sz="1800" dirty="0">
                <a:latin typeface="Consolas" pitchFamily="49" charset="0"/>
                <a:cs typeface="Consolas" pitchFamily="49" charset="0"/>
              </a:rPr>
              <a:t>    ... y  ...         // y was declared at LOCAL scope</a:t>
            </a:r>
          </a:p>
          <a:p>
            <a:pPr marL="182880" indent="0">
              <a:spcBef>
                <a:spcPts val="0"/>
              </a:spcBef>
              <a:buFontTx/>
              <a:buNone/>
            </a:pPr>
            <a:r>
              <a:rPr lang="en-US" sz="1800" dirty="0">
                <a:latin typeface="Consolas" pitchFamily="49" charset="0"/>
                <a:cs typeface="Consolas" pitchFamily="49" charset="0"/>
              </a:rPr>
              <a:t>    ... p(5) ...       // p was declared at GLOBAL scope  </a:t>
            </a:r>
          </a:p>
          <a:p>
            <a:pPr marL="182880" indent="0">
              <a:spcBef>
                <a:spcPts val="0"/>
              </a:spcBef>
              <a:buFontTx/>
              <a:buNone/>
            </a:pPr>
            <a:r>
              <a:rPr lang="en-US" sz="1800" dirty="0">
                <a:latin typeface="Consolas" pitchFamily="49" charset="0"/>
                <a:cs typeface="Consolas" pitchFamily="49" charset="0"/>
              </a:rPr>
              <a:t>  }</a:t>
            </a:r>
          </a:p>
          <a:p>
            <a:pPr marL="182880" indent="0">
              <a:spcBef>
                <a:spcPts val="0"/>
              </a:spcBef>
              <a:buFontTx/>
              <a:buNone/>
            </a:pPr>
            <a:endParaRPr lang="en-US" sz="1800" dirty="0">
              <a:latin typeface="Consolas" pitchFamily="49" charset="0"/>
              <a:cs typeface="Consolas" pitchFamily="49" charset="0"/>
            </a:endParaRP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A413A2F6-7BFD-463C-B63A-922040FAF32C}" type="slidenum">
              <a:rPr lang="en-US" smtClean="0"/>
              <a:pPr>
                <a:defRPr/>
              </a:pPr>
              <a:t>8</a:t>
            </a:fld>
            <a:endParaRPr lang="en-US"/>
          </a:p>
        </p:txBody>
      </p:sp>
    </p:spTree>
    <p:extLst>
      <p:ext uri="{BB962C8B-B14F-4D97-AF65-F5344CB8AC3E}">
        <p14:creationId xmlns:p14="http://schemas.microsoft.com/office/powerpoint/2010/main" val="3469753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Class </a:t>
            </a:r>
            <a:r>
              <a:rPr lang="en-US" dirty="0" err="1">
                <a:latin typeface="Consolas" pitchFamily="49" charset="0"/>
                <a:cs typeface="Consolas" pitchFamily="49" charset="0"/>
              </a:rPr>
              <a:t>IdTable</a:t>
            </a:r>
            <a:endParaRPr lang="en-US" dirty="0">
              <a:latin typeface="Consolas" pitchFamily="49" charset="0"/>
              <a:cs typeface="Consolas" pitchFamily="49" charset="0"/>
            </a:endParaRPr>
          </a:p>
        </p:txBody>
      </p:sp>
      <p:sp>
        <p:nvSpPr>
          <p:cNvPr id="15363" name="Content Placeholder 2"/>
          <p:cNvSpPr>
            <a:spLocks noGrp="1"/>
          </p:cNvSpPr>
          <p:nvPr>
            <p:ph idx="1"/>
          </p:nvPr>
        </p:nvSpPr>
        <p:spPr/>
        <p:txBody>
          <a:bodyPr/>
          <a:lstStyle/>
          <a:p>
            <a:r>
              <a:rPr lang="en-US" dirty="0"/>
              <a:t>Class </a:t>
            </a:r>
            <a:r>
              <a:rPr lang="en-US" sz="2300" dirty="0" err="1">
                <a:latin typeface="Consolas" pitchFamily="49" charset="0"/>
                <a:cs typeface="Consolas" pitchFamily="49" charset="0"/>
              </a:rPr>
              <a:t>IdTable</a:t>
            </a:r>
            <a:r>
              <a:rPr lang="en-US" dirty="0"/>
              <a:t> supports the ability to open new scopes and to search for declarations, both within the current scope and in enclosing scopes.</a:t>
            </a:r>
          </a:p>
          <a:p>
            <a:r>
              <a:rPr lang="en-US" dirty="0"/>
              <a:t>Class </a:t>
            </a:r>
            <a:r>
              <a:rPr lang="en-US" sz="2300" dirty="0" err="1">
                <a:latin typeface="Consolas" pitchFamily="49" charset="0"/>
                <a:cs typeface="Consolas" pitchFamily="49" charset="0"/>
              </a:rPr>
              <a:t>IdTable</a:t>
            </a:r>
            <a:r>
              <a:rPr lang="en-US" dirty="0"/>
              <a:t> is implemented as a stack of scopes, where each scope is a map from identifier strings (names of things) to their declarations.</a:t>
            </a:r>
          </a:p>
          <a:p>
            <a:pPr lvl="1"/>
            <a:r>
              <a:rPr lang="en-US" dirty="0"/>
              <a:t>Note that, since we don’t allow subprograms to be nested and since there are no predefined subprograms, our stack usually has only three or four levels.</a:t>
            </a:r>
          </a:p>
          <a:p>
            <a:r>
              <a:rPr lang="en-US" dirty="0"/>
              <a:t>Opening a scope pushes a new scope (map) onto the stack.  Closing a scope pops the top scope off the stack.</a:t>
            </a:r>
          </a:p>
        </p:txBody>
      </p:sp>
      <p:sp>
        <p:nvSpPr>
          <p:cNvPr id="15364" name="Footer Placeholder 3"/>
          <p:cNvSpPr>
            <a:spLocks noGrp="1"/>
          </p:cNvSpPr>
          <p:nvPr>
            <p:ph type="ftr" sz="quarter" idx="10"/>
          </p:nvPr>
        </p:nvSpPr>
        <p:spPr>
          <a:noFill/>
        </p:spPr>
        <p:txBody>
          <a:bodyPr/>
          <a:lstStyle/>
          <a:p>
            <a:r>
              <a:rPr lang="en-US"/>
              <a:t>©SoftMoore Consulting</a:t>
            </a:r>
          </a:p>
        </p:txBody>
      </p:sp>
      <p:sp>
        <p:nvSpPr>
          <p:cNvPr id="15365" name="Slide Number Placeholder 4"/>
          <p:cNvSpPr>
            <a:spLocks noGrp="1"/>
          </p:cNvSpPr>
          <p:nvPr>
            <p:ph type="sldNum" sz="quarter" idx="11"/>
          </p:nvPr>
        </p:nvSpPr>
        <p:spPr>
          <a:noFill/>
        </p:spPr>
        <p:txBody>
          <a:bodyPr/>
          <a:lstStyle/>
          <a:p>
            <a:r>
              <a:rPr lang="en-US"/>
              <a:t>Slide </a:t>
            </a:r>
            <a:fld id="{666C86B5-9217-4201-8A8A-A5C797BDB79C}"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Class </a:t>
            </a:r>
            <a:r>
              <a:rPr lang="en-US" dirty="0" err="1">
                <a:latin typeface="Consolas" pitchFamily="49" charset="0"/>
                <a:cs typeface="Consolas" pitchFamily="49" charset="0"/>
              </a:rPr>
              <a:t>IdTable</a:t>
            </a:r>
            <a:br>
              <a:rPr lang="en-US" dirty="0"/>
            </a:br>
            <a:r>
              <a:rPr lang="en-US" sz="2400" dirty="0"/>
              <a:t>(continued)</a:t>
            </a:r>
            <a:endParaRPr lang="en-US" dirty="0"/>
          </a:p>
        </p:txBody>
      </p:sp>
      <p:sp>
        <p:nvSpPr>
          <p:cNvPr id="15363" name="Content Placeholder 2"/>
          <p:cNvSpPr>
            <a:spLocks noGrp="1"/>
          </p:cNvSpPr>
          <p:nvPr>
            <p:ph idx="1"/>
          </p:nvPr>
        </p:nvSpPr>
        <p:spPr/>
        <p:txBody>
          <a:bodyPr/>
          <a:lstStyle/>
          <a:p>
            <a:r>
              <a:rPr lang="en-US" dirty="0"/>
              <a:t>Within a subprogram, searching for a declaration involves searching within the current level (top map in the stack containing identifiers declared at </a:t>
            </a:r>
            <a:r>
              <a:rPr lang="en-US" sz="2300" dirty="0">
                <a:latin typeface="Consolas" panose="020B0609020204030204" pitchFamily="49" charset="0"/>
              </a:rPr>
              <a:t>LOCAL</a:t>
            </a:r>
            <a:r>
              <a:rPr lang="en-US" dirty="0"/>
              <a:t> scope) and then within the enclosing scope, which is usually the map under the top containing all identifiers declared at </a:t>
            </a:r>
            <a:r>
              <a:rPr lang="en-US" sz="2300" dirty="0">
                <a:latin typeface="Consolas" panose="020B0609020204030204" pitchFamily="49" charset="0"/>
              </a:rPr>
              <a:t>GLOBAL</a:t>
            </a:r>
            <a:r>
              <a:rPr lang="en-US" dirty="0"/>
              <a:t> scope.</a:t>
            </a:r>
          </a:p>
          <a:p>
            <a:pPr lvl="1"/>
            <a:r>
              <a:rPr lang="en-US" dirty="0"/>
              <a:t>But the enclosing scope could be another local scope if the current scope was opened for a </a:t>
            </a:r>
            <a:r>
              <a:rPr lang="en-US" dirty="0" err="1">
                <a:latin typeface="Consolas" panose="020B0609020204030204" pitchFamily="49" charset="0"/>
              </a:rPr>
              <a:t>forLoop</a:t>
            </a:r>
            <a:r>
              <a:rPr lang="en-US" dirty="0"/>
              <a:t>.</a:t>
            </a:r>
          </a:p>
        </p:txBody>
      </p:sp>
      <p:sp>
        <p:nvSpPr>
          <p:cNvPr id="15364" name="Footer Placeholder 3"/>
          <p:cNvSpPr>
            <a:spLocks noGrp="1"/>
          </p:cNvSpPr>
          <p:nvPr>
            <p:ph type="ftr" sz="quarter" idx="10"/>
          </p:nvPr>
        </p:nvSpPr>
        <p:spPr/>
        <p:txBody>
          <a:bodyPr/>
          <a:lstStyle/>
          <a:p>
            <a:r>
              <a:rPr lang="en-US"/>
              <a:t>©SoftMoore Consulting</a:t>
            </a:r>
          </a:p>
        </p:txBody>
      </p:sp>
      <p:sp>
        <p:nvSpPr>
          <p:cNvPr id="15365" name="Slide Number Placeholder 4"/>
          <p:cNvSpPr>
            <a:spLocks noGrp="1"/>
          </p:cNvSpPr>
          <p:nvPr>
            <p:ph type="sldNum" sz="quarter" idx="11"/>
          </p:nvPr>
        </p:nvSpPr>
        <p:spPr/>
        <p:txBody>
          <a:bodyPr/>
          <a:lstStyle/>
          <a:p>
            <a:r>
              <a:rPr lang="en-US"/>
              <a:t>Slide </a:t>
            </a:r>
            <a:fld id="{666C86B5-9217-4201-8A8A-A5C797BDB79C}"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dirty="0"/>
              <a:t>Selected Methods in Class </a:t>
            </a:r>
            <a:r>
              <a:rPr lang="en-US" sz="2900" dirty="0" err="1">
                <a:latin typeface="Consolas" pitchFamily="49" charset="0"/>
                <a:cs typeface="Consolas" pitchFamily="49" charset="0"/>
              </a:rPr>
              <a:t>IdTable</a:t>
            </a:r>
            <a:endParaRPr lang="en-US" sz="2900" dirty="0"/>
          </a:p>
        </p:txBody>
      </p:sp>
      <p:sp>
        <p:nvSpPr>
          <p:cNvPr id="3" name="Content Placeholder 2"/>
          <p:cNvSpPr>
            <a:spLocks noGrp="1"/>
          </p:cNvSpPr>
          <p:nvPr>
            <p:ph idx="1"/>
          </p:nvPr>
        </p:nvSpPr>
        <p:spPr/>
        <p:txBody>
          <a:bodyPr lIns="182880" tIns="91440"/>
          <a:lstStyle/>
          <a:p>
            <a:pPr marL="91440" indent="0">
              <a:spcBef>
                <a:spcPts val="100"/>
              </a:spcBef>
              <a:buNone/>
            </a:pPr>
            <a:r>
              <a:rPr lang="en-US" sz="1800" dirty="0">
                <a:latin typeface="Consolas" pitchFamily="49" charset="0"/>
                <a:cs typeface="Consolas" pitchFamily="49" charset="0"/>
              </a:rPr>
              <a:t>/**</a:t>
            </a:r>
          </a:p>
          <a:p>
            <a:pPr marL="91440" indent="0">
              <a:spcBef>
                <a:spcPts val="100"/>
              </a:spcBef>
              <a:buNone/>
            </a:pPr>
            <a:r>
              <a:rPr lang="en-US" sz="1800" dirty="0">
                <a:latin typeface="Consolas" pitchFamily="49" charset="0"/>
                <a:cs typeface="Consolas" pitchFamily="49" charset="0"/>
              </a:rPr>
              <a:t> * Returns the current scope level.</a:t>
            </a:r>
          </a:p>
          <a:p>
            <a:pPr marL="91440" indent="0">
              <a:spcBef>
                <a:spcPts val="100"/>
              </a:spcBef>
              <a:buNone/>
            </a:pPr>
            <a:r>
              <a:rPr lang="en-US" sz="1800" dirty="0">
                <a:latin typeface="Consolas" pitchFamily="49" charset="0"/>
                <a:cs typeface="Consolas" pitchFamily="49" charset="0"/>
              </a:rPr>
              <a:t> */</a:t>
            </a:r>
          </a:p>
          <a:p>
            <a:pPr marL="91440" indent="0">
              <a:spcBef>
                <a:spcPts val="100"/>
              </a:spcBef>
              <a:buNone/>
            </a:pPr>
            <a:r>
              <a:rPr lang="en-US" sz="1800" dirty="0">
                <a:latin typeface="Consolas" pitchFamily="49" charset="0"/>
                <a:cs typeface="Consolas" pitchFamily="49" charset="0"/>
              </a:rPr>
              <a:t>public </a:t>
            </a:r>
            <a:r>
              <a:rPr lang="en-US" sz="1800" dirty="0" err="1">
                <a:latin typeface="Consolas" pitchFamily="49" charset="0"/>
                <a:cs typeface="Consolas" pitchFamily="49" charset="0"/>
              </a:rPr>
              <a:t>ScopeLevel</a:t>
            </a:r>
            <a:r>
              <a:rPr lang="en-US" sz="1800" dirty="0">
                <a:latin typeface="Consolas" pitchFamily="49" charset="0"/>
                <a:cs typeface="Consolas" pitchFamily="49" charset="0"/>
              </a:rPr>
              <a:t> </a:t>
            </a:r>
            <a:r>
              <a:rPr lang="en-US" sz="1800" b="1" dirty="0" err="1">
                <a:latin typeface="Consolas" pitchFamily="49" charset="0"/>
                <a:cs typeface="Consolas" pitchFamily="49" charset="0"/>
              </a:rPr>
              <a:t>scopeLevel</a:t>
            </a:r>
            <a:r>
              <a:rPr lang="en-US" sz="1800" b="1" dirty="0">
                <a:latin typeface="Consolas" pitchFamily="49" charset="0"/>
                <a:cs typeface="Consolas" pitchFamily="49" charset="0"/>
              </a:rPr>
              <a:t>()</a:t>
            </a:r>
          </a:p>
          <a:p>
            <a:pPr marL="91440" indent="0">
              <a:spcBef>
                <a:spcPts val="100"/>
              </a:spcBef>
              <a:buNone/>
            </a:pPr>
            <a:endParaRPr lang="en-US" sz="1800" dirty="0">
              <a:latin typeface="Consolas" pitchFamily="49" charset="0"/>
              <a:cs typeface="Consolas" pitchFamily="49" charset="0"/>
            </a:endParaRPr>
          </a:p>
          <a:p>
            <a:pPr marL="91440" indent="0">
              <a:spcBef>
                <a:spcPts val="0"/>
              </a:spcBef>
              <a:buNone/>
            </a:pPr>
            <a:r>
              <a:rPr lang="en-US" sz="1800" dirty="0">
                <a:latin typeface="Consolas" pitchFamily="49" charset="0"/>
                <a:cs typeface="Consolas" pitchFamily="49" charset="0"/>
              </a:rPr>
              <a:t>/**</a:t>
            </a:r>
          </a:p>
          <a:p>
            <a:pPr marL="91440" indent="0">
              <a:spcBef>
                <a:spcPts val="0"/>
              </a:spcBef>
              <a:buNone/>
            </a:pPr>
            <a:r>
              <a:rPr lang="en-US" sz="1800" dirty="0">
                <a:latin typeface="Consolas" pitchFamily="49" charset="0"/>
                <a:cs typeface="Consolas" pitchFamily="49" charset="0"/>
              </a:rPr>
              <a:t> * Opens a new scope for identifiers.</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public void </a:t>
            </a:r>
            <a:r>
              <a:rPr lang="en-US" sz="1800" b="1" dirty="0" err="1">
                <a:latin typeface="Consolas" pitchFamily="49" charset="0"/>
                <a:cs typeface="Consolas" pitchFamily="49" charset="0"/>
              </a:rPr>
              <a:t>openScope</a:t>
            </a:r>
            <a:r>
              <a:rPr lang="en-US" sz="1800" b="1" dirty="0">
                <a:latin typeface="Consolas" pitchFamily="49" charset="0"/>
                <a:cs typeface="Consolas" pitchFamily="49" charset="0"/>
              </a:rPr>
              <a:t>(</a:t>
            </a:r>
            <a:r>
              <a:rPr lang="en-US" sz="1800" b="1" dirty="0" err="1">
                <a:latin typeface="Consolas" pitchFamily="49" charset="0"/>
                <a:cs typeface="Consolas" pitchFamily="49" charset="0"/>
              </a:rPr>
              <a:t>ScopeLevel</a:t>
            </a:r>
            <a:r>
              <a:rPr lang="en-US" sz="1800" b="1" dirty="0">
                <a:latin typeface="Consolas" pitchFamily="49" charset="0"/>
                <a:cs typeface="Consolas" pitchFamily="49" charset="0"/>
              </a:rPr>
              <a:t> </a:t>
            </a:r>
            <a:r>
              <a:rPr lang="en-US" sz="1800" b="1" dirty="0" err="1">
                <a:latin typeface="Consolas" pitchFamily="49" charset="0"/>
                <a:cs typeface="Consolas" pitchFamily="49" charset="0"/>
              </a:rPr>
              <a:t>scopeLevel</a:t>
            </a:r>
            <a:r>
              <a:rPr lang="en-US" sz="1800" b="1" dirty="0">
                <a:latin typeface="Consolas" pitchFamily="49" charset="0"/>
                <a:cs typeface="Consolas" pitchFamily="49" charset="0"/>
              </a:rPr>
              <a:t>)</a:t>
            </a:r>
          </a:p>
          <a:p>
            <a:pPr marL="91440" indent="0">
              <a:spcBef>
                <a:spcPts val="0"/>
              </a:spcBef>
              <a:buNone/>
            </a:pPr>
            <a:endParaRPr lang="en-US" sz="1800" dirty="0">
              <a:latin typeface="Consolas" pitchFamily="49" charset="0"/>
              <a:cs typeface="Consolas" pitchFamily="49" charset="0"/>
            </a:endParaRPr>
          </a:p>
          <a:p>
            <a:pPr marL="91440" indent="0">
              <a:spcBef>
                <a:spcPts val="0"/>
              </a:spcBef>
              <a:buNone/>
            </a:pPr>
            <a:r>
              <a:rPr lang="en-US" sz="1800" dirty="0">
                <a:latin typeface="Consolas" pitchFamily="49" charset="0"/>
                <a:cs typeface="Consolas" pitchFamily="49" charset="0"/>
              </a:rPr>
              <a:t>/**</a:t>
            </a:r>
          </a:p>
          <a:p>
            <a:pPr marL="91440" indent="0">
              <a:spcBef>
                <a:spcPts val="0"/>
              </a:spcBef>
              <a:buNone/>
            </a:pPr>
            <a:r>
              <a:rPr lang="en-US" sz="1800" dirty="0">
                <a:latin typeface="Consolas" pitchFamily="49" charset="0"/>
                <a:cs typeface="Consolas" pitchFamily="49" charset="0"/>
              </a:rPr>
              <a:t> * Closes the outermost scope.</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public void </a:t>
            </a:r>
            <a:r>
              <a:rPr lang="en-US" sz="1800" b="1" dirty="0" err="1">
                <a:latin typeface="Consolas" pitchFamily="49" charset="0"/>
                <a:cs typeface="Consolas" pitchFamily="49" charset="0"/>
              </a:rPr>
              <a:t>closeScope</a:t>
            </a:r>
            <a:r>
              <a:rPr lang="en-US" sz="1800" b="1" dirty="0">
                <a:latin typeface="Consolas" pitchFamily="49" charset="0"/>
                <a:cs typeface="Consolas" pitchFamily="49" charset="0"/>
              </a:rPr>
              <a:t>()</a:t>
            </a:r>
          </a:p>
          <a:p>
            <a:pPr marL="91440" indent="0">
              <a:spcBef>
                <a:spcPts val="0"/>
              </a:spcBef>
              <a:buNone/>
            </a:pPr>
            <a:endParaRPr lang="en-US" sz="1800" dirty="0">
              <a:latin typeface="Consolas" pitchFamily="49" charset="0"/>
              <a:cs typeface="Consolas" pitchFamily="49" charset="0"/>
            </a:endParaRP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11</a:t>
            </a:fld>
            <a:endParaRPr lang="en-US"/>
          </a:p>
        </p:txBody>
      </p:sp>
      <p:sp>
        <p:nvSpPr>
          <p:cNvPr id="6" name="TextBox 5">
            <a:extLst>
              <a:ext uri="{FF2B5EF4-FFF2-40B4-BE49-F238E27FC236}">
                <a16:creationId xmlns:a16="http://schemas.microsoft.com/office/drawing/2014/main" id="{C65FA996-E692-477E-8CB0-D491030851D6}"/>
              </a:ext>
            </a:extLst>
          </p:cNvPr>
          <p:cNvSpPr txBox="1"/>
          <p:nvPr/>
        </p:nvSpPr>
        <p:spPr>
          <a:xfrm>
            <a:off x="5855576" y="2209800"/>
            <a:ext cx="2831224" cy="1323439"/>
          </a:xfrm>
          <a:prstGeom prst="rect">
            <a:avLst/>
          </a:prstGeom>
          <a:noFill/>
          <a:ln>
            <a:solidFill>
              <a:schemeClr val="tx1"/>
            </a:solidFill>
          </a:ln>
        </p:spPr>
        <p:txBody>
          <a:bodyPr wrap="none" rtlCol="0">
            <a:spAutoFit/>
          </a:bodyPr>
          <a:lstStyle/>
          <a:p>
            <a:pPr algn="l"/>
            <a:r>
              <a:rPr lang="en-US" sz="2000" dirty="0" err="1">
                <a:latin typeface="Consolas" panose="020B0609020204030204" pitchFamily="49" charset="0"/>
              </a:rPr>
              <a:t>ScopeLevel</a:t>
            </a:r>
            <a:r>
              <a:rPr lang="en-US" sz="2000" dirty="0"/>
              <a:t> is an</a:t>
            </a:r>
          </a:p>
          <a:p>
            <a:pPr algn="l"/>
            <a:r>
              <a:rPr lang="en-US" sz="2000" dirty="0" err="1">
                <a:latin typeface="Consolas" panose="020B0609020204030204" pitchFamily="49" charset="0"/>
              </a:rPr>
              <a:t>enum</a:t>
            </a:r>
            <a:r>
              <a:rPr lang="en-US" sz="2000" dirty="0"/>
              <a:t> class with three</a:t>
            </a:r>
          </a:p>
          <a:p>
            <a:pPr algn="l"/>
            <a:r>
              <a:rPr lang="en-US" sz="2000" dirty="0"/>
              <a:t>values: </a:t>
            </a:r>
            <a:r>
              <a:rPr lang="en-US" sz="2000" dirty="0">
                <a:latin typeface="Consolas" panose="020B0609020204030204" pitchFamily="49" charset="0"/>
              </a:rPr>
              <a:t>GLOBAL</a:t>
            </a:r>
            <a:r>
              <a:rPr lang="en-US" sz="2000" dirty="0"/>
              <a:t>, </a:t>
            </a:r>
            <a:r>
              <a:rPr lang="en-US" sz="2000" dirty="0">
                <a:latin typeface="Consolas" panose="020B0609020204030204" pitchFamily="49" charset="0"/>
              </a:rPr>
              <a:t>LOCAL</a:t>
            </a:r>
            <a:r>
              <a:rPr lang="en-US" sz="2000" dirty="0"/>
              <a:t>,</a:t>
            </a:r>
          </a:p>
          <a:p>
            <a:pPr algn="l"/>
            <a:r>
              <a:rPr lang="en-US" sz="2000" dirty="0"/>
              <a:t>and </a:t>
            </a:r>
            <a:r>
              <a:rPr lang="en-US" sz="2000" dirty="0">
                <a:latin typeface="Consolas" panose="020B0609020204030204" pitchFamily="49" charset="0"/>
              </a:rPr>
              <a:t>RECORD.</a:t>
            </a:r>
            <a:endParaRPr lang="en-US" sz="2000" dirty="0"/>
          </a:p>
        </p:txBody>
      </p:sp>
      <p:sp>
        <p:nvSpPr>
          <p:cNvPr id="7" name="Diamond 6">
            <a:extLst>
              <a:ext uri="{FF2B5EF4-FFF2-40B4-BE49-F238E27FC236}">
                <a16:creationId xmlns:a16="http://schemas.microsoft.com/office/drawing/2014/main" id="{54D2FBF8-47E5-42A2-9028-FA3EE27E6DEF}"/>
              </a:ext>
            </a:extLst>
          </p:cNvPr>
          <p:cNvSpPr/>
          <p:nvPr/>
        </p:nvSpPr>
        <p:spPr bwMode="auto">
          <a:xfrm>
            <a:off x="2164773" y="2462645"/>
            <a:ext cx="152400" cy="15240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cxnSp>
        <p:nvCxnSpPr>
          <p:cNvPr id="8" name="Elbow Connector 8">
            <a:extLst>
              <a:ext uri="{FF2B5EF4-FFF2-40B4-BE49-F238E27FC236}">
                <a16:creationId xmlns:a16="http://schemas.microsoft.com/office/drawing/2014/main" id="{62320C38-430B-4FAB-96BF-AFD327EF7DC4}"/>
              </a:ext>
            </a:extLst>
          </p:cNvPr>
          <p:cNvCxnSpPr>
            <a:stCxn id="6" idx="1"/>
            <a:endCxn id="7" idx="2"/>
          </p:cNvCxnSpPr>
          <p:nvPr/>
        </p:nvCxnSpPr>
        <p:spPr bwMode="auto">
          <a:xfrm rot="10800000">
            <a:off x="2240974" y="2615046"/>
            <a:ext cx="3614603" cy="256475"/>
          </a:xfrm>
          <a:prstGeom prst="bentConnector2">
            <a:avLst/>
          </a:prstGeom>
          <a:no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3709065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dirty="0"/>
              <a:t>Selected Methods in Class </a:t>
            </a:r>
            <a:r>
              <a:rPr lang="en-US" sz="2900" dirty="0" err="1">
                <a:latin typeface="Consolas" pitchFamily="49" charset="0"/>
                <a:cs typeface="Consolas" pitchFamily="49" charset="0"/>
              </a:rPr>
              <a:t>IdTable</a:t>
            </a:r>
            <a:r>
              <a:rPr lang="en-US" sz="2900" dirty="0"/>
              <a:t> </a:t>
            </a:r>
            <a:r>
              <a:rPr lang="en-US" sz="2400" dirty="0"/>
              <a:t>(</a:t>
            </a:r>
            <a:r>
              <a:rPr lang="en-US" sz="2400" dirty="0">
                <a:latin typeface="+mn-lt"/>
                <a:cs typeface="Consolas" pitchFamily="49" charset="0"/>
              </a:rPr>
              <a:t>continued)</a:t>
            </a:r>
            <a:endParaRPr lang="en-US" sz="2900" dirty="0">
              <a:latin typeface="+mn-lt"/>
            </a:endParaRPr>
          </a:p>
        </p:txBody>
      </p:sp>
      <p:sp>
        <p:nvSpPr>
          <p:cNvPr id="3" name="Content Placeholder 2"/>
          <p:cNvSpPr>
            <a:spLocks noGrp="1"/>
          </p:cNvSpPr>
          <p:nvPr>
            <p:ph idx="1"/>
          </p:nvPr>
        </p:nvSpPr>
        <p:spPr>
          <a:xfrm>
            <a:off x="458787" y="1363663"/>
            <a:ext cx="8229600" cy="4935537"/>
          </a:xfrm>
        </p:spPr>
        <p:txBody>
          <a:bodyPr lIns="182880" tIns="91440"/>
          <a:lstStyle/>
          <a:p>
            <a:pPr marL="0" indent="0">
              <a:spcBef>
                <a:spcPts val="0"/>
              </a:spcBef>
              <a:buNone/>
            </a:pPr>
            <a:r>
              <a:rPr lang="en-US" sz="1800" dirty="0">
                <a:latin typeface="Consolas" pitchFamily="49" charset="0"/>
                <a:cs typeface="Consolas" pitchFamily="49" charset="0"/>
              </a:rPr>
              <a:t>/**</a:t>
            </a:r>
          </a:p>
          <a:p>
            <a:pPr marL="0" indent="0">
              <a:spcBef>
                <a:spcPts val="0"/>
              </a:spcBef>
              <a:buNone/>
            </a:pPr>
            <a:r>
              <a:rPr lang="en-US" sz="1800" dirty="0">
                <a:latin typeface="Consolas" pitchFamily="49" charset="0"/>
                <a:cs typeface="Consolas" pitchFamily="49" charset="0"/>
              </a:rPr>
              <a:t> * Add an identifier token and its declaration to the current</a:t>
            </a:r>
          </a:p>
          <a:p>
            <a:pPr marL="0" indent="0">
              <a:spcBef>
                <a:spcPts val="0"/>
              </a:spcBef>
              <a:buNone/>
            </a:pPr>
            <a:r>
              <a:rPr lang="en-US" sz="1800" dirty="0">
                <a:latin typeface="Consolas" pitchFamily="49" charset="0"/>
                <a:cs typeface="Consolas" pitchFamily="49" charset="0"/>
              </a:rPr>
              <a:t> * scope.</a:t>
            </a:r>
          </a:p>
          <a:p>
            <a:pPr marL="0" indent="0">
              <a:spcBef>
                <a:spcPts val="0"/>
              </a:spcBef>
              <a:buNone/>
            </a:pPr>
            <a:r>
              <a:rPr lang="en-US" sz="1800" dirty="0">
                <a:latin typeface="Consolas" pitchFamily="49" charset="0"/>
                <a:cs typeface="Consolas" pitchFamily="49" charset="0"/>
              </a:rPr>
              <a:t> *</a:t>
            </a:r>
          </a:p>
          <a:p>
            <a:pPr marL="0" indent="0">
              <a:spcBef>
                <a:spcPts val="0"/>
              </a:spcBef>
              <a:buNone/>
            </a:pPr>
            <a:r>
              <a:rPr lang="en-US" sz="1800" dirty="0">
                <a:latin typeface="Consolas" pitchFamily="49" charset="0"/>
                <a:cs typeface="Consolas" pitchFamily="49" charset="0"/>
              </a:rPr>
              <a:t> * @throws </a:t>
            </a:r>
            <a:r>
              <a:rPr lang="en-US" sz="1800" dirty="0" err="1">
                <a:latin typeface="Consolas" pitchFamily="49" charset="0"/>
                <a:cs typeface="Consolas" pitchFamily="49" charset="0"/>
              </a:rPr>
              <a:t>ParserException</a:t>
            </a:r>
            <a:r>
              <a:rPr lang="en-US" sz="1800" dirty="0">
                <a:latin typeface="Consolas" pitchFamily="49" charset="0"/>
                <a:cs typeface="Consolas" pitchFamily="49" charset="0"/>
              </a:rPr>
              <a:t> if the identifier already exists</a:t>
            </a:r>
          </a:p>
          <a:p>
            <a:pPr marL="0" indent="0">
              <a:spcBef>
                <a:spcPts val="0"/>
              </a:spcBef>
              <a:buNone/>
            </a:pPr>
            <a:r>
              <a:rPr lang="en-US" sz="1800" dirty="0">
                <a:latin typeface="Consolas" pitchFamily="49" charset="0"/>
                <a:cs typeface="Consolas" pitchFamily="49" charset="0"/>
              </a:rPr>
              <a:t> *         in the current scope.</a:t>
            </a:r>
          </a:p>
          <a:p>
            <a:pPr marL="0" indent="0">
              <a:spcBef>
                <a:spcPts val="0"/>
              </a:spcBef>
              <a:buNone/>
            </a:pPr>
            <a:r>
              <a:rPr lang="en-US" sz="1800" dirty="0">
                <a:latin typeface="Consolas" pitchFamily="49" charset="0"/>
                <a:cs typeface="Consolas" pitchFamily="49" charset="0"/>
              </a:rPr>
              <a:t> */</a:t>
            </a:r>
          </a:p>
          <a:p>
            <a:pPr marL="0" indent="0">
              <a:spcBef>
                <a:spcPts val="0"/>
              </a:spcBef>
              <a:buNone/>
            </a:pPr>
            <a:r>
              <a:rPr lang="en-US" sz="1800" dirty="0">
                <a:latin typeface="Consolas" pitchFamily="49" charset="0"/>
                <a:cs typeface="Consolas" pitchFamily="49" charset="0"/>
              </a:rPr>
              <a:t>public void </a:t>
            </a:r>
            <a:r>
              <a:rPr lang="en-US" sz="1800" b="1" dirty="0">
                <a:latin typeface="Consolas" pitchFamily="49" charset="0"/>
                <a:cs typeface="Consolas" pitchFamily="49" charset="0"/>
              </a:rPr>
              <a:t>add(Token </a:t>
            </a:r>
            <a:r>
              <a:rPr lang="en-US" sz="1800" b="1" dirty="0" err="1">
                <a:latin typeface="Consolas" pitchFamily="49" charset="0"/>
                <a:cs typeface="Consolas" pitchFamily="49" charset="0"/>
              </a:rPr>
              <a:t>idToken</a:t>
            </a:r>
            <a:r>
              <a:rPr lang="en-US" sz="1800" b="1" dirty="0">
                <a:latin typeface="Consolas" pitchFamily="49" charset="0"/>
                <a:cs typeface="Consolas" pitchFamily="49" charset="0"/>
              </a:rPr>
              <a:t>, Declaration </a:t>
            </a:r>
            <a:r>
              <a:rPr lang="en-US" sz="1800" b="1" dirty="0" err="1">
                <a:latin typeface="Consolas" pitchFamily="49" charset="0"/>
                <a:cs typeface="Consolas" pitchFamily="49" charset="0"/>
              </a:rPr>
              <a:t>decl</a:t>
            </a:r>
            <a:r>
              <a:rPr lang="en-US" sz="1800" b="1" dirty="0">
                <a:latin typeface="Consolas" pitchFamily="49" charset="0"/>
                <a:cs typeface="Consolas" pitchFamily="49" charset="0"/>
              </a:rPr>
              <a:t>)</a:t>
            </a:r>
          </a:p>
          <a:p>
            <a:pPr marL="0" indent="0">
              <a:spcBef>
                <a:spcPts val="0"/>
              </a:spcBef>
              <a:buNone/>
            </a:pPr>
            <a:r>
              <a:rPr lang="en-US" sz="1800" dirty="0">
                <a:latin typeface="Consolas" pitchFamily="49" charset="0"/>
                <a:cs typeface="Consolas" pitchFamily="49" charset="0"/>
              </a:rPr>
              <a:t>    throws </a:t>
            </a:r>
            <a:r>
              <a:rPr lang="en-US" sz="1800" dirty="0" err="1">
                <a:latin typeface="Consolas" pitchFamily="49" charset="0"/>
                <a:cs typeface="Consolas" pitchFamily="49" charset="0"/>
              </a:rPr>
              <a:t>ParserException</a:t>
            </a:r>
            <a:endParaRPr lang="en-US" sz="1800" dirty="0">
              <a:latin typeface="Consolas" pitchFamily="49" charset="0"/>
              <a:cs typeface="Consolas" pitchFamily="49" charset="0"/>
            </a:endParaRPr>
          </a:p>
          <a:p>
            <a:pPr marL="0" indent="0">
              <a:spcBef>
                <a:spcPts val="0"/>
              </a:spcBef>
              <a:buNone/>
            </a:pPr>
            <a:r>
              <a:rPr lang="en-US" sz="1800" dirty="0">
                <a:latin typeface="Consolas" pitchFamily="49" charset="0"/>
                <a:cs typeface="Consolas" pitchFamily="49" charset="0"/>
              </a:rPr>
              <a:t> </a:t>
            </a:r>
          </a:p>
          <a:p>
            <a:pPr marL="0" indent="0">
              <a:spcBef>
                <a:spcPts val="0"/>
              </a:spcBef>
              <a:buNone/>
            </a:pPr>
            <a:r>
              <a:rPr lang="en-US" sz="1800" dirty="0">
                <a:latin typeface="Consolas" pitchFamily="49" charset="0"/>
                <a:cs typeface="Consolas" pitchFamily="49" charset="0"/>
              </a:rPr>
              <a:t>/**</a:t>
            </a:r>
          </a:p>
          <a:p>
            <a:pPr marL="0" indent="0">
              <a:spcBef>
                <a:spcPts val="0"/>
              </a:spcBef>
              <a:buNone/>
            </a:pPr>
            <a:r>
              <a:rPr lang="en-US" sz="1800" dirty="0">
                <a:latin typeface="Consolas" pitchFamily="49" charset="0"/>
                <a:cs typeface="Consolas" pitchFamily="49" charset="0"/>
              </a:rPr>
              <a:t> * Returns the declaration associated with the identifier name</a:t>
            </a:r>
          </a:p>
          <a:p>
            <a:pPr marL="0" indent="0">
              <a:spcBef>
                <a:spcPts val="0"/>
              </a:spcBef>
              <a:buNone/>
            </a:pPr>
            <a:r>
              <a:rPr lang="en-US" sz="1800" dirty="0">
                <a:latin typeface="Consolas" pitchFamily="49" charset="0"/>
                <a:cs typeface="Consolas" pitchFamily="49" charset="0"/>
              </a:rPr>
              <a:t> * (type String).  Returns null if the identifier is not found.</a:t>
            </a:r>
          </a:p>
          <a:p>
            <a:pPr marL="0" indent="0">
              <a:spcBef>
                <a:spcPts val="0"/>
              </a:spcBef>
              <a:buNone/>
            </a:pPr>
            <a:r>
              <a:rPr lang="en-US" sz="1800" dirty="0">
                <a:latin typeface="Consolas" pitchFamily="49" charset="0"/>
                <a:cs typeface="Consolas" pitchFamily="49" charset="0"/>
              </a:rPr>
              <a:t> * Searches enclosing scopes if necessary.</a:t>
            </a:r>
          </a:p>
          <a:p>
            <a:pPr marL="0" indent="0">
              <a:spcBef>
                <a:spcPts val="0"/>
              </a:spcBef>
              <a:buNone/>
            </a:pPr>
            <a:r>
              <a:rPr lang="en-US" sz="1800" dirty="0">
                <a:latin typeface="Consolas" pitchFamily="49" charset="0"/>
                <a:cs typeface="Consolas" pitchFamily="49" charset="0"/>
              </a:rPr>
              <a:t> */</a:t>
            </a:r>
          </a:p>
          <a:p>
            <a:pPr marL="0" indent="0">
              <a:spcBef>
                <a:spcPts val="0"/>
              </a:spcBef>
              <a:buNone/>
            </a:pPr>
            <a:r>
              <a:rPr lang="en-US" sz="1800" dirty="0">
                <a:latin typeface="Consolas" pitchFamily="49" charset="0"/>
                <a:cs typeface="Consolas" pitchFamily="49" charset="0"/>
              </a:rPr>
              <a:t>public </a:t>
            </a:r>
            <a:r>
              <a:rPr lang="en-US" sz="1800" b="1" dirty="0">
                <a:latin typeface="Consolas" pitchFamily="49" charset="0"/>
                <a:cs typeface="Consolas" pitchFamily="49" charset="0"/>
              </a:rPr>
              <a:t>Declaration get(String </a:t>
            </a:r>
            <a:r>
              <a:rPr lang="en-US" sz="1800" b="1" dirty="0" err="1">
                <a:latin typeface="Consolas" pitchFamily="49" charset="0"/>
                <a:cs typeface="Consolas" pitchFamily="49" charset="0"/>
              </a:rPr>
              <a:t>idStr</a:t>
            </a:r>
            <a:r>
              <a:rPr lang="en-US" sz="1800" b="1" dirty="0">
                <a:latin typeface="Consolas" pitchFamily="49" charset="0"/>
                <a:cs typeface="Consolas" pitchFamily="49" charset="0"/>
              </a:rPr>
              <a:t>)</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12</a:t>
            </a:fld>
            <a:endParaRPr lang="en-US"/>
          </a:p>
        </p:txBody>
      </p:sp>
    </p:spTree>
    <p:extLst>
      <p:ext uri="{BB962C8B-B14F-4D97-AF65-F5344CB8AC3E}">
        <p14:creationId xmlns:p14="http://schemas.microsoft.com/office/powerpoint/2010/main" val="22830861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Constraint Rules for Subprograms</a:t>
            </a:r>
          </a:p>
        </p:txBody>
      </p:sp>
      <p:sp>
        <p:nvSpPr>
          <p:cNvPr id="3" name="Content Placeholder 2"/>
          <p:cNvSpPr>
            <a:spLocks noGrp="1"/>
          </p:cNvSpPr>
          <p:nvPr>
            <p:ph idx="1"/>
          </p:nvPr>
        </p:nvSpPr>
        <p:spPr/>
        <p:txBody>
          <a:bodyPr/>
          <a:lstStyle/>
          <a:p>
            <a:r>
              <a:rPr lang="en-US" dirty="0" err="1">
                <a:latin typeface="Consolas" panose="020B0609020204030204" pitchFamily="49" charset="0"/>
              </a:rPr>
              <a:t>FunctionDecl</a:t>
            </a:r>
            <a:endParaRPr lang="en-US" dirty="0">
              <a:latin typeface="Consolas" panose="020B0609020204030204" pitchFamily="49" charset="0"/>
            </a:endParaRPr>
          </a:p>
          <a:p>
            <a:pPr lvl="1"/>
            <a:r>
              <a:rPr lang="en-US" dirty="0"/>
              <a:t>Miscellaneous Rule: Function parameters cannot be declared as </a:t>
            </a:r>
            <a:r>
              <a:rPr lang="en-US" dirty="0">
                <a:latin typeface="Consolas" panose="020B0609020204030204" pitchFamily="49" charset="0"/>
              </a:rPr>
              <a:t>var</a:t>
            </a:r>
            <a:r>
              <a:rPr lang="en-US" dirty="0"/>
              <a:t> parameters.</a:t>
            </a:r>
          </a:p>
          <a:p>
            <a:pPr marL="914400" lvl="2" indent="0">
              <a:buNone/>
            </a:pPr>
            <a:r>
              <a:rPr lang="en-US" dirty="0"/>
              <a:t>(However, array parameters are always passed by reference regardless of how they are declared, even for functions.)</a:t>
            </a:r>
          </a:p>
          <a:p>
            <a:pPr lvl="1"/>
            <a:r>
              <a:rPr lang="en-US" dirty="0"/>
              <a:t>Miscellaneous Rule: There should be at least one return statement.</a:t>
            </a:r>
          </a:p>
          <a:p>
            <a:pPr marL="914400" lvl="2" indent="0">
              <a:buNone/>
            </a:pPr>
            <a:r>
              <a:rPr lang="en-US" dirty="0"/>
              <a:t>This rule should be much stronger – the declared function should guarantee that it will always execute a return statement.  CPRL requires only the weaker rule since it is easier to implement.</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FC016E02-02BB-476A-9DE0-C405DAA1F827}" type="slidenum">
              <a:rPr lang="en-US" smtClean="0"/>
              <a:pPr>
                <a:defRPr/>
              </a:pPr>
              <a:t>13</a:t>
            </a:fld>
            <a:endParaRPr lang="en-US"/>
          </a:p>
        </p:txBody>
      </p:sp>
    </p:spTree>
    <p:extLst>
      <p:ext uri="{BB962C8B-B14F-4D97-AF65-F5344CB8AC3E}">
        <p14:creationId xmlns:p14="http://schemas.microsoft.com/office/powerpoint/2010/main" val="2779538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Constraint Rules for Subprograms</a:t>
            </a:r>
            <a:br>
              <a:rPr lang="en-US" dirty="0"/>
            </a:br>
            <a:r>
              <a:rPr lang="en-US" sz="2400" dirty="0"/>
              <a:t>(continued)</a:t>
            </a:r>
          </a:p>
        </p:txBody>
      </p:sp>
      <p:sp>
        <p:nvSpPr>
          <p:cNvPr id="3" name="Content Placeholder 2"/>
          <p:cNvSpPr>
            <a:spLocks noGrp="1"/>
          </p:cNvSpPr>
          <p:nvPr>
            <p:ph idx="1"/>
          </p:nvPr>
        </p:nvSpPr>
        <p:spPr>
          <a:xfrm>
            <a:off x="458787" y="1363663"/>
            <a:ext cx="8229600" cy="4935537"/>
          </a:xfrm>
        </p:spPr>
        <p:txBody>
          <a:bodyPr/>
          <a:lstStyle/>
          <a:p>
            <a:r>
              <a:rPr lang="en-US" sz="2300" dirty="0">
                <a:latin typeface="Consolas" panose="020B0609020204030204" pitchFamily="49" charset="0"/>
              </a:rPr>
              <a:t>ProcedureCallStmt</a:t>
            </a:r>
            <a:r>
              <a:rPr lang="en-US" sz="2300" dirty="0"/>
              <a:t> and </a:t>
            </a:r>
            <a:r>
              <a:rPr lang="en-US" sz="2300" dirty="0" err="1">
                <a:latin typeface="Consolas" panose="020B0609020204030204" pitchFamily="49" charset="0"/>
              </a:rPr>
              <a:t>FunctionCallExpr</a:t>
            </a:r>
            <a:endParaRPr lang="en-US" sz="2300" dirty="0">
              <a:latin typeface="Consolas" panose="020B0609020204030204" pitchFamily="49" charset="0"/>
            </a:endParaRPr>
          </a:p>
          <a:p>
            <a:pPr lvl="1"/>
            <a:r>
              <a:rPr lang="en-US" sz="1950" dirty="0"/>
              <a:t>Miscellaneous Rule: The number of actual parameters should equal the number of formal parameters.</a:t>
            </a:r>
          </a:p>
          <a:p>
            <a:pPr lvl="1"/>
            <a:r>
              <a:rPr lang="en-US" sz="1950" dirty="0"/>
              <a:t>Type Rule: Each actual parameter expression should be assignment compatible with the corresponding formal parameter.  Method </a:t>
            </a:r>
            <a:r>
              <a:rPr lang="en-US" sz="1950" dirty="0" err="1">
                <a:latin typeface="Consolas" panose="020B0609020204030204" pitchFamily="49" charset="0"/>
              </a:rPr>
              <a:t>matchTypes</a:t>
            </a:r>
            <a:r>
              <a:rPr lang="en-US" sz="1950" dirty="0">
                <a:latin typeface="Consolas" panose="020B0609020204030204" pitchFamily="49" charset="0"/>
              </a:rPr>
              <a:t>()</a:t>
            </a:r>
            <a:r>
              <a:rPr lang="en-US" sz="1950" dirty="0"/>
              <a:t> inherited from class AST can be used to check for assignment compatibility.</a:t>
            </a:r>
          </a:p>
          <a:p>
            <a:r>
              <a:rPr lang="en-US" sz="2300" dirty="0" err="1">
                <a:latin typeface="Consolas" panose="020B0609020204030204" pitchFamily="49" charset="0"/>
              </a:rPr>
              <a:t>ProcedureCallStmt</a:t>
            </a:r>
            <a:endParaRPr lang="en-US" sz="2300" dirty="0">
              <a:latin typeface="Consolas" panose="020B0609020204030204" pitchFamily="49" charset="0"/>
            </a:endParaRPr>
          </a:p>
          <a:p>
            <a:pPr lvl="1"/>
            <a:r>
              <a:rPr lang="en-US" sz="1950" dirty="0"/>
              <a:t>Miscellaneous Rule: If the formal parameter is a </a:t>
            </a:r>
            <a:r>
              <a:rPr lang="en-US" sz="1950" dirty="0">
                <a:latin typeface="Consolas" panose="020B0609020204030204" pitchFamily="49" charset="0"/>
              </a:rPr>
              <a:t>var</a:t>
            </a:r>
            <a:r>
              <a:rPr lang="en-US" sz="1950" dirty="0"/>
              <a:t> parameter, then the actual parameter must be a variable used as an expression (not an arbitrary expression).</a:t>
            </a:r>
          </a:p>
          <a:p>
            <a:pPr lvl="1"/>
            <a:r>
              <a:rPr lang="en-US" sz="1950" dirty="0"/>
              <a:t>Type Rule: If the formal parameter is a </a:t>
            </a:r>
            <a:r>
              <a:rPr lang="en-US" sz="1950" dirty="0">
                <a:latin typeface="Consolas" panose="020B0609020204030204" pitchFamily="49" charset="0"/>
              </a:rPr>
              <a:t>var</a:t>
            </a:r>
            <a:r>
              <a:rPr lang="en-US" sz="1950" dirty="0"/>
              <a:t> parameter, then the type of the actual parameter must be equal to the declared type of the formal parameter.  Note that this is a stronger form of type compatibility for </a:t>
            </a:r>
            <a:r>
              <a:rPr lang="en-US" sz="1950" dirty="0">
                <a:latin typeface="Consolas" panose="020B0609020204030204" pitchFamily="49" charset="0"/>
              </a:rPr>
              <a:t>var</a:t>
            </a:r>
            <a:r>
              <a:rPr lang="en-US" sz="1950" dirty="0"/>
              <a:t> parameters.</a:t>
            </a:r>
          </a:p>
          <a:p>
            <a:pPr lvl="1"/>
            <a:endParaRPr lang="en-US" dirty="0"/>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FC016E02-02BB-476A-9DE0-C405DAA1F827}" type="slidenum">
              <a:rPr lang="en-US" smtClean="0"/>
              <a:pPr>
                <a:defRPr/>
              </a:pPr>
              <a:t>14</a:t>
            </a:fld>
            <a:endParaRPr lang="en-US"/>
          </a:p>
        </p:txBody>
      </p:sp>
    </p:spTree>
    <p:extLst>
      <p:ext uri="{BB962C8B-B14F-4D97-AF65-F5344CB8AC3E}">
        <p14:creationId xmlns:p14="http://schemas.microsoft.com/office/powerpoint/2010/main" val="36734700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Constraint Rules for Subprograms</a:t>
            </a:r>
            <a:br>
              <a:rPr lang="en-US" dirty="0"/>
            </a:br>
            <a:r>
              <a:rPr lang="en-US" sz="2400" dirty="0"/>
              <a:t>(continued)</a:t>
            </a:r>
          </a:p>
        </p:txBody>
      </p:sp>
      <p:sp>
        <p:nvSpPr>
          <p:cNvPr id="15363" name="Content Placeholder 2"/>
          <p:cNvSpPr>
            <a:spLocks noGrp="1"/>
          </p:cNvSpPr>
          <p:nvPr>
            <p:ph idx="1"/>
          </p:nvPr>
        </p:nvSpPr>
        <p:spPr/>
        <p:txBody>
          <a:bodyPr/>
          <a:lstStyle/>
          <a:p>
            <a:r>
              <a:rPr lang="en-US" dirty="0"/>
              <a:t>Return Statement</a:t>
            </a:r>
          </a:p>
          <a:p>
            <a:pPr lvl="1"/>
            <a:r>
              <a:rPr lang="en-US" dirty="0"/>
              <a:t>Miscellaneous Rule: If the return statement returns a value, then the return statement must be nested within a function declaration.</a:t>
            </a:r>
          </a:p>
          <a:p>
            <a:pPr lvl="1"/>
            <a:r>
              <a:rPr lang="en-US" dirty="0"/>
              <a:t>Miscellaneous Rule: If the return statement is nested within a function, then it must return a value.</a:t>
            </a:r>
          </a:p>
          <a:p>
            <a:pPr lvl="1"/>
            <a:r>
              <a:rPr lang="en-US" dirty="0"/>
              <a:t>Type Rule: If the statement returns a value for a function, then the type of expression being returned must equal the function return type.</a:t>
            </a:r>
          </a:p>
          <a:p>
            <a:pPr lvl="1"/>
            <a:endParaRPr lang="en-US" dirty="0"/>
          </a:p>
        </p:txBody>
      </p:sp>
      <p:sp>
        <p:nvSpPr>
          <p:cNvPr id="15364" name="Footer Placeholder 3"/>
          <p:cNvSpPr>
            <a:spLocks noGrp="1"/>
          </p:cNvSpPr>
          <p:nvPr>
            <p:ph type="ftr" sz="quarter" idx="10"/>
          </p:nvPr>
        </p:nvSpPr>
        <p:spPr>
          <a:noFill/>
        </p:spPr>
        <p:txBody>
          <a:bodyPr/>
          <a:lstStyle/>
          <a:p>
            <a:r>
              <a:rPr lang="en-US"/>
              <a:t>©SoftMoore Consulting</a:t>
            </a:r>
          </a:p>
        </p:txBody>
      </p:sp>
      <p:sp>
        <p:nvSpPr>
          <p:cNvPr id="15365" name="Slide Number Placeholder 4"/>
          <p:cNvSpPr>
            <a:spLocks noGrp="1"/>
          </p:cNvSpPr>
          <p:nvPr>
            <p:ph type="sldNum" sz="quarter" idx="11"/>
          </p:nvPr>
        </p:nvSpPr>
        <p:spPr>
          <a:noFill/>
        </p:spPr>
        <p:txBody>
          <a:bodyPr/>
          <a:lstStyle/>
          <a:p>
            <a:r>
              <a:rPr lang="en-US"/>
              <a:t>Slide </a:t>
            </a:r>
            <a:fld id="{6FED3F94-1319-4AB6-9282-869FAA33AC56}" type="slidenum">
              <a:rPr lang="en-US" smtClean="0"/>
              <a:pPr/>
              <a:t>15</a:t>
            </a:fld>
            <a:endParaRPr lang="en-US"/>
          </a:p>
        </p:txBody>
      </p:sp>
    </p:spTree>
    <p:extLst>
      <p:ext uri="{BB962C8B-B14F-4D97-AF65-F5344CB8AC3E}">
        <p14:creationId xmlns:p14="http://schemas.microsoft.com/office/powerpoint/2010/main" val="27914422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a:t>Runtime Organization for Subprograms </a:t>
            </a:r>
          </a:p>
        </p:txBody>
      </p:sp>
      <p:sp>
        <p:nvSpPr>
          <p:cNvPr id="20483" name="Content Placeholder 2"/>
          <p:cNvSpPr>
            <a:spLocks noGrp="1"/>
          </p:cNvSpPr>
          <p:nvPr>
            <p:ph idx="1"/>
          </p:nvPr>
        </p:nvSpPr>
        <p:spPr/>
        <p:txBody>
          <a:bodyPr/>
          <a:lstStyle/>
          <a:p>
            <a:pPr>
              <a:buFontTx/>
              <a:buNone/>
            </a:pPr>
            <a:r>
              <a:rPr lang="en-US" dirty="0"/>
              <a:t>Understanding the runtime organization for subprograms</a:t>
            </a:r>
          </a:p>
          <a:p>
            <a:pPr>
              <a:spcBef>
                <a:spcPct val="0"/>
              </a:spcBef>
              <a:buFontTx/>
              <a:buNone/>
            </a:pPr>
            <a:r>
              <a:rPr lang="en-US" dirty="0"/>
              <a:t>involves four major concepts.</a:t>
            </a:r>
          </a:p>
          <a:p>
            <a:pPr marL="457200" indent="-457200">
              <a:buSzPct val="100000"/>
              <a:buFont typeface="+mj-lt"/>
              <a:buAutoNum type="arabicPeriod"/>
            </a:pPr>
            <a:r>
              <a:rPr lang="en-US" dirty="0"/>
              <a:t>CVM instructions for subprograms</a:t>
            </a:r>
          </a:p>
          <a:p>
            <a:pPr marL="457200" indent="-457200">
              <a:buSzPct val="100000"/>
              <a:buFont typeface="+mj-lt"/>
              <a:buAutoNum type="arabicPeriod"/>
            </a:pPr>
            <a:r>
              <a:rPr lang="en-US" dirty="0"/>
              <a:t>Calling conventions; i.e., passing parameters and returning function values</a:t>
            </a:r>
          </a:p>
          <a:p>
            <a:pPr marL="457200" indent="-457200">
              <a:buSzPct val="100000"/>
              <a:buFont typeface="+mj-lt"/>
              <a:buAutoNum type="arabicPeriod"/>
            </a:pPr>
            <a:r>
              <a:rPr lang="en-US" dirty="0"/>
              <a:t>Activation records</a:t>
            </a:r>
          </a:p>
          <a:p>
            <a:pPr marL="457200" indent="-457200">
              <a:buSzPct val="100000"/>
              <a:buFont typeface="+mj-lt"/>
              <a:buAutoNum type="arabicPeriod"/>
            </a:pPr>
            <a:r>
              <a:rPr lang="en-US" dirty="0"/>
              <a:t>Variable addressing</a:t>
            </a:r>
          </a:p>
        </p:txBody>
      </p:sp>
      <p:sp>
        <p:nvSpPr>
          <p:cNvPr id="20484" name="Footer Placeholder 3"/>
          <p:cNvSpPr>
            <a:spLocks noGrp="1"/>
          </p:cNvSpPr>
          <p:nvPr>
            <p:ph type="ftr" sz="quarter" idx="10"/>
          </p:nvPr>
        </p:nvSpPr>
        <p:spPr>
          <a:noFill/>
        </p:spPr>
        <p:txBody>
          <a:bodyPr/>
          <a:lstStyle/>
          <a:p>
            <a:r>
              <a:rPr lang="en-US"/>
              <a:t>©SoftMoore Consulting</a:t>
            </a:r>
          </a:p>
        </p:txBody>
      </p:sp>
      <p:sp>
        <p:nvSpPr>
          <p:cNvPr id="20485" name="Slide Number Placeholder 4"/>
          <p:cNvSpPr>
            <a:spLocks noGrp="1"/>
          </p:cNvSpPr>
          <p:nvPr>
            <p:ph type="sldNum" sz="quarter" idx="11"/>
          </p:nvPr>
        </p:nvSpPr>
        <p:spPr>
          <a:noFill/>
        </p:spPr>
        <p:txBody>
          <a:bodyPr/>
          <a:lstStyle/>
          <a:p>
            <a:r>
              <a:rPr lang="en-US"/>
              <a:t>Slide </a:t>
            </a:r>
            <a:fld id="{1BD1FB08-9CC6-4835-B7E0-500A100A2B88}"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a:t>CVM Instructions for Subprograms</a:t>
            </a:r>
          </a:p>
        </p:txBody>
      </p:sp>
      <p:sp>
        <p:nvSpPr>
          <p:cNvPr id="20483" name="Content Placeholder 2"/>
          <p:cNvSpPr>
            <a:spLocks noGrp="1"/>
          </p:cNvSpPr>
          <p:nvPr>
            <p:ph idx="1"/>
          </p:nvPr>
        </p:nvSpPr>
        <p:spPr/>
        <p:txBody>
          <a:bodyPr/>
          <a:lstStyle/>
          <a:p>
            <a:r>
              <a:rPr lang="en-US" sz="2300" dirty="0">
                <a:latin typeface="Consolas" panose="020B0609020204030204" pitchFamily="49" charset="0"/>
              </a:rPr>
              <a:t>PROC</a:t>
            </a:r>
            <a:r>
              <a:rPr lang="en-US" dirty="0"/>
              <a:t>  (procedure/function)</a:t>
            </a:r>
          </a:p>
          <a:p>
            <a:r>
              <a:rPr lang="en-US" sz="2300" dirty="0">
                <a:latin typeface="Consolas" panose="020B0609020204030204" pitchFamily="49" charset="0"/>
              </a:rPr>
              <a:t>CALL</a:t>
            </a:r>
            <a:r>
              <a:rPr lang="en-US" dirty="0"/>
              <a:t> (call subprogram)</a:t>
            </a:r>
          </a:p>
          <a:p>
            <a:r>
              <a:rPr lang="en-US" sz="2300" dirty="0">
                <a:latin typeface="Consolas" panose="020B0609020204030204" pitchFamily="49" charset="0"/>
              </a:rPr>
              <a:t>RET</a:t>
            </a:r>
            <a:r>
              <a:rPr lang="en-US" dirty="0"/>
              <a:t> (return from a subprogram)</a:t>
            </a:r>
          </a:p>
          <a:p>
            <a:r>
              <a:rPr lang="en-US" sz="2300" dirty="0">
                <a:latin typeface="Consolas" panose="020B0609020204030204" pitchFamily="49" charset="0"/>
              </a:rPr>
              <a:t>LDLADDR</a:t>
            </a:r>
            <a:r>
              <a:rPr lang="en-US" dirty="0"/>
              <a:t> (load local address)</a:t>
            </a:r>
          </a:p>
          <a:p>
            <a:r>
              <a:rPr lang="en-US" sz="2300" dirty="0">
                <a:latin typeface="Consolas" panose="020B0609020204030204" pitchFamily="49" charset="0"/>
              </a:rPr>
              <a:t>LDGADDR</a:t>
            </a:r>
            <a:r>
              <a:rPr lang="en-US" dirty="0"/>
              <a:t>  (load global address)</a:t>
            </a:r>
          </a:p>
          <a:p>
            <a:endParaRPr lang="en-US" dirty="0"/>
          </a:p>
        </p:txBody>
      </p:sp>
      <p:sp>
        <p:nvSpPr>
          <p:cNvPr id="20484" name="Footer Placeholder 3"/>
          <p:cNvSpPr>
            <a:spLocks noGrp="1"/>
          </p:cNvSpPr>
          <p:nvPr>
            <p:ph type="ftr" sz="quarter" idx="10"/>
          </p:nvPr>
        </p:nvSpPr>
        <p:spPr>
          <a:noFill/>
        </p:spPr>
        <p:txBody>
          <a:bodyPr/>
          <a:lstStyle/>
          <a:p>
            <a:r>
              <a:rPr lang="en-US"/>
              <a:t>©SoftMoore Consulting</a:t>
            </a:r>
          </a:p>
        </p:txBody>
      </p:sp>
      <p:sp>
        <p:nvSpPr>
          <p:cNvPr id="20485" name="Slide Number Placeholder 4"/>
          <p:cNvSpPr>
            <a:spLocks noGrp="1"/>
          </p:cNvSpPr>
          <p:nvPr>
            <p:ph type="sldNum" sz="quarter" idx="11"/>
          </p:nvPr>
        </p:nvSpPr>
        <p:spPr>
          <a:noFill/>
        </p:spPr>
        <p:txBody>
          <a:bodyPr/>
          <a:lstStyle/>
          <a:p>
            <a:r>
              <a:rPr lang="en-US"/>
              <a:t>Slide </a:t>
            </a:r>
            <a:fld id="{1BD1FB08-9CC6-4835-B7E0-500A100A2B88}" type="slidenum">
              <a:rPr lang="en-US" smtClean="0"/>
              <a:pPr/>
              <a:t>17</a:t>
            </a:fld>
            <a:endParaRPr lang="en-US"/>
          </a:p>
        </p:txBody>
      </p:sp>
      <p:sp>
        <p:nvSpPr>
          <p:cNvPr id="6" name="TextBox 5"/>
          <p:cNvSpPr txBox="1"/>
          <p:nvPr/>
        </p:nvSpPr>
        <p:spPr>
          <a:xfrm>
            <a:off x="1896428" y="4495800"/>
            <a:ext cx="5351145" cy="769441"/>
          </a:xfrm>
          <a:prstGeom prst="rect">
            <a:avLst/>
          </a:prstGeom>
          <a:noFill/>
          <a:ln>
            <a:solidFill>
              <a:schemeClr val="tx1"/>
            </a:solidFill>
          </a:ln>
        </p:spPr>
        <p:txBody>
          <a:bodyPr wrap="none" rtlCol="0">
            <a:spAutoFit/>
          </a:bodyPr>
          <a:lstStyle/>
          <a:p>
            <a:pPr algn="l"/>
            <a:r>
              <a:rPr lang="en-US" sz="2200" dirty="0"/>
              <a:t>Note that CVM does not have separate</a:t>
            </a:r>
          </a:p>
          <a:p>
            <a:pPr algn="l"/>
            <a:r>
              <a:rPr lang="en-US" sz="2200" dirty="0"/>
              <a:t>instructions for procedures and functions.</a:t>
            </a:r>
          </a:p>
        </p:txBody>
      </p:sp>
      <p:sp>
        <p:nvSpPr>
          <p:cNvPr id="2" name="TextBox 1">
            <a:extLst>
              <a:ext uri="{FF2B5EF4-FFF2-40B4-BE49-F238E27FC236}">
                <a16:creationId xmlns:a16="http://schemas.microsoft.com/office/drawing/2014/main" id="{AE277FB1-B8F7-3259-B8FB-3C67F9A8A2C4}"/>
              </a:ext>
            </a:extLst>
          </p:cNvPr>
          <p:cNvSpPr txBox="1"/>
          <p:nvPr/>
        </p:nvSpPr>
        <p:spPr>
          <a:xfrm>
            <a:off x="5576224" y="3196977"/>
            <a:ext cx="3190297" cy="707886"/>
          </a:xfrm>
          <a:prstGeom prst="rect">
            <a:avLst/>
          </a:prstGeom>
          <a:noFill/>
        </p:spPr>
        <p:txBody>
          <a:bodyPr wrap="none" rtlCol="0">
            <a:spAutoFit/>
          </a:bodyPr>
          <a:lstStyle/>
          <a:p>
            <a:r>
              <a:rPr lang="en-US" sz="2000" dirty="0"/>
              <a:t>load relative addresses for</a:t>
            </a:r>
          </a:p>
          <a:p>
            <a:r>
              <a:rPr lang="en-US" sz="2000" dirty="0"/>
              <a:t>variables and parameters</a:t>
            </a:r>
          </a:p>
        </p:txBody>
      </p:sp>
      <p:sp>
        <p:nvSpPr>
          <p:cNvPr id="3" name="Right Brace 2">
            <a:extLst>
              <a:ext uri="{FF2B5EF4-FFF2-40B4-BE49-F238E27FC236}">
                <a16:creationId xmlns:a16="http://schemas.microsoft.com/office/drawing/2014/main" id="{C722D776-7816-B12E-0765-A028AC66E0E6}"/>
              </a:ext>
            </a:extLst>
          </p:cNvPr>
          <p:cNvSpPr/>
          <p:nvPr/>
        </p:nvSpPr>
        <p:spPr bwMode="auto">
          <a:xfrm>
            <a:off x="5410200" y="3139440"/>
            <a:ext cx="182880" cy="82296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18736363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6C8DF-C1BF-AA13-C2D2-FEB44393282C}"/>
              </a:ext>
            </a:extLst>
          </p:cNvPr>
          <p:cNvSpPr>
            <a:spLocks noGrp="1"/>
          </p:cNvSpPr>
          <p:nvPr>
            <p:ph type="title"/>
          </p:nvPr>
        </p:nvSpPr>
        <p:spPr/>
        <p:txBody>
          <a:bodyPr/>
          <a:lstStyle/>
          <a:p>
            <a:r>
              <a:rPr lang="en-US" dirty="0"/>
              <a:t>Calling Conventions</a:t>
            </a:r>
          </a:p>
        </p:txBody>
      </p:sp>
      <p:sp>
        <p:nvSpPr>
          <p:cNvPr id="3" name="Content Placeholder 2">
            <a:extLst>
              <a:ext uri="{FF2B5EF4-FFF2-40B4-BE49-F238E27FC236}">
                <a16:creationId xmlns:a16="http://schemas.microsoft.com/office/drawing/2014/main" id="{30937F2E-93DB-754C-45F2-4B5A1233A1D8}"/>
              </a:ext>
            </a:extLst>
          </p:cNvPr>
          <p:cNvSpPr>
            <a:spLocks noGrp="1"/>
          </p:cNvSpPr>
          <p:nvPr>
            <p:ph idx="1"/>
          </p:nvPr>
        </p:nvSpPr>
        <p:spPr/>
        <p:txBody>
          <a:bodyPr/>
          <a:lstStyle/>
          <a:p>
            <a:r>
              <a:rPr lang="en-US" dirty="0"/>
              <a:t>Calling convention</a:t>
            </a:r>
          </a:p>
          <a:p>
            <a:pPr lvl="1"/>
            <a:r>
              <a:rPr lang="en-US" dirty="0"/>
              <a:t>protocol describing how subprograms communicate at the machine </a:t>
            </a:r>
            <a:r>
              <a:rPr lang="en-US"/>
              <a:t>architecture level</a:t>
            </a:r>
            <a:endParaRPr lang="en-US" dirty="0"/>
          </a:p>
          <a:p>
            <a:pPr lvl="1"/>
            <a:r>
              <a:rPr lang="en-US" dirty="0"/>
              <a:t>specifies the responsibilities of the calling subprogram (a.k.a., the caller) and the called subprogram (a.k.a., the callee) with respect to</a:t>
            </a:r>
          </a:p>
          <a:p>
            <a:pPr lvl="2"/>
            <a:r>
              <a:rPr lang="en-US" dirty="0"/>
              <a:t>passing parameters</a:t>
            </a:r>
          </a:p>
          <a:p>
            <a:pPr lvl="2"/>
            <a:r>
              <a:rPr lang="en-US" dirty="0"/>
              <a:t>returning values</a:t>
            </a:r>
          </a:p>
          <a:p>
            <a:pPr lvl="2"/>
            <a:r>
              <a:rPr lang="en-US" dirty="0"/>
              <a:t>management of the run-time stack</a:t>
            </a:r>
          </a:p>
          <a:p>
            <a:r>
              <a:rPr lang="en-US" dirty="0"/>
              <a:t>Calling conventions are influenced by programming languages, operating systems, and machine architectures. </a:t>
            </a:r>
          </a:p>
        </p:txBody>
      </p:sp>
      <p:sp>
        <p:nvSpPr>
          <p:cNvPr id="4" name="Footer Placeholder 3">
            <a:extLst>
              <a:ext uri="{FF2B5EF4-FFF2-40B4-BE49-F238E27FC236}">
                <a16:creationId xmlns:a16="http://schemas.microsoft.com/office/drawing/2014/main" id="{3CBBA225-FDDF-4174-48CD-E89807D25CD6}"/>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D4924261-976F-C40B-11F1-DDAA55FD28EA}"/>
              </a:ext>
            </a:extLst>
          </p:cNvPr>
          <p:cNvSpPr>
            <a:spLocks noGrp="1"/>
          </p:cNvSpPr>
          <p:nvPr>
            <p:ph type="sldNum" sz="quarter" idx="11"/>
          </p:nvPr>
        </p:nvSpPr>
        <p:spPr/>
        <p:txBody>
          <a:bodyPr/>
          <a:lstStyle/>
          <a:p>
            <a:pPr>
              <a:defRPr/>
            </a:pPr>
            <a:r>
              <a:rPr lang="en-US"/>
              <a:t>Slide </a:t>
            </a:r>
            <a:fld id="{4E55CFDC-59FD-439A-9888-9166DC8A4008}" type="slidenum">
              <a:rPr lang="en-US" smtClean="0"/>
              <a:pPr>
                <a:defRPr/>
              </a:pPr>
              <a:t>18</a:t>
            </a:fld>
            <a:endParaRPr lang="en-US"/>
          </a:p>
        </p:txBody>
      </p:sp>
    </p:spTree>
    <p:extLst>
      <p:ext uri="{BB962C8B-B14F-4D97-AF65-F5344CB8AC3E}">
        <p14:creationId xmlns:p14="http://schemas.microsoft.com/office/powerpoint/2010/main" val="1895540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6C8DF-C1BF-AA13-C2D2-FEB44393282C}"/>
              </a:ext>
            </a:extLst>
          </p:cNvPr>
          <p:cNvSpPr>
            <a:spLocks noGrp="1"/>
          </p:cNvSpPr>
          <p:nvPr>
            <p:ph type="title"/>
          </p:nvPr>
        </p:nvSpPr>
        <p:spPr/>
        <p:txBody>
          <a:bodyPr/>
          <a:lstStyle/>
          <a:p>
            <a:r>
              <a:rPr lang="en-US" dirty="0"/>
              <a:t>Calling Conventions</a:t>
            </a:r>
            <a:br>
              <a:rPr lang="en-US" dirty="0"/>
            </a:br>
            <a:r>
              <a:rPr lang="en-US" sz="2400" dirty="0"/>
              <a:t>(continued)</a:t>
            </a:r>
          </a:p>
        </p:txBody>
      </p:sp>
      <p:sp>
        <p:nvSpPr>
          <p:cNvPr id="3" name="Content Placeholder 2">
            <a:extLst>
              <a:ext uri="{FF2B5EF4-FFF2-40B4-BE49-F238E27FC236}">
                <a16:creationId xmlns:a16="http://schemas.microsoft.com/office/drawing/2014/main" id="{30937F2E-93DB-754C-45F2-4B5A1233A1D8}"/>
              </a:ext>
            </a:extLst>
          </p:cNvPr>
          <p:cNvSpPr>
            <a:spLocks noGrp="1"/>
          </p:cNvSpPr>
          <p:nvPr>
            <p:ph idx="1"/>
          </p:nvPr>
        </p:nvSpPr>
        <p:spPr/>
        <p:txBody>
          <a:bodyPr/>
          <a:lstStyle/>
          <a:p>
            <a:r>
              <a:rPr lang="en-US" sz="2350" dirty="0"/>
              <a:t>Most real architectures use registers, and so a calling convention would specify the role of registers in subprogram communication.</a:t>
            </a:r>
          </a:p>
          <a:p>
            <a:r>
              <a:rPr lang="en-US" sz="2350" dirty="0"/>
              <a:t>Most virtual machines are stack-based, and so the run-time stack is used almost exclusively for passing parameters and returning values.</a:t>
            </a:r>
          </a:p>
          <a:p>
            <a:r>
              <a:rPr lang="en-US" sz="2350" dirty="0"/>
              <a:t>From the perspective of a compiler writer, a calling convention describes how to generate code in the context of the calling subprogram and the called subprogram.</a:t>
            </a:r>
          </a:p>
          <a:p>
            <a:r>
              <a:rPr lang="en-US" sz="2350" dirty="0"/>
              <a:t>Example of Calling Conventions. System V AMD64 ABI (Application Binary Interface) for Linux on x86-64 (a.k.a., AMD64 or x64)</a:t>
            </a:r>
          </a:p>
        </p:txBody>
      </p:sp>
      <p:sp>
        <p:nvSpPr>
          <p:cNvPr id="4" name="Footer Placeholder 3">
            <a:extLst>
              <a:ext uri="{FF2B5EF4-FFF2-40B4-BE49-F238E27FC236}">
                <a16:creationId xmlns:a16="http://schemas.microsoft.com/office/drawing/2014/main" id="{3CBBA225-FDDF-4174-48CD-E89807D25CD6}"/>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D4924261-976F-C40B-11F1-DDAA55FD28EA}"/>
              </a:ext>
            </a:extLst>
          </p:cNvPr>
          <p:cNvSpPr>
            <a:spLocks noGrp="1"/>
          </p:cNvSpPr>
          <p:nvPr>
            <p:ph type="sldNum" sz="quarter" idx="11"/>
          </p:nvPr>
        </p:nvSpPr>
        <p:spPr/>
        <p:txBody>
          <a:bodyPr/>
          <a:lstStyle/>
          <a:p>
            <a:pPr>
              <a:defRPr/>
            </a:pPr>
            <a:r>
              <a:rPr lang="en-US"/>
              <a:t>Slide </a:t>
            </a:r>
            <a:fld id="{4E55CFDC-59FD-439A-9888-9166DC8A4008}" type="slidenum">
              <a:rPr lang="en-US" smtClean="0"/>
              <a:pPr>
                <a:defRPr/>
              </a:pPr>
              <a:t>19</a:t>
            </a:fld>
            <a:endParaRPr lang="en-US"/>
          </a:p>
        </p:txBody>
      </p:sp>
    </p:spTree>
    <p:extLst>
      <p:ext uri="{BB962C8B-B14F-4D97-AF65-F5344CB8AC3E}">
        <p14:creationId xmlns:p14="http://schemas.microsoft.com/office/powerpoint/2010/main" val="24791845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p:cNvSpPr>
            <a:spLocks noGrp="1"/>
          </p:cNvSpPr>
          <p:nvPr>
            <p:ph type="ftr" sz="quarter" idx="10"/>
          </p:nvPr>
        </p:nvSpPr>
        <p:spPr>
          <a:noFill/>
        </p:spPr>
        <p:txBody>
          <a:bodyPr/>
          <a:lstStyle/>
          <a:p>
            <a:r>
              <a:rPr lang="en-US"/>
              <a:t>©SoftMoore Consulting</a:t>
            </a:r>
          </a:p>
        </p:txBody>
      </p:sp>
      <p:sp>
        <p:nvSpPr>
          <p:cNvPr id="21507" name="Slide Number Placeholder 4"/>
          <p:cNvSpPr>
            <a:spLocks noGrp="1"/>
          </p:cNvSpPr>
          <p:nvPr>
            <p:ph type="sldNum" sz="quarter" idx="11"/>
          </p:nvPr>
        </p:nvSpPr>
        <p:spPr>
          <a:noFill/>
        </p:spPr>
        <p:txBody>
          <a:bodyPr/>
          <a:lstStyle/>
          <a:p>
            <a:r>
              <a:rPr lang="en-US"/>
              <a:t>Slide </a:t>
            </a:r>
            <a:fld id="{8A6D1C3F-2A3D-4CAC-93E1-96B51B35DAB5}" type="slidenum">
              <a:rPr lang="en-US" smtClean="0"/>
              <a:pPr/>
              <a:t>20</a:t>
            </a:fld>
            <a:endParaRPr lang="en-US"/>
          </a:p>
        </p:txBody>
      </p:sp>
      <p:sp>
        <p:nvSpPr>
          <p:cNvPr id="21508" name="Rectangle 2"/>
          <p:cNvSpPr>
            <a:spLocks noGrp="1" noChangeArrowheads="1"/>
          </p:cNvSpPr>
          <p:nvPr>
            <p:ph type="title"/>
          </p:nvPr>
        </p:nvSpPr>
        <p:spPr/>
        <p:txBody>
          <a:bodyPr/>
          <a:lstStyle/>
          <a:p>
            <a:r>
              <a:rPr lang="en-US" dirty="0"/>
              <a:t>Active Subprograms</a:t>
            </a:r>
            <a:endParaRPr lang="en-US" sz="2600" dirty="0"/>
          </a:p>
        </p:txBody>
      </p:sp>
      <p:sp>
        <p:nvSpPr>
          <p:cNvPr id="21509" name="Rectangle 3"/>
          <p:cNvSpPr>
            <a:spLocks noGrp="1" noChangeArrowheads="1"/>
          </p:cNvSpPr>
          <p:nvPr>
            <p:ph type="body" idx="1"/>
          </p:nvPr>
        </p:nvSpPr>
        <p:spPr/>
        <p:txBody>
          <a:bodyPr/>
          <a:lstStyle/>
          <a:p>
            <a:r>
              <a:rPr lang="en-US" dirty="0"/>
              <a:t>When a program is running, a subprogram is said to be  </a:t>
            </a:r>
            <a:r>
              <a:rPr lang="en-US" b="1" dirty="0"/>
              <a:t>active</a:t>
            </a:r>
            <a:r>
              <a:rPr lang="en-US" dirty="0"/>
              <a:t> if it has been called but has not yet returned.</a:t>
            </a:r>
          </a:p>
          <a:p>
            <a:r>
              <a:rPr lang="en-US" dirty="0"/>
              <a:t>When a subprogram is called, we need to allocate space on the run-time stack for its parameters and local variables. When the subprogram returns, the allocated stack space is released</a:t>
            </a:r>
          </a:p>
          <a:p>
            <a:r>
              <a:rPr lang="en-US" dirty="0"/>
              <a:t>For functions, we also need to allocate space on the run-time stack for the return value, but this stack space is not released when the function returns – the return value remains on the stack. </a:t>
            </a:r>
          </a:p>
        </p:txBody>
      </p:sp>
      <p:sp>
        <p:nvSpPr>
          <p:cNvPr id="3" name="TextBox 2">
            <a:extLst>
              <a:ext uri="{FF2B5EF4-FFF2-40B4-BE49-F238E27FC236}">
                <a16:creationId xmlns:a16="http://schemas.microsoft.com/office/drawing/2014/main" id="{8A4AC650-5037-0ED4-CD13-31A65BFC0030}"/>
              </a:ext>
            </a:extLst>
          </p:cNvPr>
          <p:cNvSpPr txBox="1"/>
          <p:nvPr/>
        </p:nvSpPr>
        <p:spPr>
          <a:xfrm>
            <a:off x="1234440" y="5490534"/>
            <a:ext cx="6675120" cy="769441"/>
          </a:xfrm>
          <a:prstGeom prst="rect">
            <a:avLst/>
          </a:prstGeom>
          <a:noFill/>
          <a:ln>
            <a:solidFill>
              <a:schemeClr val="tx1"/>
            </a:solidFill>
          </a:ln>
        </p:spPr>
        <p:txBody>
          <a:bodyPr wrap="none" rtlCol="0">
            <a:spAutoFit/>
          </a:bodyPr>
          <a:lstStyle/>
          <a:p>
            <a:pPr algn="l"/>
            <a:r>
              <a:rPr lang="en-US" sz="2200" dirty="0"/>
              <a:t>An active subprogram is one for which this space</a:t>
            </a:r>
          </a:p>
          <a:p>
            <a:pPr algn="l"/>
            <a:r>
              <a:rPr lang="en-US" sz="2200" dirty="0"/>
              <a:t>(activation record) is currently on the run-time stack.</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p:cNvSpPr>
            <a:spLocks noGrp="1"/>
          </p:cNvSpPr>
          <p:nvPr>
            <p:ph type="ftr" sz="quarter" idx="10"/>
          </p:nvPr>
        </p:nvSpPr>
        <p:spPr>
          <a:noFill/>
        </p:spPr>
        <p:txBody>
          <a:bodyPr/>
          <a:lstStyle/>
          <a:p>
            <a:r>
              <a:rPr lang="en-US"/>
              <a:t>©SoftMoore Consulting</a:t>
            </a:r>
          </a:p>
        </p:txBody>
      </p:sp>
      <p:sp>
        <p:nvSpPr>
          <p:cNvPr id="22531" name="Slide Number Placeholder 4"/>
          <p:cNvSpPr>
            <a:spLocks noGrp="1"/>
          </p:cNvSpPr>
          <p:nvPr>
            <p:ph type="sldNum" sz="quarter" idx="11"/>
          </p:nvPr>
        </p:nvSpPr>
        <p:spPr>
          <a:noFill/>
        </p:spPr>
        <p:txBody>
          <a:bodyPr/>
          <a:lstStyle/>
          <a:p>
            <a:r>
              <a:rPr lang="en-US"/>
              <a:t>Slide </a:t>
            </a:r>
            <a:fld id="{91068122-A33E-481C-B2EA-1B690681B395}" type="slidenum">
              <a:rPr lang="en-US" smtClean="0"/>
              <a:pPr/>
              <a:t>21</a:t>
            </a:fld>
            <a:endParaRPr lang="en-US"/>
          </a:p>
        </p:txBody>
      </p:sp>
      <p:sp>
        <p:nvSpPr>
          <p:cNvPr id="22532" name="Rectangle 2"/>
          <p:cNvSpPr>
            <a:spLocks noGrp="1" noChangeArrowheads="1"/>
          </p:cNvSpPr>
          <p:nvPr>
            <p:ph type="title"/>
          </p:nvPr>
        </p:nvSpPr>
        <p:spPr/>
        <p:txBody>
          <a:bodyPr/>
          <a:lstStyle/>
          <a:p>
            <a:r>
              <a:rPr lang="en-US" dirty="0"/>
              <a:t>Activation Record</a:t>
            </a:r>
            <a:br>
              <a:rPr lang="en-US" dirty="0"/>
            </a:br>
            <a:r>
              <a:rPr lang="en-US" sz="2400" dirty="0"/>
              <a:t>(a.k.a. </a:t>
            </a:r>
            <a:r>
              <a:rPr lang="en-US" sz="2400"/>
              <a:t>Stack Frame or Call Frame)</a:t>
            </a:r>
            <a:endParaRPr lang="en-US" sz="2400" dirty="0"/>
          </a:p>
        </p:txBody>
      </p:sp>
      <p:sp>
        <p:nvSpPr>
          <p:cNvPr id="22533" name="Rectangle 3"/>
          <p:cNvSpPr>
            <a:spLocks noGrp="1" noChangeArrowheads="1"/>
          </p:cNvSpPr>
          <p:nvPr>
            <p:ph type="body" idx="1"/>
          </p:nvPr>
        </p:nvSpPr>
        <p:spPr/>
        <p:txBody>
          <a:bodyPr/>
          <a:lstStyle/>
          <a:p>
            <a:r>
              <a:rPr lang="en-US" dirty="0"/>
              <a:t>An activation record is a run-time structure for each currently active subprogram.  </a:t>
            </a:r>
            <a:r>
              <a:rPr lang="en-US" b="1" dirty="0"/>
              <a:t>A new activation record is created every time a subprogram is called.</a:t>
            </a:r>
          </a:p>
          <a:p>
            <a:r>
              <a:rPr lang="en-US" dirty="0"/>
              <a:t>Consists of up to five parts</a:t>
            </a:r>
          </a:p>
          <a:p>
            <a:pPr lvl="1"/>
            <a:r>
              <a:rPr lang="en-US" dirty="0"/>
              <a:t>return value part (for functions only)</a:t>
            </a:r>
          </a:p>
          <a:p>
            <a:pPr lvl="1"/>
            <a:r>
              <a:rPr lang="en-US" dirty="0"/>
              <a:t>parameter part (may be empty if there are no parameters)</a:t>
            </a:r>
          </a:p>
          <a:p>
            <a:pPr lvl="1"/>
            <a:r>
              <a:rPr lang="en-US" dirty="0"/>
              <a:t>context part (always 2 words)</a:t>
            </a:r>
          </a:p>
          <a:p>
            <a:pPr lvl="2"/>
            <a:r>
              <a:rPr lang="en-US" dirty="0"/>
              <a:t>saved values for </a:t>
            </a:r>
            <a:r>
              <a:rPr lang="en-US" dirty="0">
                <a:latin typeface="Consolas" panose="020B0609020204030204" pitchFamily="49" charset="0"/>
              </a:rPr>
              <a:t>PC</a:t>
            </a:r>
            <a:r>
              <a:rPr lang="en-US" dirty="0"/>
              <a:t> and </a:t>
            </a:r>
            <a:r>
              <a:rPr lang="en-US" dirty="0">
                <a:latin typeface="Consolas" panose="020B0609020204030204" pitchFamily="49" charset="0"/>
              </a:rPr>
              <a:t>BP</a:t>
            </a:r>
          </a:p>
          <a:p>
            <a:pPr lvl="1"/>
            <a:r>
              <a:rPr lang="en-US" dirty="0"/>
              <a:t>local variable part (may be empty if there are no local variables)</a:t>
            </a:r>
          </a:p>
          <a:p>
            <a:pPr lvl="1"/>
            <a:r>
              <a:rPr lang="en-US" dirty="0"/>
              <a:t>temporary part</a:t>
            </a:r>
          </a:p>
          <a:p>
            <a:pPr lvl="2"/>
            <a:r>
              <a:rPr lang="en-US" dirty="0"/>
              <a:t>holds operands and results as statements are executed</a:t>
            </a:r>
          </a:p>
          <a:p>
            <a:pPr lvl="2"/>
            <a:r>
              <a:rPr lang="en-US" dirty="0"/>
              <a:t>is always empty at the beginning and end of every statement of the subprogram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Return Value Part of an Activation Record</a:t>
            </a:r>
          </a:p>
        </p:txBody>
      </p:sp>
      <p:sp>
        <p:nvSpPr>
          <p:cNvPr id="3" name="Content Placeholder 2"/>
          <p:cNvSpPr>
            <a:spLocks noGrp="1"/>
          </p:cNvSpPr>
          <p:nvPr>
            <p:ph idx="1"/>
          </p:nvPr>
        </p:nvSpPr>
        <p:spPr/>
        <p:txBody>
          <a:bodyPr/>
          <a:lstStyle/>
          <a:p>
            <a:r>
              <a:rPr lang="en-US" dirty="0"/>
              <a:t>A function call must first allocate space on the stack for the return value.  The number of bytes allocated is the number of bytes for the return type of the function.</a:t>
            </a:r>
          </a:p>
          <a:p>
            <a:r>
              <a:rPr lang="en-US" dirty="0"/>
              <a:t>The </a:t>
            </a:r>
            <a:r>
              <a:rPr lang="en-US" dirty="0">
                <a:latin typeface="Consolas" panose="020B0609020204030204" pitchFamily="49" charset="0"/>
              </a:rPr>
              <a:t>emit()</a:t>
            </a:r>
            <a:r>
              <a:rPr lang="en-US" dirty="0"/>
              <a:t> method in class </a:t>
            </a:r>
            <a:r>
              <a:rPr lang="en-US" dirty="0" err="1">
                <a:latin typeface="Consolas" pitchFamily="49" charset="0"/>
                <a:cs typeface="Consolas" pitchFamily="49" charset="0"/>
              </a:rPr>
              <a:t>FunctionCallExpr</a:t>
            </a:r>
            <a:r>
              <a:rPr lang="en-US" dirty="0">
                <a:cs typeface="Consolas" pitchFamily="49" charset="0"/>
              </a:rPr>
              <a:t> contains the following code.</a:t>
            </a:r>
            <a:endParaRPr lang="en-US" dirty="0">
              <a:latin typeface="Consolas" pitchFamily="49" charset="0"/>
              <a:cs typeface="Consolas" pitchFamily="49" charset="0"/>
            </a:endParaRPr>
          </a:p>
          <a:p>
            <a:pPr lvl="1">
              <a:buNone/>
            </a:pPr>
            <a:r>
              <a:rPr lang="en-US" sz="1800" dirty="0">
                <a:latin typeface="Consolas" pitchFamily="49" charset="0"/>
                <a:cs typeface="Consolas" pitchFamily="49" charset="0"/>
              </a:rPr>
              <a:t>// allocate space on the stack for the return value</a:t>
            </a:r>
          </a:p>
          <a:p>
            <a:pPr lvl="1">
              <a:spcBef>
                <a:spcPts val="200"/>
              </a:spcBef>
              <a:buNone/>
            </a:pPr>
            <a:r>
              <a:rPr lang="en-US" sz="1800" dirty="0">
                <a:latin typeface="Consolas" pitchFamily="49" charset="0"/>
                <a:cs typeface="Consolas" pitchFamily="49" charset="0"/>
              </a:rPr>
              <a:t>emit("ALLOC " + </a:t>
            </a:r>
            <a:r>
              <a:rPr lang="en-US" sz="1800" dirty="0" err="1">
                <a:latin typeface="Consolas" pitchFamily="49" charset="0"/>
                <a:cs typeface="Consolas" pitchFamily="49" charset="0"/>
              </a:rPr>
              <a:t>funDecl.type</a:t>
            </a:r>
            <a:r>
              <a:rPr lang="en-US" sz="1800" dirty="0">
                <a:latin typeface="Consolas" pitchFamily="49" charset="0"/>
                <a:cs typeface="Consolas" pitchFamily="49" charset="0"/>
              </a:rPr>
              <a:t>().size());</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4E55CFDC-59FD-439A-9888-9166DC8A4008}" type="slidenum">
              <a:rPr lang="en-US" smtClean="0"/>
              <a:pPr>
                <a:defRPr/>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Parameter Part of an Activation Record</a:t>
            </a:r>
            <a:endParaRPr lang="en-US" dirty="0"/>
          </a:p>
        </p:txBody>
      </p:sp>
      <p:sp>
        <p:nvSpPr>
          <p:cNvPr id="3" name="Content Placeholder 2"/>
          <p:cNvSpPr>
            <a:spLocks noGrp="1"/>
          </p:cNvSpPr>
          <p:nvPr>
            <p:ph idx="1"/>
          </p:nvPr>
        </p:nvSpPr>
        <p:spPr/>
        <p:txBody>
          <a:bodyPr/>
          <a:lstStyle/>
          <a:p>
            <a:r>
              <a:rPr lang="en-US" dirty="0"/>
              <a:t>For each </a:t>
            </a:r>
            <a:r>
              <a:rPr lang="en-US" i="1" dirty="0"/>
              <a:t>value</a:t>
            </a:r>
            <a:r>
              <a:rPr lang="en-US" dirty="0"/>
              <a:t> parameter, a subprogram call must emit code to leave the value of the actual parameter on the top of the stack.</a:t>
            </a:r>
          </a:p>
          <a:p>
            <a:r>
              <a:rPr lang="en-US" dirty="0"/>
              <a:t>For each </a:t>
            </a:r>
            <a:r>
              <a:rPr lang="en-US" i="1" dirty="0"/>
              <a:t>variable</a:t>
            </a:r>
            <a:r>
              <a:rPr lang="en-US" dirty="0"/>
              <a:t> (</a:t>
            </a:r>
            <a:r>
              <a:rPr lang="en-US" sz="2300" dirty="0">
                <a:latin typeface="Consolas" panose="020B0609020204030204" pitchFamily="49" charset="0"/>
              </a:rPr>
              <a:t>var</a:t>
            </a:r>
            <a:r>
              <a:rPr lang="en-US" dirty="0"/>
              <a:t>) parameter, a procedure call must emit code to leave the address of the actual parameter on the top of the stack. The actual parameter must be a variable, not an arbitrary expression.</a:t>
            </a:r>
            <a:endParaRPr lang="en-US" dirty="0">
              <a:latin typeface="Consolas" pitchFamily="49" charset="0"/>
              <a:cs typeface="Consolas" pitchFamily="49" charset="0"/>
            </a:endParaRPr>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4E55CFDC-59FD-439A-9888-9166DC8A4008}"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p:cNvSpPr>
            <a:spLocks noGrp="1"/>
          </p:cNvSpPr>
          <p:nvPr>
            <p:ph type="ftr" sz="quarter" idx="10"/>
          </p:nvPr>
        </p:nvSpPr>
        <p:spPr>
          <a:noFill/>
        </p:spPr>
        <p:txBody>
          <a:bodyPr/>
          <a:lstStyle/>
          <a:p>
            <a:r>
              <a:rPr lang="en-US"/>
              <a:t>©SoftMoore Consulting</a:t>
            </a:r>
          </a:p>
        </p:txBody>
      </p:sp>
      <p:sp>
        <p:nvSpPr>
          <p:cNvPr id="23555" name="Slide Number Placeholder 4"/>
          <p:cNvSpPr>
            <a:spLocks noGrp="1"/>
          </p:cNvSpPr>
          <p:nvPr>
            <p:ph type="sldNum" sz="quarter" idx="11"/>
          </p:nvPr>
        </p:nvSpPr>
        <p:spPr>
          <a:noFill/>
        </p:spPr>
        <p:txBody>
          <a:bodyPr/>
          <a:lstStyle/>
          <a:p>
            <a:r>
              <a:rPr lang="en-US"/>
              <a:t>Slide </a:t>
            </a:r>
            <a:fld id="{888C7912-ADA7-46EC-A09F-9B9F4CF35F38}" type="slidenum">
              <a:rPr lang="en-US" smtClean="0"/>
              <a:pPr/>
              <a:t>24</a:t>
            </a:fld>
            <a:endParaRPr lang="en-US"/>
          </a:p>
        </p:txBody>
      </p:sp>
      <p:sp>
        <p:nvSpPr>
          <p:cNvPr id="23556" name="Rectangle 2"/>
          <p:cNvSpPr>
            <a:spLocks noGrp="1" noChangeArrowheads="1"/>
          </p:cNvSpPr>
          <p:nvPr>
            <p:ph type="title"/>
          </p:nvPr>
        </p:nvSpPr>
        <p:spPr/>
        <p:txBody>
          <a:bodyPr/>
          <a:lstStyle/>
          <a:p>
            <a:r>
              <a:rPr lang="en-US"/>
              <a:t>Context Part of an Activation Record</a:t>
            </a:r>
            <a:endParaRPr lang="en-US" sz="2600"/>
          </a:p>
        </p:txBody>
      </p:sp>
      <p:sp>
        <p:nvSpPr>
          <p:cNvPr id="23557" name="Rectangle 3"/>
          <p:cNvSpPr>
            <a:spLocks noGrp="1" noChangeArrowheads="1"/>
          </p:cNvSpPr>
          <p:nvPr>
            <p:ph type="body" idx="1"/>
          </p:nvPr>
        </p:nvSpPr>
        <p:spPr/>
        <p:txBody>
          <a:bodyPr/>
          <a:lstStyle/>
          <a:p>
            <a:r>
              <a:rPr lang="en-US" dirty="0"/>
              <a:t>Dynamic Link – base address (</a:t>
            </a:r>
            <a:r>
              <a:rPr lang="en-US" sz="2300" dirty="0">
                <a:latin typeface="Consolas" panose="020B0609020204030204" pitchFamily="49" charset="0"/>
              </a:rPr>
              <a:t>BP</a:t>
            </a:r>
            <a:r>
              <a:rPr lang="en-US" dirty="0"/>
              <a:t>) of the activation record for the calling subprogram</a:t>
            </a:r>
          </a:p>
          <a:p>
            <a:r>
              <a:rPr lang="en-US" dirty="0"/>
              <a:t>Return address – address of the next instruction following the call to the subprogram</a:t>
            </a:r>
          </a:p>
          <a:p>
            <a:pPr lvl="1"/>
            <a:r>
              <a:rPr lang="en-US" dirty="0"/>
              <a:t>value of the program counter (</a:t>
            </a:r>
            <a:r>
              <a:rPr lang="en-US" dirty="0">
                <a:latin typeface="Consolas" panose="020B0609020204030204" pitchFamily="49" charset="0"/>
              </a:rPr>
              <a:t>PC</a:t>
            </a:r>
            <a:r>
              <a:rPr lang="en-US" dirty="0"/>
              <a:t>) after the call instruction has been “fetched” but before it has been executed</a:t>
            </a:r>
          </a:p>
        </p:txBody>
      </p:sp>
      <p:sp>
        <p:nvSpPr>
          <p:cNvPr id="23558" name="TextBox 6"/>
          <p:cNvSpPr txBox="1">
            <a:spLocks noChangeArrowheads="1"/>
          </p:cNvSpPr>
          <p:nvPr/>
        </p:nvSpPr>
        <p:spPr bwMode="auto">
          <a:xfrm>
            <a:off x="1523858" y="4116050"/>
            <a:ext cx="6096284" cy="1446550"/>
          </a:xfrm>
          <a:prstGeom prst="rect">
            <a:avLst/>
          </a:prstGeom>
          <a:noFill/>
          <a:ln w="9525">
            <a:solidFill>
              <a:schemeClr val="tx1"/>
            </a:solidFill>
            <a:miter lim="800000"/>
            <a:headEnd/>
            <a:tailEnd/>
          </a:ln>
        </p:spPr>
        <p:txBody>
          <a:bodyPr wrap="none">
            <a:spAutoFit/>
          </a:bodyPr>
          <a:lstStyle/>
          <a:p>
            <a:pPr algn="l"/>
            <a:r>
              <a:rPr lang="en-US" sz="2200" dirty="0"/>
              <a:t>The values for </a:t>
            </a:r>
            <a:r>
              <a:rPr lang="en-US" sz="2200" dirty="0">
                <a:latin typeface="Consolas" panose="020B0609020204030204" pitchFamily="49" charset="0"/>
              </a:rPr>
              <a:t>BP</a:t>
            </a:r>
            <a:r>
              <a:rPr lang="en-US" sz="2200" dirty="0"/>
              <a:t> and </a:t>
            </a:r>
            <a:r>
              <a:rPr lang="en-US" sz="2200" dirty="0">
                <a:latin typeface="Consolas" panose="020B0609020204030204" pitchFamily="49" charset="0"/>
              </a:rPr>
              <a:t>PC</a:t>
            </a:r>
            <a:r>
              <a:rPr lang="en-US" sz="2200" dirty="0"/>
              <a:t> relative to the calling</a:t>
            </a:r>
          </a:p>
          <a:p>
            <a:pPr algn="l"/>
            <a:r>
              <a:rPr lang="en-US" sz="2200" dirty="0"/>
              <a:t>subprogram are saved (pushed) onto the stack</a:t>
            </a:r>
          </a:p>
          <a:p>
            <a:pPr algn="l"/>
            <a:r>
              <a:rPr lang="en-US" sz="2200" dirty="0"/>
              <a:t>by the CVM “</a:t>
            </a:r>
            <a:r>
              <a:rPr lang="en-US" sz="2200" dirty="0">
                <a:latin typeface="Consolas" panose="020B0609020204030204" pitchFamily="49" charset="0"/>
              </a:rPr>
              <a:t>CALL</a:t>
            </a:r>
            <a:r>
              <a:rPr lang="en-US" sz="2200" dirty="0"/>
              <a:t>” instruction, and they</a:t>
            </a:r>
          </a:p>
          <a:p>
            <a:pPr algn="l"/>
            <a:r>
              <a:rPr lang="en-US" sz="2200" dirty="0"/>
              <a:t>are restored by the CVM “</a:t>
            </a:r>
            <a:r>
              <a:rPr lang="en-US" sz="2200" dirty="0">
                <a:latin typeface="Consolas" panose="020B0609020204030204" pitchFamily="49" charset="0"/>
              </a:rPr>
              <a:t>RET</a:t>
            </a:r>
            <a:r>
              <a:rPr lang="en-US" sz="2200" dirty="0"/>
              <a:t>” instruction.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C3CF2-9BC9-4FAB-9F14-A6A65B049F5B}"/>
              </a:ext>
            </a:extLst>
          </p:cNvPr>
          <p:cNvSpPr>
            <a:spLocks noGrp="1"/>
          </p:cNvSpPr>
          <p:nvPr>
            <p:ph type="title"/>
          </p:nvPr>
        </p:nvSpPr>
        <p:spPr/>
        <p:txBody>
          <a:bodyPr/>
          <a:lstStyle/>
          <a:p>
            <a:r>
              <a:rPr lang="en-US" dirty="0"/>
              <a:t>Local Variable Part of an Activation Record</a:t>
            </a:r>
          </a:p>
        </p:txBody>
      </p:sp>
      <p:sp>
        <p:nvSpPr>
          <p:cNvPr id="3" name="Content Placeholder 2">
            <a:extLst>
              <a:ext uri="{FF2B5EF4-FFF2-40B4-BE49-F238E27FC236}">
                <a16:creationId xmlns:a16="http://schemas.microsoft.com/office/drawing/2014/main" id="{6FB7B1F3-A86B-4509-8108-4F856D62E707}"/>
              </a:ext>
            </a:extLst>
          </p:cNvPr>
          <p:cNvSpPr>
            <a:spLocks noGrp="1"/>
          </p:cNvSpPr>
          <p:nvPr>
            <p:ph idx="1"/>
          </p:nvPr>
        </p:nvSpPr>
        <p:spPr/>
        <p:txBody>
          <a:bodyPr/>
          <a:lstStyle/>
          <a:p>
            <a:r>
              <a:rPr lang="en-US" dirty="0"/>
              <a:t>If local variables are declared in a subprogram, then space must be allocated on the run-time stack for those variables.</a:t>
            </a:r>
          </a:p>
          <a:p>
            <a:r>
              <a:rPr lang="en-US" dirty="0"/>
              <a:t>The CVM instruction </a:t>
            </a:r>
            <a:r>
              <a:rPr lang="en-US" sz="2300" dirty="0">
                <a:latin typeface="Consolas" panose="020B0609020204030204" pitchFamily="49" charset="0"/>
              </a:rPr>
              <a:t>PROC</a:t>
            </a:r>
            <a:r>
              <a:rPr lang="en-US" dirty="0"/>
              <a:t> (procedure) has an integer argument for the variable length of subprogram.</a:t>
            </a:r>
          </a:p>
          <a:p>
            <a:r>
              <a:rPr lang="en-US" dirty="0"/>
              <a:t>Example</a:t>
            </a:r>
          </a:p>
          <a:p>
            <a:pPr marL="457200" lvl="1" indent="0">
              <a:buNone/>
            </a:pPr>
            <a:r>
              <a:rPr lang="en-US" sz="1800" dirty="0">
                <a:latin typeface="Consolas" panose="020B0609020204030204" pitchFamily="49" charset="0"/>
              </a:rPr>
              <a:t>proc p()</a:t>
            </a:r>
          </a:p>
          <a:p>
            <a:pPr marL="457200" lvl="1" indent="0">
              <a:spcBef>
                <a:spcPts val="200"/>
              </a:spcBef>
              <a:buNone/>
            </a:pPr>
            <a:r>
              <a:rPr lang="en-US" sz="1800" dirty="0">
                <a:latin typeface="Consolas" panose="020B0609020204030204" pitchFamily="49" charset="0"/>
              </a:rPr>
              <a:t>  {</a:t>
            </a:r>
          </a:p>
          <a:p>
            <a:pPr marL="457200" lvl="1" indent="0">
              <a:spcBef>
                <a:spcPts val="200"/>
              </a:spcBef>
              <a:buNone/>
            </a:pPr>
            <a:r>
              <a:rPr lang="en-US" sz="1800" dirty="0">
                <a:latin typeface="Consolas" panose="020B0609020204030204" pitchFamily="49" charset="0"/>
              </a:rPr>
              <a:t>    var m, n : Integer;</a:t>
            </a:r>
          </a:p>
          <a:p>
            <a:pPr marL="457200" lvl="1" indent="0">
              <a:spcBef>
                <a:spcPts val="200"/>
              </a:spcBef>
              <a:buNone/>
            </a:pPr>
            <a:r>
              <a:rPr lang="en-US" sz="1800" dirty="0">
                <a:latin typeface="Consolas" panose="020B0609020204030204" pitchFamily="49" charset="0"/>
              </a:rPr>
              <a:t>    var b : Boolean;</a:t>
            </a:r>
          </a:p>
          <a:p>
            <a:pPr marL="457200" lvl="1" indent="0">
              <a:spcBef>
                <a:spcPts val="200"/>
              </a:spcBef>
              <a:buNone/>
            </a:pPr>
            <a:endParaRPr lang="en-US" sz="1800" dirty="0">
              <a:latin typeface="Consolas" panose="020B0609020204030204" pitchFamily="49" charset="0"/>
            </a:endParaRPr>
          </a:p>
          <a:p>
            <a:pPr marL="457200" lvl="1" indent="0">
              <a:spcBef>
                <a:spcPts val="200"/>
              </a:spcBef>
              <a:buNone/>
            </a:pPr>
            <a:r>
              <a:rPr lang="en-US" sz="1800" dirty="0">
                <a:latin typeface="Consolas" panose="020B0609020204030204" pitchFamily="49" charset="0"/>
              </a:rPr>
              <a:t>    ...</a:t>
            </a:r>
          </a:p>
          <a:p>
            <a:pPr marL="457200" lvl="1" indent="0">
              <a:spcBef>
                <a:spcPts val="200"/>
              </a:spcBef>
              <a:buNone/>
            </a:pPr>
            <a:r>
              <a:rPr lang="en-US" sz="1800" dirty="0">
                <a:latin typeface="Consolas" panose="020B0609020204030204" pitchFamily="49" charset="0"/>
              </a:rPr>
              <a:t>  }</a:t>
            </a:r>
          </a:p>
        </p:txBody>
      </p:sp>
      <p:sp>
        <p:nvSpPr>
          <p:cNvPr id="4" name="Footer Placeholder 3">
            <a:extLst>
              <a:ext uri="{FF2B5EF4-FFF2-40B4-BE49-F238E27FC236}">
                <a16:creationId xmlns:a16="http://schemas.microsoft.com/office/drawing/2014/main" id="{E7C8497B-D0CA-4C6F-A799-322854919A0E}"/>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1A8FAAFA-B6B8-4731-ACDD-0B4F0A4780E0}"/>
              </a:ext>
            </a:extLst>
          </p:cNvPr>
          <p:cNvSpPr>
            <a:spLocks noGrp="1"/>
          </p:cNvSpPr>
          <p:nvPr>
            <p:ph type="sldNum" sz="quarter" idx="11"/>
          </p:nvPr>
        </p:nvSpPr>
        <p:spPr/>
        <p:txBody>
          <a:bodyPr/>
          <a:lstStyle/>
          <a:p>
            <a:pPr>
              <a:defRPr/>
            </a:pPr>
            <a:r>
              <a:rPr lang="en-US"/>
              <a:t>Slide </a:t>
            </a:r>
            <a:fld id="{4E55CFDC-59FD-439A-9888-9166DC8A4008}" type="slidenum">
              <a:rPr lang="en-US" smtClean="0"/>
              <a:pPr>
                <a:defRPr/>
              </a:pPr>
              <a:t>25</a:t>
            </a:fld>
            <a:endParaRPr lang="en-US"/>
          </a:p>
        </p:txBody>
      </p:sp>
    </p:spTree>
    <p:extLst>
      <p:ext uri="{BB962C8B-B14F-4D97-AF65-F5344CB8AC3E}">
        <p14:creationId xmlns:p14="http://schemas.microsoft.com/office/powerpoint/2010/main" val="22698775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C3CF2-9BC9-4FAB-9F14-A6A65B049F5B}"/>
              </a:ext>
            </a:extLst>
          </p:cNvPr>
          <p:cNvSpPr>
            <a:spLocks noGrp="1"/>
          </p:cNvSpPr>
          <p:nvPr>
            <p:ph type="title"/>
          </p:nvPr>
        </p:nvSpPr>
        <p:spPr/>
        <p:txBody>
          <a:bodyPr/>
          <a:lstStyle/>
          <a:p>
            <a:r>
              <a:rPr lang="en-US" dirty="0"/>
              <a:t>Local Variable Part of an Activation Record</a:t>
            </a:r>
            <a:br>
              <a:rPr lang="en-US" dirty="0"/>
            </a:br>
            <a:r>
              <a:rPr lang="en-US" sz="2400" dirty="0"/>
              <a:t>(continued)</a:t>
            </a:r>
            <a:endParaRPr lang="en-US" dirty="0"/>
          </a:p>
        </p:txBody>
      </p:sp>
      <p:sp>
        <p:nvSpPr>
          <p:cNvPr id="3" name="Content Placeholder 2">
            <a:extLst>
              <a:ext uri="{FF2B5EF4-FFF2-40B4-BE49-F238E27FC236}">
                <a16:creationId xmlns:a16="http://schemas.microsoft.com/office/drawing/2014/main" id="{6FB7B1F3-A86B-4509-8108-4F856D62E707}"/>
              </a:ext>
            </a:extLst>
          </p:cNvPr>
          <p:cNvSpPr>
            <a:spLocks noGrp="1"/>
          </p:cNvSpPr>
          <p:nvPr>
            <p:ph idx="1"/>
          </p:nvPr>
        </p:nvSpPr>
        <p:spPr/>
        <p:txBody>
          <a:bodyPr/>
          <a:lstStyle/>
          <a:p>
            <a:r>
              <a:rPr lang="en-US" dirty="0"/>
              <a:t>This procedure will need to allocate nine bytes for local variables.  The instruction </a:t>
            </a:r>
            <a:r>
              <a:rPr lang="en-US" sz="2300" dirty="0">
                <a:latin typeface="Consolas" panose="020B0609020204030204" pitchFamily="49" charset="0"/>
              </a:rPr>
              <a:t>PROC 9</a:t>
            </a:r>
            <a:r>
              <a:rPr lang="en-US" dirty="0"/>
              <a:t> will be emitted to allocate the necessary space on the runtime stack.</a:t>
            </a:r>
          </a:p>
          <a:p>
            <a:r>
              <a:rPr lang="en-US" dirty="0"/>
              <a:t>No </a:t>
            </a:r>
            <a:r>
              <a:rPr lang="en-US" sz="2300" dirty="0">
                <a:latin typeface="Consolas" panose="020B0609020204030204" pitchFamily="49" charset="0"/>
              </a:rPr>
              <a:t>PROC</a:t>
            </a:r>
            <a:r>
              <a:rPr lang="en-US" dirty="0"/>
              <a:t> instruction is required for a subprogram without any local variables; </a:t>
            </a:r>
            <a:r>
              <a:rPr lang="en-US" sz="2300" dirty="0">
                <a:latin typeface="Consolas" panose="020B0609020204030204" pitchFamily="49" charset="0"/>
              </a:rPr>
              <a:t>PROC 0</a:t>
            </a:r>
            <a:r>
              <a:rPr lang="en-US" dirty="0"/>
              <a:t> serves no purpose since it would simply allocate </a:t>
            </a:r>
            <a:r>
              <a:rPr lang="en-US" sz="2300" dirty="0">
                <a:latin typeface="Consolas" panose="020B0609020204030204" pitchFamily="49" charset="0"/>
              </a:rPr>
              <a:t>0</a:t>
            </a:r>
            <a:r>
              <a:rPr lang="en-US" dirty="0"/>
              <a:t> bytes.</a:t>
            </a:r>
          </a:p>
        </p:txBody>
      </p:sp>
      <p:sp>
        <p:nvSpPr>
          <p:cNvPr id="4" name="Footer Placeholder 3">
            <a:extLst>
              <a:ext uri="{FF2B5EF4-FFF2-40B4-BE49-F238E27FC236}">
                <a16:creationId xmlns:a16="http://schemas.microsoft.com/office/drawing/2014/main" id="{E7C8497B-D0CA-4C6F-A799-322854919A0E}"/>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1A8FAAFA-B6B8-4731-ACDD-0B4F0A4780E0}"/>
              </a:ext>
            </a:extLst>
          </p:cNvPr>
          <p:cNvSpPr>
            <a:spLocks noGrp="1"/>
          </p:cNvSpPr>
          <p:nvPr>
            <p:ph type="sldNum" sz="quarter" idx="11"/>
          </p:nvPr>
        </p:nvSpPr>
        <p:spPr/>
        <p:txBody>
          <a:bodyPr/>
          <a:lstStyle/>
          <a:p>
            <a:pPr>
              <a:defRPr/>
            </a:pPr>
            <a:r>
              <a:rPr lang="en-US"/>
              <a:t>Slide </a:t>
            </a:r>
            <a:fld id="{4E55CFDC-59FD-439A-9888-9166DC8A4008}" type="slidenum">
              <a:rPr lang="en-US" smtClean="0"/>
              <a:pPr>
                <a:defRPr/>
              </a:pPr>
              <a:t>26</a:t>
            </a:fld>
            <a:endParaRPr lang="en-US"/>
          </a:p>
        </p:txBody>
      </p:sp>
    </p:spTree>
    <p:extLst>
      <p:ext uri="{BB962C8B-B14F-4D97-AF65-F5344CB8AC3E}">
        <p14:creationId xmlns:p14="http://schemas.microsoft.com/office/powerpoint/2010/main" val="27033704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EE2A6-798F-4D9A-9EED-8908539CE445}"/>
              </a:ext>
            </a:extLst>
          </p:cNvPr>
          <p:cNvSpPr>
            <a:spLocks noGrp="1"/>
          </p:cNvSpPr>
          <p:nvPr>
            <p:ph type="title"/>
          </p:nvPr>
        </p:nvSpPr>
        <p:spPr/>
        <p:txBody>
          <a:bodyPr/>
          <a:lstStyle/>
          <a:p>
            <a:r>
              <a:rPr lang="en-US" dirty="0"/>
              <a:t>Temporary Part of an Activation Record</a:t>
            </a:r>
          </a:p>
        </p:txBody>
      </p:sp>
      <p:sp>
        <p:nvSpPr>
          <p:cNvPr id="3" name="Content Placeholder 2">
            <a:extLst>
              <a:ext uri="{FF2B5EF4-FFF2-40B4-BE49-F238E27FC236}">
                <a16:creationId xmlns:a16="http://schemas.microsoft.com/office/drawing/2014/main" id="{62522D1E-7418-4473-9605-7DACADDBF5CF}"/>
              </a:ext>
            </a:extLst>
          </p:cNvPr>
          <p:cNvSpPr>
            <a:spLocks noGrp="1"/>
          </p:cNvSpPr>
          <p:nvPr>
            <p:ph idx="1"/>
          </p:nvPr>
        </p:nvSpPr>
        <p:spPr/>
        <p:txBody>
          <a:bodyPr/>
          <a:lstStyle/>
          <a:p>
            <a:r>
              <a:rPr lang="en-US" dirty="0"/>
              <a:t>The temporary part of an activation record is analogous to the use of the run-time stack to hold temporary values as described in Chapter 10.</a:t>
            </a:r>
          </a:p>
          <a:p>
            <a:r>
              <a:rPr lang="en-US" dirty="0"/>
              <a:t>As machine instructions for a subprogram are executed, the temporary part grows and shrinks.</a:t>
            </a:r>
          </a:p>
          <a:p>
            <a:r>
              <a:rPr lang="en-US" dirty="0"/>
              <a:t>The temporary part of an activation record is empty at the start and end of each CPRL statement in the subprogram.</a:t>
            </a:r>
          </a:p>
          <a:p>
            <a:endParaRPr lang="en-US" dirty="0"/>
          </a:p>
        </p:txBody>
      </p:sp>
      <p:sp>
        <p:nvSpPr>
          <p:cNvPr id="4" name="Footer Placeholder 3">
            <a:extLst>
              <a:ext uri="{FF2B5EF4-FFF2-40B4-BE49-F238E27FC236}">
                <a16:creationId xmlns:a16="http://schemas.microsoft.com/office/drawing/2014/main" id="{C3472D39-0CEC-4386-8AF9-2CA8F09EE9FE}"/>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A21A567F-B38B-4327-8A95-A85A12ED8993}"/>
              </a:ext>
            </a:extLst>
          </p:cNvPr>
          <p:cNvSpPr>
            <a:spLocks noGrp="1"/>
          </p:cNvSpPr>
          <p:nvPr>
            <p:ph type="sldNum" sz="quarter" idx="11"/>
          </p:nvPr>
        </p:nvSpPr>
        <p:spPr/>
        <p:txBody>
          <a:bodyPr/>
          <a:lstStyle/>
          <a:p>
            <a:pPr>
              <a:defRPr/>
            </a:pPr>
            <a:r>
              <a:rPr lang="en-US"/>
              <a:t>Slide </a:t>
            </a:r>
            <a:fld id="{4E55CFDC-59FD-439A-9888-9166DC8A4008}" type="slidenum">
              <a:rPr lang="en-US" smtClean="0"/>
              <a:pPr>
                <a:defRPr/>
              </a:pPr>
              <a:t>27</a:t>
            </a:fld>
            <a:endParaRPr lang="en-US"/>
          </a:p>
        </p:txBody>
      </p:sp>
    </p:spTree>
    <p:extLst>
      <p:ext uri="{BB962C8B-B14F-4D97-AF65-F5344CB8AC3E}">
        <p14:creationId xmlns:p14="http://schemas.microsoft.com/office/powerpoint/2010/main" val="20332485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title"/>
          </p:nvPr>
        </p:nvSpPr>
        <p:spPr>
          <a:xfrm>
            <a:off x="822960" y="138113"/>
            <a:ext cx="7498080" cy="1004887"/>
          </a:xfrm>
        </p:spPr>
        <p:txBody>
          <a:bodyPr/>
          <a:lstStyle/>
          <a:p>
            <a:r>
              <a:rPr lang="en-US" sz="2600" dirty="0"/>
              <a:t>Example: Temporary Part of an Activation Record</a:t>
            </a:r>
          </a:p>
        </p:txBody>
      </p:sp>
      <p:sp>
        <p:nvSpPr>
          <p:cNvPr id="5" name="Content Placeholder 4"/>
          <p:cNvSpPr>
            <a:spLocks noGrp="1"/>
          </p:cNvSpPr>
          <p:nvPr>
            <p:ph idx="1"/>
          </p:nvPr>
        </p:nvSpPr>
        <p:spPr/>
        <p:txBody>
          <a:bodyPr/>
          <a:lstStyle/>
          <a:p>
            <a:r>
              <a:rPr lang="en-US" dirty="0"/>
              <a:t>Assume</a:t>
            </a:r>
          </a:p>
          <a:p>
            <a:pPr lvl="1"/>
            <a:r>
              <a:rPr lang="en-US" dirty="0"/>
              <a:t>register </a:t>
            </a:r>
            <a:r>
              <a:rPr lang="en-US" dirty="0">
                <a:latin typeface="Consolas" panose="020B0609020204030204" pitchFamily="49" charset="0"/>
              </a:rPr>
              <a:t>BP</a:t>
            </a:r>
            <a:r>
              <a:rPr lang="en-US" dirty="0"/>
              <a:t> has the value </a:t>
            </a:r>
            <a:r>
              <a:rPr lang="en-US" dirty="0">
                <a:latin typeface="Consolas" panose="020B0609020204030204" pitchFamily="49" charset="0"/>
              </a:rPr>
              <a:t>200</a:t>
            </a:r>
          </a:p>
          <a:p>
            <a:pPr lvl="1"/>
            <a:r>
              <a:rPr lang="en-US" dirty="0"/>
              <a:t>local integer variable </a:t>
            </a:r>
            <a:r>
              <a:rPr lang="en-US" dirty="0">
                <a:latin typeface="Consolas" panose="020B0609020204030204" pitchFamily="49" charset="0"/>
              </a:rPr>
              <a:t>x</a:t>
            </a:r>
            <a:r>
              <a:rPr lang="en-US" dirty="0"/>
              <a:t> has relative address </a:t>
            </a:r>
            <a:r>
              <a:rPr lang="en-US" dirty="0">
                <a:latin typeface="Consolas" panose="020B0609020204030204" pitchFamily="49" charset="0"/>
              </a:rPr>
              <a:t>8</a:t>
            </a:r>
          </a:p>
          <a:p>
            <a:pPr lvl="1"/>
            <a:r>
              <a:rPr lang="en-US" dirty="0"/>
              <a:t>local integer variable </a:t>
            </a:r>
            <a:r>
              <a:rPr lang="en-US" dirty="0">
                <a:latin typeface="Consolas" panose="020B0609020204030204" pitchFamily="49" charset="0"/>
              </a:rPr>
              <a:t>y</a:t>
            </a:r>
            <a:r>
              <a:rPr lang="en-US" dirty="0"/>
              <a:t> has value </a:t>
            </a:r>
            <a:r>
              <a:rPr lang="en-US" dirty="0">
                <a:latin typeface="Consolas" panose="020B0609020204030204" pitchFamily="49" charset="0"/>
              </a:rPr>
              <a:t>6</a:t>
            </a:r>
            <a:r>
              <a:rPr lang="en-US" dirty="0"/>
              <a:t> and relative address </a:t>
            </a:r>
            <a:r>
              <a:rPr lang="en-US" dirty="0">
                <a:latin typeface="Consolas" panose="020B0609020204030204" pitchFamily="49" charset="0"/>
              </a:rPr>
              <a:t>12</a:t>
            </a:r>
          </a:p>
          <a:p>
            <a:r>
              <a:rPr lang="en-US" dirty="0"/>
              <a:t>The CPRL assignment statement</a:t>
            </a:r>
          </a:p>
          <a:p>
            <a:pPr marL="457200" lvl="1" indent="0">
              <a:buNone/>
            </a:pPr>
            <a:r>
              <a:rPr lang="en-US" sz="1800" dirty="0">
                <a:latin typeface="Consolas" panose="020B0609020204030204" pitchFamily="49" charset="0"/>
              </a:rPr>
              <a:t>  x := y + 1;</a:t>
            </a:r>
          </a:p>
          <a:p>
            <a:pPr marL="457200" lvl="1" indent="0">
              <a:buNone/>
            </a:pPr>
            <a:r>
              <a:rPr lang="en-US" dirty="0"/>
              <a:t>will compile to the following CVM instructions.</a:t>
            </a:r>
          </a:p>
          <a:p>
            <a:pPr marL="457200" lvl="1" indent="0">
              <a:buNone/>
            </a:pPr>
            <a:r>
              <a:rPr lang="en-US" sz="1800" dirty="0">
                <a:latin typeface="Consolas" panose="020B0609020204030204" pitchFamily="49" charset="0"/>
              </a:rPr>
              <a:t>   LDLADDR 8</a:t>
            </a:r>
          </a:p>
          <a:p>
            <a:pPr marL="457200" lvl="1" indent="0">
              <a:spcBef>
                <a:spcPts val="100"/>
              </a:spcBef>
              <a:buNone/>
            </a:pPr>
            <a:r>
              <a:rPr lang="en-US" sz="1800" dirty="0">
                <a:latin typeface="Consolas" panose="020B0609020204030204" pitchFamily="49" charset="0"/>
              </a:rPr>
              <a:t>   LDLADDR 12</a:t>
            </a:r>
          </a:p>
          <a:p>
            <a:pPr marL="457200" lvl="1" indent="0">
              <a:spcBef>
                <a:spcPts val="100"/>
              </a:spcBef>
              <a:buNone/>
            </a:pPr>
            <a:r>
              <a:rPr lang="en-US" sz="1800" dirty="0">
                <a:latin typeface="Consolas" panose="020B0609020204030204" pitchFamily="49" charset="0"/>
              </a:rPr>
              <a:t>   LOADW</a:t>
            </a:r>
          </a:p>
          <a:p>
            <a:pPr marL="457200" lvl="1" indent="0">
              <a:spcBef>
                <a:spcPts val="100"/>
              </a:spcBef>
              <a:buNone/>
            </a:pPr>
            <a:r>
              <a:rPr lang="en-US" sz="1800" dirty="0">
                <a:latin typeface="Consolas" panose="020B0609020204030204" pitchFamily="49" charset="0"/>
              </a:rPr>
              <a:t>   LDCINT 1</a:t>
            </a:r>
          </a:p>
          <a:p>
            <a:pPr marL="457200" lvl="1" indent="0">
              <a:spcBef>
                <a:spcPts val="100"/>
              </a:spcBef>
              <a:buNone/>
            </a:pPr>
            <a:r>
              <a:rPr lang="en-US" sz="1800" dirty="0">
                <a:latin typeface="Consolas" panose="020B0609020204030204" pitchFamily="49" charset="0"/>
              </a:rPr>
              <a:t>   ADD</a:t>
            </a:r>
          </a:p>
          <a:p>
            <a:pPr marL="457200" lvl="1" indent="0">
              <a:spcBef>
                <a:spcPts val="100"/>
              </a:spcBef>
              <a:buNone/>
            </a:pPr>
            <a:r>
              <a:rPr lang="en-US" sz="1800" dirty="0">
                <a:latin typeface="Consolas" panose="020B0609020204030204" pitchFamily="49" charset="0"/>
              </a:rPr>
              <a:t>   STOREW</a:t>
            </a:r>
            <a:endParaRPr lang="en-US" dirty="0"/>
          </a:p>
        </p:txBody>
      </p:sp>
      <p:sp>
        <p:nvSpPr>
          <p:cNvPr id="23554" name="Footer Placeholder 3"/>
          <p:cNvSpPr>
            <a:spLocks noGrp="1"/>
          </p:cNvSpPr>
          <p:nvPr>
            <p:ph type="ftr" sz="quarter" idx="10"/>
          </p:nvPr>
        </p:nvSpPr>
        <p:spPr/>
        <p:txBody>
          <a:bodyPr/>
          <a:lstStyle/>
          <a:p>
            <a:r>
              <a:rPr lang="en-US"/>
              <a:t>©SoftMoore Consulting</a:t>
            </a:r>
          </a:p>
        </p:txBody>
      </p:sp>
      <p:sp>
        <p:nvSpPr>
          <p:cNvPr id="23555" name="Slide Number Placeholder 4"/>
          <p:cNvSpPr>
            <a:spLocks noGrp="1"/>
          </p:cNvSpPr>
          <p:nvPr>
            <p:ph type="sldNum" sz="quarter" idx="11"/>
          </p:nvPr>
        </p:nvSpPr>
        <p:spPr/>
        <p:txBody>
          <a:bodyPr/>
          <a:lstStyle/>
          <a:p>
            <a:r>
              <a:rPr lang="en-US"/>
              <a:t>Slide </a:t>
            </a:r>
            <a:fld id="{888C7912-ADA7-46EC-A09F-9B9F4CF35F38}" type="slidenum">
              <a:rPr lang="en-US" smtClean="0"/>
              <a:pPr/>
              <a:t>28</a:t>
            </a:fld>
            <a:endParaRPr lang="en-US"/>
          </a:p>
        </p:txBody>
      </p:sp>
      <p:sp>
        <p:nvSpPr>
          <p:cNvPr id="2" name="TextBox 1">
            <a:extLst>
              <a:ext uri="{FF2B5EF4-FFF2-40B4-BE49-F238E27FC236}">
                <a16:creationId xmlns:a16="http://schemas.microsoft.com/office/drawing/2014/main" id="{09C825D7-A5A5-4743-88C4-F38146A467D7}"/>
              </a:ext>
            </a:extLst>
          </p:cNvPr>
          <p:cNvSpPr txBox="1"/>
          <p:nvPr/>
        </p:nvSpPr>
        <p:spPr>
          <a:xfrm>
            <a:off x="3494102" y="4986646"/>
            <a:ext cx="3084498" cy="369332"/>
          </a:xfrm>
          <a:prstGeom prst="rect">
            <a:avLst/>
          </a:prstGeom>
          <a:noFill/>
        </p:spPr>
        <p:txBody>
          <a:bodyPr wrap="none" rtlCol="0">
            <a:spAutoFit/>
          </a:bodyPr>
          <a:lstStyle/>
          <a:p>
            <a:r>
              <a:rPr lang="en-US" sz="1800" dirty="0"/>
              <a:t>will be optimized to </a:t>
            </a:r>
            <a:r>
              <a:rPr lang="en-US" sz="1800" dirty="0">
                <a:latin typeface="Consolas" panose="020B0609020204030204" pitchFamily="49" charset="0"/>
              </a:rPr>
              <a:t>LDCINT1</a:t>
            </a:r>
          </a:p>
        </p:txBody>
      </p:sp>
      <p:sp>
        <p:nvSpPr>
          <p:cNvPr id="3" name="Diamond 2">
            <a:extLst>
              <a:ext uri="{FF2B5EF4-FFF2-40B4-BE49-F238E27FC236}">
                <a16:creationId xmlns:a16="http://schemas.microsoft.com/office/drawing/2014/main" id="{3B38BDD2-DCB8-4D3A-9E69-8D3A2D17C0E2}"/>
              </a:ext>
            </a:extLst>
          </p:cNvPr>
          <p:cNvSpPr/>
          <p:nvPr/>
        </p:nvSpPr>
        <p:spPr bwMode="auto">
          <a:xfrm>
            <a:off x="2362200" y="5079872"/>
            <a:ext cx="182880" cy="18288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cxnSp>
        <p:nvCxnSpPr>
          <p:cNvPr id="6" name="Straight Arrow Connector 5">
            <a:extLst>
              <a:ext uri="{FF2B5EF4-FFF2-40B4-BE49-F238E27FC236}">
                <a16:creationId xmlns:a16="http://schemas.microsoft.com/office/drawing/2014/main" id="{1A09A846-CBFD-470F-BE9A-AB2EE7694DDB}"/>
              </a:ext>
            </a:extLst>
          </p:cNvPr>
          <p:cNvCxnSpPr>
            <a:cxnSpLocks/>
            <a:stCxn id="2" idx="1"/>
            <a:endCxn id="3" idx="3"/>
          </p:cNvCxnSpPr>
          <p:nvPr/>
        </p:nvCxnSpPr>
        <p:spPr bwMode="auto">
          <a:xfrm flipH="1">
            <a:off x="2545080" y="5171312"/>
            <a:ext cx="949022" cy="0"/>
          </a:xfrm>
          <a:prstGeom prst="straightConnector1">
            <a:avLst/>
          </a:prstGeom>
          <a:no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42724782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A879-EF42-4A2F-A284-843555707706}"/>
              </a:ext>
            </a:extLst>
          </p:cNvPr>
          <p:cNvSpPr>
            <a:spLocks noGrp="1"/>
          </p:cNvSpPr>
          <p:nvPr>
            <p:ph type="title"/>
          </p:nvPr>
        </p:nvSpPr>
        <p:spPr>
          <a:xfrm>
            <a:off x="822960" y="138113"/>
            <a:ext cx="7498080" cy="1004887"/>
          </a:xfrm>
        </p:spPr>
        <p:txBody>
          <a:bodyPr/>
          <a:lstStyle/>
          <a:p>
            <a:r>
              <a:rPr lang="en-US" sz="2600" dirty="0"/>
              <a:t>Example: Temporary Part of an Activation Record</a:t>
            </a:r>
            <a:br>
              <a:rPr lang="en-US" sz="2600" dirty="0"/>
            </a:br>
            <a:r>
              <a:rPr lang="en-US" sz="2400" dirty="0"/>
              <a:t>(continued)</a:t>
            </a:r>
          </a:p>
        </p:txBody>
      </p:sp>
      <p:sp>
        <p:nvSpPr>
          <p:cNvPr id="4" name="Footer Placeholder 3">
            <a:extLst>
              <a:ext uri="{FF2B5EF4-FFF2-40B4-BE49-F238E27FC236}">
                <a16:creationId xmlns:a16="http://schemas.microsoft.com/office/drawing/2014/main" id="{E7CB5EBB-27EC-41A7-BA4B-43CECFD80695}"/>
              </a:ext>
            </a:extLst>
          </p:cNvPr>
          <p:cNvSpPr>
            <a:spLocks noGrp="1"/>
          </p:cNvSpPr>
          <p:nvPr>
            <p:ph type="ftr" sz="quarter" idx="10"/>
          </p:nvPr>
        </p:nvSpPr>
        <p:spPr/>
        <p:txBody>
          <a:bodyPr/>
          <a:lstStyle/>
          <a:p>
            <a:pPr>
              <a:defRPr/>
            </a:pPr>
            <a:r>
              <a:rPr lang="en-US" dirty="0"/>
              <a:t>©SoftMoore Consulting</a:t>
            </a:r>
          </a:p>
        </p:txBody>
      </p:sp>
      <p:sp>
        <p:nvSpPr>
          <p:cNvPr id="5" name="Slide Number Placeholder 4">
            <a:extLst>
              <a:ext uri="{FF2B5EF4-FFF2-40B4-BE49-F238E27FC236}">
                <a16:creationId xmlns:a16="http://schemas.microsoft.com/office/drawing/2014/main" id="{71627D31-7CA1-4429-AA80-9A76187B8557}"/>
              </a:ext>
            </a:extLst>
          </p:cNvPr>
          <p:cNvSpPr>
            <a:spLocks noGrp="1"/>
          </p:cNvSpPr>
          <p:nvPr>
            <p:ph type="sldNum" sz="quarter" idx="11"/>
          </p:nvPr>
        </p:nvSpPr>
        <p:spPr/>
        <p:txBody>
          <a:bodyPr/>
          <a:lstStyle/>
          <a:p>
            <a:pPr>
              <a:defRPr/>
            </a:pPr>
            <a:r>
              <a:rPr lang="en-US" dirty="0"/>
              <a:t>Slide </a:t>
            </a:r>
            <a:fld id="{63AEAFB5-AC10-4A77-9869-4B293AAAFFF3}" type="slidenum">
              <a:rPr lang="en-US" smtClean="0"/>
              <a:pPr>
                <a:defRPr/>
              </a:pPr>
              <a:t>29</a:t>
            </a:fld>
            <a:endParaRPr lang="en-US" dirty="0"/>
          </a:p>
        </p:txBody>
      </p:sp>
      <p:sp>
        <p:nvSpPr>
          <p:cNvPr id="60" name="TextBox 59">
            <a:extLst>
              <a:ext uri="{FF2B5EF4-FFF2-40B4-BE49-F238E27FC236}">
                <a16:creationId xmlns:a16="http://schemas.microsoft.com/office/drawing/2014/main" id="{F4931181-F2B3-46B8-A965-74200BC78F6D}"/>
              </a:ext>
            </a:extLst>
          </p:cNvPr>
          <p:cNvSpPr txBox="1"/>
          <p:nvPr/>
        </p:nvSpPr>
        <p:spPr>
          <a:xfrm>
            <a:off x="424390" y="1345896"/>
            <a:ext cx="8295221" cy="461665"/>
          </a:xfrm>
          <a:prstGeom prst="rect">
            <a:avLst/>
          </a:prstGeom>
          <a:noFill/>
        </p:spPr>
        <p:txBody>
          <a:bodyPr wrap="none" rtlCol="0">
            <a:spAutoFit/>
          </a:bodyPr>
          <a:lstStyle/>
          <a:p>
            <a:r>
              <a:rPr lang="en-US" dirty="0"/>
              <a:t>Temporary part is empty at the start of the CPRL statement.</a:t>
            </a:r>
          </a:p>
        </p:txBody>
      </p:sp>
      <p:grpSp>
        <p:nvGrpSpPr>
          <p:cNvPr id="3" name="Group 2">
            <a:extLst>
              <a:ext uri="{FF2B5EF4-FFF2-40B4-BE49-F238E27FC236}">
                <a16:creationId xmlns:a16="http://schemas.microsoft.com/office/drawing/2014/main" id="{82939E24-5033-4979-BBE1-84706131FB70}"/>
              </a:ext>
            </a:extLst>
          </p:cNvPr>
          <p:cNvGrpSpPr/>
          <p:nvPr/>
        </p:nvGrpSpPr>
        <p:grpSpPr>
          <a:xfrm>
            <a:off x="1676400" y="1981200"/>
            <a:ext cx="6152252" cy="4090987"/>
            <a:chOff x="1676400" y="1981200"/>
            <a:chExt cx="6152252" cy="4090987"/>
          </a:xfrm>
        </p:grpSpPr>
        <p:sp>
          <p:nvSpPr>
            <p:cNvPr id="63" name="Rectangle 4">
              <a:extLst>
                <a:ext uri="{FF2B5EF4-FFF2-40B4-BE49-F238E27FC236}">
                  <a16:creationId xmlns:a16="http://schemas.microsoft.com/office/drawing/2014/main" id="{B5AB0F95-612B-447E-BC0F-F952B486D878}"/>
                </a:ext>
              </a:extLst>
            </p:cNvPr>
            <p:cNvSpPr>
              <a:spLocks noChangeArrowheads="1"/>
            </p:cNvSpPr>
            <p:nvPr/>
          </p:nvSpPr>
          <p:spPr bwMode="auto">
            <a:xfrm>
              <a:off x="3427027" y="1981200"/>
              <a:ext cx="2286000" cy="4023360"/>
            </a:xfrm>
            <a:prstGeom prst="rect">
              <a:avLst/>
            </a:prstGeom>
            <a:pattFill prst="pct5">
              <a:fgClr>
                <a:schemeClr val="tx1"/>
              </a:fgClr>
              <a:bgClr>
                <a:schemeClr val="bg1"/>
              </a:bgClr>
            </a:pattFill>
            <a:ln w="9525">
              <a:solidFill>
                <a:schemeClr val="tx1"/>
              </a:solidFill>
              <a:miter lim="800000"/>
              <a:headEnd/>
              <a:tailEnd/>
            </a:ln>
          </p:spPr>
          <p:txBody>
            <a:bodyPr wrap="none" lIns="92075" tIns="46038" rIns="92075" bIns="46038" anchor="ctr"/>
            <a:lstStyle/>
            <a:p>
              <a:endParaRPr lang="en-US" dirty="0"/>
            </a:p>
          </p:txBody>
        </p:sp>
        <p:sp>
          <p:nvSpPr>
            <p:cNvPr id="64" name="TextBox 63">
              <a:extLst>
                <a:ext uri="{FF2B5EF4-FFF2-40B4-BE49-F238E27FC236}">
                  <a16:creationId xmlns:a16="http://schemas.microsoft.com/office/drawing/2014/main" id="{FFEBF89F-AA66-4E74-86F9-193DEFFDAABC}"/>
                </a:ext>
              </a:extLst>
            </p:cNvPr>
            <p:cNvSpPr txBox="1"/>
            <p:nvPr/>
          </p:nvSpPr>
          <p:spPr>
            <a:xfrm>
              <a:off x="1893570" y="3484418"/>
              <a:ext cx="1402948" cy="646331"/>
            </a:xfrm>
            <a:prstGeom prst="rect">
              <a:avLst/>
            </a:prstGeom>
            <a:noFill/>
          </p:spPr>
          <p:txBody>
            <a:bodyPr wrap="none" rtlCol="0">
              <a:spAutoFit/>
            </a:bodyPr>
            <a:lstStyle/>
            <a:p>
              <a:pPr algn="l"/>
              <a:r>
                <a:rPr lang="en-US" sz="1800" dirty="0"/>
                <a:t>stack grows</a:t>
              </a:r>
            </a:p>
            <a:p>
              <a:pPr algn="l"/>
              <a:r>
                <a:rPr lang="en-US" sz="1800" dirty="0"/>
                <a:t>downward</a:t>
              </a:r>
            </a:p>
          </p:txBody>
        </p:sp>
        <p:sp>
          <p:nvSpPr>
            <p:cNvPr id="65" name="Diamond 64">
              <a:extLst>
                <a:ext uri="{FF2B5EF4-FFF2-40B4-BE49-F238E27FC236}">
                  <a16:creationId xmlns:a16="http://schemas.microsoft.com/office/drawing/2014/main" id="{B26C0557-58D7-43BB-86D9-77F46328C18A}"/>
                </a:ext>
              </a:extLst>
            </p:cNvPr>
            <p:cNvSpPr/>
            <p:nvPr/>
          </p:nvSpPr>
          <p:spPr bwMode="auto">
            <a:xfrm>
              <a:off x="2503604" y="5889307"/>
              <a:ext cx="182880" cy="182880"/>
            </a:xfrm>
            <a:prstGeom prst="diamond">
              <a:avLst/>
            </a:prstGeom>
            <a:noFill/>
            <a:ln w="9525">
              <a:noFill/>
              <a:round/>
              <a:headEnd/>
              <a:tailEnd/>
            </a:ln>
          </p:spPr>
          <p:txBody>
            <a:bodyPr wrap="none" lIns="92075" tIns="46038" rIns="92075" bIns="46038" rtlCol="0" anchor="ctr"/>
            <a:lstStyle/>
            <a:p>
              <a:pPr algn="ctr"/>
              <a:endParaRPr lang="en-US" dirty="0"/>
            </a:p>
          </p:txBody>
        </p:sp>
        <p:cxnSp>
          <p:nvCxnSpPr>
            <p:cNvPr id="67" name="Straight Arrow Connector 66">
              <a:extLst>
                <a:ext uri="{FF2B5EF4-FFF2-40B4-BE49-F238E27FC236}">
                  <a16:creationId xmlns:a16="http://schemas.microsoft.com/office/drawing/2014/main" id="{9FDFF75D-DC27-4958-A6F9-7C7A1C93E847}"/>
                </a:ext>
              </a:extLst>
            </p:cNvPr>
            <p:cNvCxnSpPr>
              <a:cxnSpLocks/>
              <a:stCxn id="64" idx="2"/>
              <a:endCxn id="65" idx="0"/>
            </p:cNvCxnSpPr>
            <p:nvPr/>
          </p:nvCxnSpPr>
          <p:spPr bwMode="auto">
            <a:xfrm>
              <a:off x="2595044" y="4130749"/>
              <a:ext cx="0" cy="1758558"/>
            </a:xfrm>
            <a:prstGeom prst="straightConnector1">
              <a:avLst/>
            </a:prstGeom>
            <a:noFill/>
            <a:ln w="9525" cap="flat" cmpd="sng" algn="ctr">
              <a:solidFill>
                <a:schemeClr val="tx1"/>
              </a:solidFill>
              <a:prstDash val="solid"/>
              <a:round/>
              <a:headEnd type="none" w="med" len="med"/>
              <a:tailEnd type="triangle"/>
            </a:ln>
            <a:effectLst/>
          </p:spPr>
        </p:cxnSp>
        <p:sp>
          <p:nvSpPr>
            <p:cNvPr id="68" name="TextBox 67">
              <a:extLst>
                <a:ext uri="{FF2B5EF4-FFF2-40B4-BE49-F238E27FC236}">
                  <a16:creationId xmlns:a16="http://schemas.microsoft.com/office/drawing/2014/main" id="{28BA86A7-17E6-414B-8B9D-E2CC84A29DC9}"/>
                </a:ext>
              </a:extLst>
            </p:cNvPr>
            <p:cNvSpPr txBox="1"/>
            <p:nvPr/>
          </p:nvSpPr>
          <p:spPr>
            <a:xfrm>
              <a:off x="3427027" y="1981200"/>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dynamic link</a:t>
              </a:r>
            </a:p>
          </p:txBody>
        </p:sp>
        <p:sp>
          <p:nvSpPr>
            <p:cNvPr id="69" name="TextBox 68">
              <a:extLst>
                <a:ext uri="{FF2B5EF4-FFF2-40B4-BE49-F238E27FC236}">
                  <a16:creationId xmlns:a16="http://schemas.microsoft.com/office/drawing/2014/main" id="{E2D64B75-6D6C-4DA6-A677-6C13279C8E15}"/>
                </a:ext>
              </a:extLst>
            </p:cNvPr>
            <p:cNvSpPr txBox="1"/>
            <p:nvPr/>
          </p:nvSpPr>
          <p:spPr>
            <a:xfrm>
              <a:off x="3427027" y="2351884"/>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return address</a:t>
              </a:r>
            </a:p>
          </p:txBody>
        </p:sp>
        <p:sp>
          <p:nvSpPr>
            <p:cNvPr id="70" name="TextBox 69">
              <a:extLst>
                <a:ext uri="{FF2B5EF4-FFF2-40B4-BE49-F238E27FC236}">
                  <a16:creationId xmlns:a16="http://schemas.microsoft.com/office/drawing/2014/main" id="{F2F7C5DF-6D2D-4543-B6E0-B18D4217F52E}"/>
                </a:ext>
              </a:extLst>
            </p:cNvPr>
            <p:cNvSpPr txBox="1"/>
            <p:nvPr/>
          </p:nvSpPr>
          <p:spPr>
            <a:xfrm>
              <a:off x="3427027" y="2722567"/>
              <a:ext cx="2286000" cy="369332"/>
            </a:xfrm>
            <a:prstGeom prst="rect">
              <a:avLst/>
            </a:prstGeom>
            <a:solidFill>
              <a:schemeClr val="bg1"/>
            </a:solidFill>
            <a:ln>
              <a:solidFill>
                <a:schemeClr val="tx1"/>
              </a:solidFill>
            </a:ln>
          </p:spPr>
          <p:txBody>
            <a:bodyPr wrap="none" rtlCol="0">
              <a:noAutofit/>
            </a:bodyPr>
            <a:lstStyle/>
            <a:p>
              <a:pPr marL="91440" algn="l"/>
              <a:endParaRPr lang="en-US" sz="1800" dirty="0"/>
            </a:p>
          </p:txBody>
        </p:sp>
        <p:sp>
          <p:nvSpPr>
            <p:cNvPr id="71" name="TextBox 70">
              <a:extLst>
                <a:ext uri="{FF2B5EF4-FFF2-40B4-BE49-F238E27FC236}">
                  <a16:creationId xmlns:a16="http://schemas.microsoft.com/office/drawing/2014/main" id="{3BDD821E-7390-4C0B-849D-2D72B2C9107D}"/>
                </a:ext>
              </a:extLst>
            </p:cNvPr>
            <p:cNvSpPr txBox="1"/>
            <p:nvPr/>
          </p:nvSpPr>
          <p:spPr>
            <a:xfrm>
              <a:off x="3604378" y="4495800"/>
              <a:ext cx="1931298" cy="369332"/>
            </a:xfrm>
            <a:prstGeom prst="rect">
              <a:avLst/>
            </a:prstGeom>
            <a:solidFill>
              <a:schemeClr val="bg1"/>
            </a:solidFill>
            <a:ln>
              <a:solidFill>
                <a:schemeClr val="tx1"/>
              </a:solidFill>
            </a:ln>
          </p:spPr>
          <p:txBody>
            <a:bodyPr wrap="none" rtlCol="0">
              <a:spAutoFit/>
            </a:bodyPr>
            <a:lstStyle/>
            <a:p>
              <a:pPr marL="91440" algn="l"/>
              <a:r>
                <a:rPr lang="en-US" sz="1800" dirty="0"/>
                <a:t>unused memory</a:t>
              </a:r>
            </a:p>
          </p:txBody>
        </p:sp>
        <p:sp>
          <p:nvSpPr>
            <p:cNvPr id="72" name="TextBox 71">
              <a:extLst>
                <a:ext uri="{FF2B5EF4-FFF2-40B4-BE49-F238E27FC236}">
                  <a16:creationId xmlns:a16="http://schemas.microsoft.com/office/drawing/2014/main" id="{9599E4DD-7C5B-475F-806B-F0058F4ECE0F}"/>
                </a:ext>
              </a:extLst>
            </p:cNvPr>
            <p:cNvSpPr txBox="1"/>
            <p:nvPr/>
          </p:nvSpPr>
          <p:spPr>
            <a:xfrm>
              <a:off x="2819400" y="1988771"/>
              <a:ext cx="569388" cy="369332"/>
            </a:xfrm>
            <a:prstGeom prst="rect">
              <a:avLst/>
            </a:prstGeom>
            <a:noFill/>
          </p:spPr>
          <p:txBody>
            <a:bodyPr wrap="none" rtlCol="0">
              <a:spAutoFit/>
            </a:bodyPr>
            <a:lstStyle/>
            <a:p>
              <a:r>
                <a:rPr lang="en-US" sz="1800" dirty="0"/>
                <a:t>200</a:t>
              </a:r>
            </a:p>
          </p:txBody>
        </p:sp>
        <p:sp>
          <p:nvSpPr>
            <p:cNvPr id="73" name="TextBox 72">
              <a:extLst>
                <a:ext uri="{FF2B5EF4-FFF2-40B4-BE49-F238E27FC236}">
                  <a16:creationId xmlns:a16="http://schemas.microsoft.com/office/drawing/2014/main" id="{7D5F371E-A21E-4C6E-A0B0-A42812DA92BB}"/>
                </a:ext>
              </a:extLst>
            </p:cNvPr>
            <p:cNvSpPr txBox="1"/>
            <p:nvPr/>
          </p:nvSpPr>
          <p:spPr>
            <a:xfrm>
              <a:off x="2819401" y="2356586"/>
              <a:ext cx="569387" cy="369332"/>
            </a:xfrm>
            <a:prstGeom prst="rect">
              <a:avLst/>
            </a:prstGeom>
            <a:noFill/>
          </p:spPr>
          <p:txBody>
            <a:bodyPr wrap="none" rtlCol="0">
              <a:spAutoFit/>
            </a:bodyPr>
            <a:lstStyle/>
            <a:p>
              <a:r>
                <a:rPr lang="en-US" sz="1800" dirty="0"/>
                <a:t>204</a:t>
              </a:r>
            </a:p>
          </p:txBody>
        </p:sp>
        <p:sp>
          <p:nvSpPr>
            <p:cNvPr id="74" name="TextBox 73">
              <a:extLst>
                <a:ext uri="{FF2B5EF4-FFF2-40B4-BE49-F238E27FC236}">
                  <a16:creationId xmlns:a16="http://schemas.microsoft.com/office/drawing/2014/main" id="{314D2A39-5609-4923-AA08-AB9FB75E8DD8}"/>
                </a:ext>
              </a:extLst>
            </p:cNvPr>
            <p:cNvSpPr txBox="1"/>
            <p:nvPr/>
          </p:nvSpPr>
          <p:spPr>
            <a:xfrm>
              <a:off x="2819400" y="2724401"/>
              <a:ext cx="569388" cy="369332"/>
            </a:xfrm>
            <a:prstGeom prst="rect">
              <a:avLst/>
            </a:prstGeom>
            <a:noFill/>
          </p:spPr>
          <p:txBody>
            <a:bodyPr wrap="none" rtlCol="0">
              <a:spAutoFit/>
            </a:bodyPr>
            <a:lstStyle/>
            <a:p>
              <a:r>
                <a:rPr lang="en-US" sz="1800" dirty="0"/>
                <a:t>208</a:t>
              </a:r>
            </a:p>
          </p:txBody>
        </p:sp>
        <p:sp>
          <p:nvSpPr>
            <p:cNvPr id="76" name="TextBox 75">
              <a:extLst>
                <a:ext uri="{FF2B5EF4-FFF2-40B4-BE49-F238E27FC236}">
                  <a16:creationId xmlns:a16="http://schemas.microsoft.com/office/drawing/2014/main" id="{03FC58D0-0DFB-41BF-B004-B8A24DF19F40}"/>
                </a:ext>
              </a:extLst>
            </p:cNvPr>
            <p:cNvSpPr txBox="1"/>
            <p:nvPr/>
          </p:nvSpPr>
          <p:spPr>
            <a:xfrm>
              <a:off x="5791200" y="2710509"/>
              <a:ext cx="300083" cy="369332"/>
            </a:xfrm>
            <a:prstGeom prst="rect">
              <a:avLst/>
            </a:prstGeom>
            <a:noFill/>
          </p:spPr>
          <p:txBody>
            <a:bodyPr wrap="none" rtlCol="0">
              <a:spAutoFit/>
            </a:bodyPr>
            <a:lstStyle/>
            <a:p>
              <a:r>
                <a:rPr lang="en-US" sz="1800" dirty="0"/>
                <a:t>x</a:t>
              </a:r>
            </a:p>
          </p:txBody>
        </p:sp>
        <p:sp>
          <p:nvSpPr>
            <p:cNvPr id="77" name="TextBox 76">
              <a:extLst>
                <a:ext uri="{FF2B5EF4-FFF2-40B4-BE49-F238E27FC236}">
                  <a16:creationId xmlns:a16="http://schemas.microsoft.com/office/drawing/2014/main" id="{62061F1D-676D-43D4-B9CA-DB52FB119596}"/>
                </a:ext>
              </a:extLst>
            </p:cNvPr>
            <p:cNvSpPr txBox="1"/>
            <p:nvPr/>
          </p:nvSpPr>
          <p:spPr>
            <a:xfrm>
              <a:off x="5795918" y="3081440"/>
              <a:ext cx="300082" cy="369332"/>
            </a:xfrm>
            <a:prstGeom prst="rect">
              <a:avLst/>
            </a:prstGeom>
            <a:noFill/>
          </p:spPr>
          <p:txBody>
            <a:bodyPr wrap="none" rtlCol="0">
              <a:spAutoFit/>
            </a:bodyPr>
            <a:lstStyle/>
            <a:p>
              <a:r>
                <a:rPr lang="en-US" sz="1800" dirty="0"/>
                <a:t>y</a:t>
              </a:r>
            </a:p>
          </p:txBody>
        </p:sp>
        <p:cxnSp>
          <p:nvCxnSpPr>
            <p:cNvPr id="6" name="Straight Arrow Connector 5">
              <a:extLst>
                <a:ext uri="{FF2B5EF4-FFF2-40B4-BE49-F238E27FC236}">
                  <a16:creationId xmlns:a16="http://schemas.microsoft.com/office/drawing/2014/main" id="{0A106FBB-345C-44C4-9643-9EAD3CCD65A3}"/>
                </a:ext>
              </a:extLst>
            </p:cNvPr>
            <p:cNvCxnSpPr>
              <a:cxnSpLocks/>
              <a:endCxn id="72" idx="1"/>
            </p:cNvCxnSpPr>
            <p:nvPr/>
          </p:nvCxnSpPr>
          <p:spPr bwMode="auto">
            <a:xfrm>
              <a:off x="2168843" y="2173437"/>
              <a:ext cx="650557" cy="0"/>
            </a:xfrm>
            <a:prstGeom prst="straightConnector1">
              <a:avLst/>
            </a:prstGeom>
            <a:noFill/>
            <a:ln w="9525" cap="flat" cmpd="sng" algn="ctr">
              <a:solidFill>
                <a:schemeClr val="tx1"/>
              </a:solidFill>
              <a:prstDash val="solid"/>
              <a:round/>
              <a:headEnd type="none" w="med" len="med"/>
              <a:tailEnd type="triangle"/>
            </a:ln>
            <a:effectLst/>
          </p:spPr>
        </p:cxnSp>
        <p:cxnSp>
          <p:nvCxnSpPr>
            <p:cNvPr id="8" name="Straight Arrow Connector 7">
              <a:extLst>
                <a:ext uri="{FF2B5EF4-FFF2-40B4-BE49-F238E27FC236}">
                  <a16:creationId xmlns:a16="http://schemas.microsoft.com/office/drawing/2014/main" id="{A9C85EE5-732F-429A-900E-1B7B21758369}"/>
                </a:ext>
              </a:extLst>
            </p:cNvPr>
            <p:cNvCxnSpPr>
              <a:cxnSpLocks/>
              <a:endCxn id="29" idx="1"/>
            </p:cNvCxnSpPr>
            <p:nvPr/>
          </p:nvCxnSpPr>
          <p:spPr bwMode="auto">
            <a:xfrm>
              <a:off x="2168843" y="3276881"/>
              <a:ext cx="650558" cy="0"/>
            </a:xfrm>
            <a:prstGeom prst="straightConnector1">
              <a:avLst/>
            </a:prstGeom>
            <a:noFill/>
            <a:ln w="9525" cap="flat" cmpd="sng" algn="ctr">
              <a:solidFill>
                <a:schemeClr val="tx1"/>
              </a:solidFill>
              <a:prstDash val="solid"/>
              <a:round/>
              <a:headEnd type="none" w="med" len="med"/>
              <a:tailEnd type="triangle"/>
            </a:ln>
            <a:effectLst/>
          </p:spPr>
        </p:cxnSp>
        <p:sp>
          <p:nvSpPr>
            <p:cNvPr id="28" name="TextBox 27">
              <a:extLst>
                <a:ext uri="{FF2B5EF4-FFF2-40B4-BE49-F238E27FC236}">
                  <a16:creationId xmlns:a16="http://schemas.microsoft.com/office/drawing/2014/main" id="{19D5125A-908B-4812-91D8-0C630BA2F87E}"/>
                </a:ext>
              </a:extLst>
            </p:cNvPr>
            <p:cNvSpPr txBox="1"/>
            <p:nvPr/>
          </p:nvSpPr>
          <p:spPr>
            <a:xfrm>
              <a:off x="3427027" y="3091899"/>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6</a:t>
              </a:r>
            </a:p>
          </p:txBody>
        </p:sp>
        <p:sp>
          <p:nvSpPr>
            <p:cNvPr id="29" name="TextBox 28">
              <a:extLst>
                <a:ext uri="{FF2B5EF4-FFF2-40B4-BE49-F238E27FC236}">
                  <a16:creationId xmlns:a16="http://schemas.microsoft.com/office/drawing/2014/main" id="{5EEA69FA-6414-4647-BC93-6FD115E6F199}"/>
                </a:ext>
              </a:extLst>
            </p:cNvPr>
            <p:cNvSpPr txBox="1"/>
            <p:nvPr/>
          </p:nvSpPr>
          <p:spPr>
            <a:xfrm>
              <a:off x="2819401" y="3092215"/>
              <a:ext cx="569388" cy="369332"/>
            </a:xfrm>
            <a:prstGeom prst="rect">
              <a:avLst/>
            </a:prstGeom>
            <a:noFill/>
          </p:spPr>
          <p:txBody>
            <a:bodyPr wrap="none" rtlCol="0">
              <a:spAutoFit/>
            </a:bodyPr>
            <a:lstStyle/>
            <a:p>
              <a:r>
                <a:rPr lang="en-US" sz="1800" dirty="0"/>
                <a:t>212</a:t>
              </a:r>
            </a:p>
          </p:txBody>
        </p:sp>
        <p:sp>
          <p:nvSpPr>
            <p:cNvPr id="26" name="TextBox 25">
              <a:extLst>
                <a:ext uri="{FF2B5EF4-FFF2-40B4-BE49-F238E27FC236}">
                  <a16:creationId xmlns:a16="http://schemas.microsoft.com/office/drawing/2014/main" id="{F358AB6E-F6C9-49D9-AD02-ECF2A52A8565}"/>
                </a:ext>
              </a:extLst>
            </p:cNvPr>
            <p:cNvSpPr txBox="1"/>
            <p:nvPr/>
          </p:nvSpPr>
          <p:spPr>
            <a:xfrm>
              <a:off x="5791200" y="3484418"/>
              <a:ext cx="1685077" cy="646331"/>
            </a:xfrm>
            <a:prstGeom prst="rect">
              <a:avLst/>
            </a:prstGeom>
            <a:noFill/>
          </p:spPr>
          <p:txBody>
            <a:bodyPr wrap="none" rtlCol="0">
              <a:spAutoFit/>
            </a:bodyPr>
            <a:lstStyle/>
            <a:p>
              <a:pPr algn="l"/>
              <a:r>
                <a:rPr lang="en-US" sz="1800" dirty="0"/>
                <a:t>temporary part</a:t>
              </a:r>
            </a:p>
            <a:p>
              <a:pPr algn="l"/>
              <a:r>
                <a:rPr lang="en-US" sz="1800" dirty="0"/>
                <a:t>is empty</a:t>
              </a:r>
            </a:p>
          </p:txBody>
        </p:sp>
        <p:sp>
          <p:nvSpPr>
            <p:cNvPr id="27" name="TextBox 26">
              <a:extLst>
                <a:ext uri="{FF2B5EF4-FFF2-40B4-BE49-F238E27FC236}">
                  <a16:creationId xmlns:a16="http://schemas.microsoft.com/office/drawing/2014/main" id="{49B62D7D-45DB-43C7-97DE-DCDBD428B9E6}"/>
                </a:ext>
              </a:extLst>
            </p:cNvPr>
            <p:cNvSpPr txBox="1"/>
            <p:nvPr/>
          </p:nvSpPr>
          <p:spPr>
            <a:xfrm>
              <a:off x="1676400" y="1990627"/>
              <a:ext cx="492443" cy="369332"/>
            </a:xfrm>
            <a:prstGeom prst="rect">
              <a:avLst/>
            </a:prstGeom>
            <a:noFill/>
          </p:spPr>
          <p:txBody>
            <a:bodyPr wrap="none" rtlCol="0">
              <a:spAutoFit/>
            </a:bodyPr>
            <a:lstStyle/>
            <a:p>
              <a:r>
                <a:rPr lang="en-US" sz="1800" dirty="0"/>
                <a:t>BP</a:t>
              </a:r>
            </a:p>
          </p:txBody>
        </p:sp>
        <p:sp>
          <p:nvSpPr>
            <p:cNvPr id="30" name="TextBox 29">
              <a:extLst>
                <a:ext uri="{FF2B5EF4-FFF2-40B4-BE49-F238E27FC236}">
                  <a16:creationId xmlns:a16="http://schemas.microsoft.com/office/drawing/2014/main" id="{A4A43ED8-6D7A-4996-A6BA-4B942CDF0376}"/>
                </a:ext>
              </a:extLst>
            </p:cNvPr>
            <p:cNvSpPr txBox="1"/>
            <p:nvPr/>
          </p:nvSpPr>
          <p:spPr>
            <a:xfrm>
              <a:off x="1676400" y="3079173"/>
              <a:ext cx="492443" cy="369332"/>
            </a:xfrm>
            <a:prstGeom prst="rect">
              <a:avLst/>
            </a:prstGeom>
            <a:noFill/>
          </p:spPr>
          <p:txBody>
            <a:bodyPr wrap="none" rtlCol="0">
              <a:spAutoFit/>
            </a:bodyPr>
            <a:lstStyle/>
            <a:p>
              <a:r>
                <a:rPr lang="en-US" sz="1800" dirty="0"/>
                <a:t>SP</a:t>
              </a:r>
            </a:p>
          </p:txBody>
        </p:sp>
        <p:sp>
          <p:nvSpPr>
            <p:cNvPr id="31" name="TextBox 30">
              <a:extLst>
                <a:ext uri="{FF2B5EF4-FFF2-40B4-BE49-F238E27FC236}">
                  <a16:creationId xmlns:a16="http://schemas.microsoft.com/office/drawing/2014/main" id="{1E8A5055-DCF7-4DB7-9BBE-6C28F80D1CDE}"/>
                </a:ext>
              </a:extLst>
            </p:cNvPr>
            <p:cNvSpPr txBox="1"/>
            <p:nvPr/>
          </p:nvSpPr>
          <p:spPr>
            <a:xfrm>
              <a:off x="6477000" y="2587650"/>
              <a:ext cx="1351652" cy="646331"/>
            </a:xfrm>
            <a:prstGeom prst="rect">
              <a:avLst/>
            </a:prstGeom>
            <a:noFill/>
          </p:spPr>
          <p:txBody>
            <a:bodyPr wrap="none" rtlCol="0">
              <a:spAutoFit/>
            </a:bodyPr>
            <a:lstStyle/>
            <a:p>
              <a:pPr algn="l"/>
              <a:r>
                <a:rPr lang="en-US" sz="1800" dirty="0"/>
                <a:t>value of x</a:t>
              </a:r>
            </a:p>
            <a:p>
              <a:pPr algn="l"/>
              <a:r>
                <a:rPr lang="en-US" sz="1800" dirty="0"/>
                <a:t>is unknown</a:t>
              </a:r>
            </a:p>
          </p:txBody>
        </p:sp>
      </p:grpSp>
    </p:spTree>
    <p:extLst>
      <p:ext uri="{BB962C8B-B14F-4D97-AF65-F5344CB8AC3E}">
        <p14:creationId xmlns:p14="http://schemas.microsoft.com/office/powerpoint/2010/main" val="28784760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A879-EF42-4A2F-A284-843555707706}"/>
              </a:ext>
            </a:extLst>
          </p:cNvPr>
          <p:cNvSpPr>
            <a:spLocks noGrp="1"/>
          </p:cNvSpPr>
          <p:nvPr>
            <p:ph type="title"/>
          </p:nvPr>
        </p:nvSpPr>
        <p:spPr>
          <a:xfrm>
            <a:off x="822960" y="138113"/>
            <a:ext cx="7498080" cy="1004887"/>
          </a:xfrm>
        </p:spPr>
        <p:txBody>
          <a:bodyPr/>
          <a:lstStyle/>
          <a:p>
            <a:r>
              <a:rPr lang="en-US" sz="2600" dirty="0"/>
              <a:t>Example: Temporary Part of an Activation Record</a:t>
            </a:r>
            <a:br>
              <a:rPr lang="en-US" sz="2600" dirty="0"/>
            </a:br>
            <a:r>
              <a:rPr lang="en-US" sz="2400" dirty="0"/>
              <a:t>(continued)</a:t>
            </a:r>
          </a:p>
        </p:txBody>
      </p:sp>
      <p:sp>
        <p:nvSpPr>
          <p:cNvPr id="4" name="Footer Placeholder 3">
            <a:extLst>
              <a:ext uri="{FF2B5EF4-FFF2-40B4-BE49-F238E27FC236}">
                <a16:creationId xmlns:a16="http://schemas.microsoft.com/office/drawing/2014/main" id="{E7CB5EBB-27EC-41A7-BA4B-43CECFD80695}"/>
              </a:ext>
            </a:extLst>
          </p:cNvPr>
          <p:cNvSpPr>
            <a:spLocks noGrp="1"/>
          </p:cNvSpPr>
          <p:nvPr>
            <p:ph type="ftr" sz="quarter" idx="10"/>
          </p:nvPr>
        </p:nvSpPr>
        <p:spPr/>
        <p:txBody>
          <a:bodyPr/>
          <a:lstStyle/>
          <a:p>
            <a:pPr>
              <a:defRPr/>
            </a:pPr>
            <a:r>
              <a:rPr lang="en-US" dirty="0"/>
              <a:t>©SoftMoore Consulting</a:t>
            </a:r>
          </a:p>
        </p:txBody>
      </p:sp>
      <p:sp>
        <p:nvSpPr>
          <p:cNvPr id="5" name="Slide Number Placeholder 4">
            <a:extLst>
              <a:ext uri="{FF2B5EF4-FFF2-40B4-BE49-F238E27FC236}">
                <a16:creationId xmlns:a16="http://schemas.microsoft.com/office/drawing/2014/main" id="{71627D31-7CA1-4429-AA80-9A76187B8557}"/>
              </a:ext>
            </a:extLst>
          </p:cNvPr>
          <p:cNvSpPr>
            <a:spLocks noGrp="1"/>
          </p:cNvSpPr>
          <p:nvPr>
            <p:ph type="sldNum" sz="quarter" idx="11"/>
          </p:nvPr>
        </p:nvSpPr>
        <p:spPr/>
        <p:txBody>
          <a:bodyPr/>
          <a:lstStyle/>
          <a:p>
            <a:pPr>
              <a:defRPr/>
            </a:pPr>
            <a:r>
              <a:rPr lang="en-US" dirty="0"/>
              <a:t>Slide </a:t>
            </a:r>
            <a:fld id="{63AEAFB5-AC10-4A77-9869-4B293AAAFFF3}" type="slidenum">
              <a:rPr lang="en-US" smtClean="0"/>
              <a:pPr>
                <a:defRPr/>
              </a:pPr>
              <a:t>30</a:t>
            </a:fld>
            <a:endParaRPr lang="en-US" dirty="0"/>
          </a:p>
        </p:txBody>
      </p:sp>
      <p:sp>
        <p:nvSpPr>
          <p:cNvPr id="27" name="TextBox 26">
            <a:extLst>
              <a:ext uri="{FF2B5EF4-FFF2-40B4-BE49-F238E27FC236}">
                <a16:creationId xmlns:a16="http://schemas.microsoft.com/office/drawing/2014/main" id="{9CF3ED0A-3723-4A15-AD95-6864688DE62A}"/>
              </a:ext>
            </a:extLst>
          </p:cNvPr>
          <p:cNvSpPr txBox="1"/>
          <p:nvPr/>
        </p:nvSpPr>
        <p:spPr>
          <a:xfrm>
            <a:off x="822960" y="1345896"/>
            <a:ext cx="4193777" cy="461665"/>
          </a:xfrm>
          <a:prstGeom prst="rect">
            <a:avLst/>
          </a:prstGeom>
          <a:noFill/>
        </p:spPr>
        <p:txBody>
          <a:bodyPr wrap="none" rtlCol="0">
            <a:spAutoFit/>
          </a:bodyPr>
          <a:lstStyle/>
          <a:p>
            <a:r>
              <a:rPr lang="en-US" dirty="0"/>
              <a:t>After execution of </a:t>
            </a:r>
            <a:r>
              <a:rPr lang="en-US" sz="2300" dirty="0">
                <a:latin typeface="Consolas" panose="020B0609020204030204" pitchFamily="49" charset="0"/>
              </a:rPr>
              <a:t>LDLADDR 8</a:t>
            </a:r>
          </a:p>
        </p:txBody>
      </p:sp>
      <p:grpSp>
        <p:nvGrpSpPr>
          <p:cNvPr id="7" name="Group 6">
            <a:extLst>
              <a:ext uri="{FF2B5EF4-FFF2-40B4-BE49-F238E27FC236}">
                <a16:creationId xmlns:a16="http://schemas.microsoft.com/office/drawing/2014/main" id="{5571216A-BE98-42F5-895A-543A6430EEDE}"/>
              </a:ext>
            </a:extLst>
          </p:cNvPr>
          <p:cNvGrpSpPr/>
          <p:nvPr/>
        </p:nvGrpSpPr>
        <p:grpSpPr>
          <a:xfrm>
            <a:off x="1676400" y="1981200"/>
            <a:ext cx="6019800" cy="4023360"/>
            <a:chOff x="1676400" y="1981200"/>
            <a:chExt cx="6019800" cy="4023360"/>
          </a:xfrm>
        </p:grpSpPr>
        <p:sp>
          <p:nvSpPr>
            <p:cNvPr id="63" name="Rectangle 4">
              <a:extLst>
                <a:ext uri="{FF2B5EF4-FFF2-40B4-BE49-F238E27FC236}">
                  <a16:creationId xmlns:a16="http://schemas.microsoft.com/office/drawing/2014/main" id="{B5AB0F95-612B-447E-BC0F-F952B486D878}"/>
                </a:ext>
              </a:extLst>
            </p:cNvPr>
            <p:cNvSpPr>
              <a:spLocks noChangeArrowheads="1"/>
            </p:cNvSpPr>
            <p:nvPr/>
          </p:nvSpPr>
          <p:spPr bwMode="auto">
            <a:xfrm>
              <a:off x="3427027" y="1981200"/>
              <a:ext cx="2286000" cy="4023360"/>
            </a:xfrm>
            <a:prstGeom prst="rect">
              <a:avLst/>
            </a:prstGeom>
            <a:pattFill prst="pct5">
              <a:fgClr>
                <a:schemeClr val="tx1"/>
              </a:fgClr>
              <a:bgClr>
                <a:schemeClr val="bg1"/>
              </a:bgClr>
            </a:pattFill>
            <a:ln w="9525">
              <a:solidFill>
                <a:schemeClr val="tx1"/>
              </a:solidFill>
              <a:miter lim="800000"/>
              <a:headEnd/>
              <a:tailEnd/>
            </a:ln>
          </p:spPr>
          <p:txBody>
            <a:bodyPr wrap="none" lIns="92075" tIns="46038" rIns="92075" bIns="46038" anchor="ctr"/>
            <a:lstStyle/>
            <a:p>
              <a:endParaRPr lang="en-US" dirty="0"/>
            </a:p>
          </p:txBody>
        </p:sp>
        <p:sp>
          <p:nvSpPr>
            <p:cNvPr id="68" name="TextBox 67">
              <a:extLst>
                <a:ext uri="{FF2B5EF4-FFF2-40B4-BE49-F238E27FC236}">
                  <a16:creationId xmlns:a16="http://schemas.microsoft.com/office/drawing/2014/main" id="{28BA86A7-17E6-414B-8B9D-E2CC84A29DC9}"/>
                </a:ext>
              </a:extLst>
            </p:cNvPr>
            <p:cNvSpPr txBox="1"/>
            <p:nvPr/>
          </p:nvSpPr>
          <p:spPr>
            <a:xfrm>
              <a:off x="3427027" y="1981200"/>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dynamic link</a:t>
              </a:r>
            </a:p>
          </p:txBody>
        </p:sp>
        <p:sp>
          <p:nvSpPr>
            <p:cNvPr id="69" name="TextBox 68">
              <a:extLst>
                <a:ext uri="{FF2B5EF4-FFF2-40B4-BE49-F238E27FC236}">
                  <a16:creationId xmlns:a16="http://schemas.microsoft.com/office/drawing/2014/main" id="{E2D64B75-6D6C-4DA6-A677-6C13279C8E15}"/>
                </a:ext>
              </a:extLst>
            </p:cNvPr>
            <p:cNvSpPr txBox="1"/>
            <p:nvPr/>
          </p:nvSpPr>
          <p:spPr>
            <a:xfrm>
              <a:off x="3427027" y="2351884"/>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return address</a:t>
              </a:r>
            </a:p>
          </p:txBody>
        </p:sp>
        <p:sp>
          <p:nvSpPr>
            <p:cNvPr id="70" name="TextBox 69">
              <a:extLst>
                <a:ext uri="{FF2B5EF4-FFF2-40B4-BE49-F238E27FC236}">
                  <a16:creationId xmlns:a16="http://schemas.microsoft.com/office/drawing/2014/main" id="{F2F7C5DF-6D2D-4543-B6E0-B18D4217F52E}"/>
                </a:ext>
              </a:extLst>
            </p:cNvPr>
            <p:cNvSpPr txBox="1"/>
            <p:nvPr/>
          </p:nvSpPr>
          <p:spPr>
            <a:xfrm>
              <a:off x="3427027" y="2722567"/>
              <a:ext cx="2286000" cy="369332"/>
            </a:xfrm>
            <a:prstGeom prst="rect">
              <a:avLst/>
            </a:prstGeom>
            <a:solidFill>
              <a:schemeClr val="bg1"/>
            </a:solidFill>
            <a:ln>
              <a:solidFill>
                <a:schemeClr val="tx1"/>
              </a:solidFill>
            </a:ln>
          </p:spPr>
          <p:txBody>
            <a:bodyPr wrap="none" rtlCol="0">
              <a:noAutofit/>
            </a:bodyPr>
            <a:lstStyle/>
            <a:p>
              <a:pPr marL="91440" algn="l"/>
              <a:endParaRPr lang="en-US" sz="1800" dirty="0"/>
            </a:p>
          </p:txBody>
        </p:sp>
        <p:sp>
          <p:nvSpPr>
            <p:cNvPr id="72" name="TextBox 71">
              <a:extLst>
                <a:ext uri="{FF2B5EF4-FFF2-40B4-BE49-F238E27FC236}">
                  <a16:creationId xmlns:a16="http://schemas.microsoft.com/office/drawing/2014/main" id="{9599E4DD-7C5B-475F-806B-F0058F4ECE0F}"/>
                </a:ext>
              </a:extLst>
            </p:cNvPr>
            <p:cNvSpPr txBox="1"/>
            <p:nvPr/>
          </p:nvSpPr>
          <p:spPr>
            <a:xfrm>
              <a:off x="2819400" y="1986915"/>
              <a:ext cx="569388" cy="369332"/>
            </a:xfrm>
            <a:prstGeom prst="rect">
              <a:avLst/>
            </a:prstGeom>
            <a:noFill/>
          </p:spPr>
          <p:txBody>
            <a:bodyPr wrap="none" rtlCol="0">
              <a:spAutoFit/>
            </a:bodyPr>
            <a:lstStyle/>
            <a:p>
              <a:r>
                <a:rPr lang="en-US" sz="1800" dirty="0"/>
                <a:t>200</a:t>
              </a:r>
            </a:p>
          </p:txBody>
        </p:sp>
        <p:sp>
          <p:nvSpPr>
            <p:cNvPr id="73" name="TextBox 72">
              <a:extLst>
                <a:ext uri="{FF2B5EF4-FFF2-40B4-BE49-F238E27FC236}">
                  <a16:creationId xmlns:a16="http://schemas.microsoft.com/office/drawing/2014/main" id="{7D5F371E-A21E-4C6E-A0B0-A42812DA92BB}"/>
                </a:ext>
              </a:extLst>
            </p:cNvPr>
            <p:cNvSpPr txBox="1"/>
            <p:nvPr/>
          </p:nvSpPr>
          <p:spPr>
            <a:xfrm>
              <a:off x="2819401" y="2355434"/>
              <a:ext cx="569387" cy="369332"/>
            </a:xfrm>
            <a:prstGeom prst="rect">
              <a:avLst/>
            </a:prstGeom>
            <a:noFill/>
          </p:spPr>
          <p:txBody>
            <a:bodyPr wrap="none" rtlCol="0">
              <a:spAutoFit/>
            </a:bodyPr>
            <a:lstStyle/>
            <a:p>
              <a:r>
                <a:rPr lang="en-US" sz="1800" dirty="0"/>
                <a:t>204</a:t>
              </a:r>
            </a:p>
          </p:txBody>
        </p:sp>
        <p:sp>
          <p:nvSpPr>
            <p:cNvPr id="74" name="TextBox 73">
              <a:extLst>
                <a:ext uri="{FF2B5EF4-FFF2-40B4-BE49-F238E27FC236}">
                  <a16:creationId xmlns:a16="http://schemas.microsoft.com/office/drawing/2014/main" id="{314D2A39-5609-4923-AA08-AB9FB75E8DD8}"/>
                </a:ext>
              </a:extLst>
            </p:cNvPr>
            <p:cNvSpPr txBox="1"/>
            <p:nvPr/>
          </p:nvSpPr>
          <p:spPr>
            <a:xfrm>
              <a:off x="2819400" y="2723953"/>
              <a:ext cx="569388" cy="369332"/>
            </a:xfrm>
            <a:prstGeom prst="rect">
              <a:avLst/>
            </a:prstGeom>
            <a:noFill/>
          </p:spPr>
          <p:txBody>
            <a:bodyPr wrap="none" rtlCol="0">
              <a:spAutoFit/>
            </a:bodyPr>
            <a:lstStyle/>
            <a:p>
              <a:r>
                <a:rPr lang="en-US" sz="1800" dirty="0"/>
                <a:t>208</a:t>
              </a:r>
            </a:p>
          </p:txBody>
        </p:sp>
        <p:sp>
          <p:nvSpPr>
            <p:cNvPr id="76" name="TextBox 75">
              <a:extLst>
                <a:ext uri="{FF2B5EF4-FFF2-40B4-BE49-F238E27FC236}">
                  <a16:creationId xmlns:a16="http://schemas.microsoft.com/office/drawing/2014/main" id="{03FC58D0-0DFB-41BF-B004-B8A24DF19F40}"/>
                </a:ext>
              </a:extLst>
            </p:cNvPr>
            <p:cNvSpPr txBox="1"/>
            <p:nvPr/>
          </p:nvSpPr>
          <p:spPr>
            <a:xfrm>
              <a:off x="5793559" y="2710509"/>
              <a:ext cx="300083" cy="369332"/>
            </a:xfrm>
            <a:prstGeom prst="rect">
              <a:avLst/>
            </a:prstGeom>
            <a:noFill/>
          </p:spPr>
          <p:txBody>
            <a:bodyPr wrap="none" rtlCol="0">
              <a:spAutoFit/>
            </a:bodyPr>
            <a:lstStyle/>
            <a:p>
              <a:r>
                <a:rPr lang="en-US" sz="1800" dirty="0"/>
                <a:t>x</a:t>
              </a:r>
            </a:p>
          </p:txBody>
        </p:sp>
        <p:sp>
          <p:nvSpPr>
            <p:cNvPr id="77" name="TextBox 76">
              <a:extLst>
                <a:ext uri="{FF2B5EF4-FFF2-40B4-BE49-F238E27FC236}">
                  <a16:creationId xmlns:a16="http://schemas.microsoft.com/office/drawing/2014/main" id="{62061F1D-676D-43D4-B9CA-DB52FB119596}"/>
                </a:ext>
              </a:extLst>
            </p:cNvPr>
            <p:cNvSpPr txBox="1"/>
            <p:nvPr/>
          </p:nvSpPr>
          <p:spPr>
            <a:xfrm>
              <a:off x="5793559" y="3081440"/>
              <a:ext cx="300082" cy="369332"/>
            </a:xfrm>
            <a:prstGeom prst="rect">
              <a:avLst/>
            </a:prstGeom>
            <a:noFill/>
          </p:spPr>
          <p:txBody>
            <a:bodyPr wrap="none" rtlCol="0">
              <a:spAutoFit/>
            </a:bodyPr>
            <a:lstStyle/>
            <a:p>
              <a:r>
                <a:rPr lang="en-US" sz="1800" dirty="0"/>
                <a:t>y</a:t>
              </a:r>
            </a:p>
          </p:txBody>
        </p:sp>
        <p:sp>
          <p:nvSpPr>
            <p:cNvPr id="21" name="TextBox 20">
              <a:extLst>
                <a:ext uri="{FF2B5EF4-FFF2-40B4-BE49-F238E27FC236}">
                  <a16:creationId xmlns:a16="http://schemas.microsoft.com/office/drawing/2014/main" id="{AB841B8B-8949-425B-86CF-937F49018DBE}"/>
                </a:ext>
              </a:extLst>
            </p:cNvPr>
            <p:cNvSpPr txBox="1"/>
            <p:nvPr/>
          </p:nvSpPr>
          <p:spPr>
            <a:xfrm>
              <a:off x="1676400" y="1990627"/>
              <a:ext cx="492443" cy="369332"/>
            </a:xfrm>
            <a:prstGeom prst="rect">
              <a:avLst/>
            </a:prstGeom>
            <a:noFill/>
          </p:spPr>
          <p:txBody>
            <a:bodyPr wrap="none" rtlCol="0">
              <a:spAutoFit/>
            </a:bodyPr>
            <a:lstStyle/>
            <a:p>
              <a:r>
                <a:rPr lang="en-US" sz="1800" dirty="0"/>
                <a:t>BP</a:t>
              </a:r>
            </a:p>
          </p:txBody>
        </p:sp>
        <p:sp>
          <p:nvSpPr>
            <p:cNvPr id="22" name="TextBox 21">
              <a:extLst>
                <a:ext uri="{FF2B5EF4-FFF2-40B4-BE49-F238E27FC236}">
                  <a16:creationId xmlns:a16="http://schemas.microsoft.com/office/drawing/2014/main" id="{5C971F6B-A50E-44FF-8236-6A6813B34770}"/>
                </a:ext>
              </a:extLst>
            </p:cNvPr>
            <p:cNvSpPr txBox="1"/>
            <p:nvPr/>
          </p:nvSpPr>
          <p:spPr>
            <a:xfrm>
              <a:off x="1676400" y="3460992"/>
              <a:ext cx="492443" cy="369332"/>
            </a:xfrm>
            <a:prstGeom prst="rect">
              <a:avLst/>
            </a:prstGeom>
            <a:noFill/>
          </p:spPr>
          <p:txBody>
            <a:bodyPr wrap="none" rtlCol="0">
              <a:spAutoFit/>
            </a:bodyPr>
            <a:lstStyle/>
            <a:p>
              <a:r>
                <a:rPr lang="en-US" sz="1800" dirty="0"/>
                <a:t>SP</a:t>
              </a:r>
            </a:p>
          </p:txBody>
        </p:sp>
        <p:cxnSp>
          <p:nvCxnSpPr>
            <p:cNvPr id="6" name="Straight Arrow Connector 5">
              <a:extLst>
                <a:ext uri="{FF2B5EF4-FFF2-40B4-BE49-F238E27FC236}">
                  <a16:creationId xmlns:a16="http://schemas.microsoft.com/office/drawing/2014/main" id="{0A106FBB-345C-44C4-9643-9EAD3CCD65A3}"/>
                </a:ext>
              </a:extLst>
            </p:cNvPr>
            <p:cNvCxnSpPr>
              <a:cxnSpLocks/>
              <a:stCxn id="21" idx="3"/>
              <a:endCxn id="72" idx="1"/>
            </p:cNvCxnSpPr>
            <p:nvPr/>
          </p:nvCxnSpPr>
          <p:spPr bwMode="auto">
            <a:xfrm flipV="1">
              <a:off x="2168843" y="2171581"/>
              <a:ext cx="650557" cy="3712"/>
            </a:xfrm>
            <a:prstGeom prst="straightConnector1">
              <a:avLst/>
            </a:prstGeom>
            <a:noFill/>
            <a:ln w="9525" cap="flat" cmpd="sng" algn="ctr">
              <a:solidFill>
                <a:schemeClr val="tx1"/>
              </a:solidFill>
              <a:prstDash val="solid"/>
              <a:round/>
              <a:headEnd type="none" w="med" len="med"/>
              <a:tailEnd type="triangle"/>
            </a:ln>
            <a:effectLst/>
          </p:spPr>
        </p:cxnSp>
        <p:cxnSp>
          <p:nvCxnSpPr>
            <p:cNvPr id="8" name="Straight Arrow Connector 7">
              <a:extLst>
                <a:ext uri="{FF2B5EF4-FFF2-40B4-BE49-F238E27FC236}">
                  <a16:creationId xmlns:a16="http://schemas.microsoft.com/office/drawing/2014/main" id="{A9C85EE5-732F-429A-900E-1B7B21758369}"/>
                </a:ext>
              </a:extLst>
            </p:cNvPr>
            <p:cNvCxnSpPr>
              <a:cxnSpLocks/>
              <a:stCxn id="22" idx="3"/>
              <a:endCxn id="31" idx="1"/>
            </p:cNvCxnSpPr>
            <p:nvPr/>
          </p:nvCxnSpPr>
          <p:spPr bwMode="auto">
            <a:xfrm>
              <a:off x="2168843" y="3645658"/>
              <a:ext cx="650557" cy="0"/>
            </a:xfrm>
            <a:prstGeom prst="straightConnector1">
              <a:avLst/>
            </a:prstGeom>
            <a:noFill/>
            <a:ln w="9525" cap="flat" cmpd="sng" algn="ctr">
              <a:solidFill>
                <a:schemeClr val="tx1"/>
              </a:solidFill>
              <a:prstDash val="solid"/>
              <a:round/>
              <a:headEnd type="none" w="med" len="med"/>
              <a:tailEnd type="triangle"/>
            </a:ln>
            <a:effectLst/>
          </p:spPr>
        </p:cxnSp>
        <p:sp>
          <p:nvSpPr>
            <p:cNvPr id="28" name="TextBox 27">
              <a:extLst>
                <a:ext uri="{FF2B5EF4-FFF2-40B4-BE49-F238E27FC236}">
                  <a16:creationId xmlns:a16="http://schemas.microsoft.com/office/drawing/2014/main" id="{19D5125A-908B-4812-91D8-0C630BA2F87E}"/>
                </a:ext>
              </a:extLst>
            </p:cNvPr>
            <p:cNvSpPr txBox="1"/>
            <p:nvPr/>
          </p:nvSpPr>
          <p:spPr>
            <a:xfrm>
              <a:off x="3427027" y="3091899"/>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6</a:t>
              </a:r>
            </a:p>
          </p:txBody>
        </p:sp>
        <p:sp>
          <p:nvSpPr>
            <p:cNvPr id="29" name="TextBox 28">
              <a:extLst>
                <a:ext uri="{FF2B5EF4-FFF2-40B4-BE49-F238E27FC236}">
                  <a16:creationId xmlns:a16="http://schemas.microsoft.com/office/drawing/2014/main" id="{5EEA69FA-6414-4647-BC93-6FD115E6F199}"/>
                </a:ext>
              </a:extLst>
            </p:cNvPr>
            <p:cNvSpPr txBox="1"/>
            <p:nvPr/>
          </p:nvSpPr>
          <p:spPr>
            <a:xfrm>
              <a:off x="2819401" y="3092472"/>
              <a:ext cx="569388" cy="369332"/>
            </a:xfrm>
            <a:prstGeom prst="rect">
              <a:avLst/>
            </a:prstGeom>
            <a:noFill/>
          </p:spPr>
          <p:txBody>
            <a:bodyPr wrap="none" rtlCol="0">
              <a:spAutoFit/>
            </a:bodyPr>
            <a:lstStyle/>
            <a:p>
              <a:r>
                <a:rPr lang="en-US" sz="1800" dirty="0"/>
                <a:t>212</a:t>
              </a:r>
            </a:p>
          </p:txBody>
        </p:sp>
        <p:sp>
          <p:nvSpPr>
            <p:cNvPr id="30" name="TextBox 29">
              <a:extLst>
                <a:ext uri="{FF2B5EF4-FFF2-40B4-BE49-F238E27FC236}">
                  <a16:creationId xmlns:a16="http://schemas.microsoft.com/office/drawing/2014/main" id="{D71C7B3F-2738-4421-AAD1-B7BA92B38C7F}"/>
                </a:ext>
              </a:extLst>
            </p:cNvPr>
            <p:cNvSpPr txBox="1"/>
            <p:nvPr/>
          </p:nvSpPr>
          <p:spPr>
            <a:xfrm>
              <a:off x="3427027" y="3461231"/>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208 (address of x)</a:t>
              </a:r>
            </a:p>
          </p:txBody>
        </p:sp>
        <p:sp>
          <p:nvSpPr>
            <p:cNvPr id="31" name="TextBox 30">
              <a:extLst>
                <a:ext uri="{FF2B5EF4-FFF2-40B4-BE49-F238E27FC236}">
                  <a16:creationId xmlns:a16="http://schemas.microsoft.com/office/drawing/2014/main" id="{E6A72BF6-7B5B-4673-95A5-AD06EE024B99}"/>
                </a:ext>
              </a:extLst>
            </p:cNvPr>
            <p:cNvSpPr txBox="1"/>
            <p:nvPr/>
          </p:nvSpPr>
          <p:spPr>
            <a:xfrm>
              <a:off x="2819400" y="3460992"/>
              <a:ext cx="569388" cy="369332"/>
            </a:xfrm>
            <a:prstGeom prst="rect">
              <a:avLst/>
            </a:prstGeom>
            <a:noFill/>
          </p:spPr>
          <p:txBody>
            <a:bodyPr wrap="none" rtlCol="0">
              <a:spAutoFit/>
            </a:bodyPr>
            <a:lstStyle/>
            <a:p>
              <a:r>
                <a:rPr lang="en-US" sz="1800" dirty="0"/>
                <a:t>216</a:t>
              </a:r>
            </a:p>
          </p:txBody>
        </p:sp>
        <p:sp>
          <p:nvSpPr>
            <p:cNvPr id="3" name="Right Brace 2">
              <a:extLst>
                <a:ext uri="{FF2B5EF4-FFF2-40B4-BE49-F238E27FC236}">
                  <a16:creationId xmlns:a16="http://schemas.microsoft.com/office/drawing/2014/main" id="{0D557896-0C79-47D5-84D1-D69485B183FF}"/>
                </a:ext>
              </a:extLst>
            </p:cNvPr>
            <p:cNvSpPr/>
            <p:nvPr/>
          </p:nvSpPr>
          <p:spPr bwMode="auto">
            <a:xfrm>
              <a:off x="5867400" y="3472231"/>
              <a:ext cx="152400" cy="369332"/>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5" name="TextBox 24">
              <a:extLst>
                <a:ext uri="{FF2B5EF4-FFF2-40B4-BE49-F238E27FC236}">
                  <a16:creationId xmlns:a16="http://schemas.microsoft.com/office/drawing/2014/main" id="{E33BC9B2-C90C-41A4-B61A-6BE468E266CB}"/>
                </a:ext>
              </a:extLst>
            </p:cNvPr>
            <p:cNvSpPr txBox="1"/>
            <p:nvPr/>
          </p:nvSpPr>
          <p:spPr>
            <a:xfrm>
              <a:off x="6011123" y="3472231"/>
              <a:ext cx="1685077" cy="369332"/>
            </a:xfrm>
            <a:prstGeom prst="rect">
              <a:avLst/>
            </a:prstGeom>
            <a:noFill/>
          </p:spPr>
          <p:txBody>
            <a:bodyPr wrap="none" rtlCol="0">
              <a:spAutoFit/>
            </a:bodyPr>
            <a:lstStyle/>
            <a:p>
              <a:r>
                <a:rPr lang="en-US" sz="1800" dirty="0"/>
                <a:t>temporary part</a:t>
              </a:r>
            </a:p>
          </p:txBody>
        </p:sp>
      </p:grpSp>
    </p:spTree>
    <p:extLst>
      <p:ext uri="{BB962C8B-B14F-4D97-AF65-F5344CB8AC3E}">
        <p14:creationId xmlns:p14="http://schemas.microsoft.com/office/powerpoint/2010/main" val="42627708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A879-EF42-4A2F-A284-843555707706}"/>
              </a:ext>
            </a:extLst>
          </p:cNvPr>
          <p:cNvSpPr>
            <a:spLocks noGrp="1"/>
          </p:cNvSpPr>
          <p:nvPr>
            <p:ph type="title"/>
          </p:nvPr>
        </p:nvSpPr>
        <p:spPr>
          <a:xfrm>
            <a:off x="822960" y="138113"/>
            <a:ext cx="7498080" cy="1004887"/>
          </a:xfrm>
        </p:spPr>
        <p:txBody>
          <a:bodyPr/>
          <a:lstStyle/>
          <a:p>
            <a:r>
              <a:rPr lang="en-US" sz="2600" dirty="0"/>
              <a:t>Example: Temporary Part of an Activation Record</a:t>
            </a:r>
            <a:br>
              <a:rPr lang="en-US" sz="2600" dirty="0"/>
            </a:br>
            <a:r>
              <a:rPr lang="en-US" sz="2400" dirty="0"/>
              <a:t>(continued)</a:t>
            </a:r>
          </a:p>
        </p:txBody>
      </p:sp>
      <p:sp>
        <p:nvSpPr>
          <p:cNvPr id="4" name="Footer Placeholder 3">
            <a:extLst>
              <a:ext uri="{FF2B5EF4-FFF2-40B4-BE49-F238E27FC236}">
                <a16:creationId xmlns:a16="http://schemas.microsoft.com/office/drawing/2014/main" id="{E7CB5EBB-27EC-41A7-BA4B-43CECFD80695}"/>
              </a:ext>
            </a:extLst>
          </p:cNvPr>
          <p:cNvSpPr>
            <a:spLocks noGrp="1"/>
          </p:cNvSpPr>
          <p:nvPr>
            <p:ph type="ftr" sz="quarter" idx="10"/>
          </p:nvPr>
        </p:nvSpPr>
        <p:spPr/>
        <p:txBody>
          <a:bodyPr/>
          <a:lstStyle/>
          <a:p>
            <a:pPr>
              <a:defRPr/>
            </a:pPr>
            <a:r>
              <a:rPr lang="en-US" dirty="0"/>
              <a:t>©SoftMoore Consulting</a:t>
            </a:r>
          </a:p>
        </p:txBody>
      </p:sp>
      <p:sp>
        <p:nvSpPr>
          <p:cNvPr id="5" name="Slide Number Placeholder 4">
            <a:extLst>
              <a:ext uri="{FF2B5EF4-FFF2-40B4-BE49-F238E27FC236}">
                <a16:creationId xmlns:a16="http://schemas.microsoft.com/office/drawing/2014/main" id="{71627D31-7CA1-4429-AA80-9A76187B8557}"/>
              </a:ext>
            </a:extLst>
          </p:cNvPr>
          <p:cNvSpPr>
            <a:spLocks noGrp="1"/>
          </p:cNvSpPr>
          <p:nvPr>
            <p:ph type="sldNum" sz="quarter" idx="11"/>
          </p:nvPr>
        </p:nvSpPr>
        <p:spPr/>
        <p:txBody>
          <a:bodyPr/>
          <a:lstStyle/>
          <a:p>
            <a:pPr>
              <a:defRPr/>
            </a:pPr>
            <a:r>
              <a:rPr lang="en-US" dirty="0"/>
              <a:t>Slide </a:t>
            </a:r>
            <a:fld id="{63AEAFB5-AC10-4A77-9869-4B293AAAFFF3}" type="slidenum">
              <a:rPr lang="en-US" smtClean="0"/>
              <a:pPr>
                <a:defRPr/>
              </a:pPr>
              <a:t>31</a:t>
            </a:fld>
            <a:endParaRPr lang="en-US" dirty="0"/>
          </a:p>
        </p:txBody>
      </p:sp>
      <p:sp>
        <p:nvSpPr>
          <p:cNvPr id="27" name="TextBox 26">
            <a:extLst>
              <a:ext uri="{FF2B5EF4-FFF2-40B4-BE49-F238E27FC236}">
                <a16:creationId xmlns:a16="http://schemas.microsoft.com/office/drawing/2014/main" id="{9CF3ED0A-3723-4A15-AD95-6864688DE62A}"/>
              </a:ext>
            </a:extLst>
          </p:cNvPr>
          <p:cNvSpPr txBox="1"/>
          <p:nvPr/>
        </p:nvSpPr>
        <p:spPr>
          <a:xfrm>
            <a:off x="822960" y="1345896"/>
            <a:ext cx="4363695" cy="461665"/>
          </a:xfrm>
          <a:prstGeom prst="rect">
            <a:avLst/>
          </a:prstGeom>
          <a:noFill/>
        </p:spPr>
        <p:txBody>
          <a:bodyPr wrap="none" rtlCol="0">
            <a:spAutoFit/>
          </a:bodyPr>
          <a:lstStyle/>
          <a:p>
            <a:r>
              <a:rPr lang="en-US" dirty="0"/>
              <a:t>After execution of </a:t>
            </a:r>
            <a:r>
              <a:rPr lang="en-US" sz="2300" dirty="0">
                <a:latin typeface="Consolas" panose="020B0609020204030204" pitchFamily="49" charset="0"/>
              </a:rPr>
              <a:t>LDLADDR 12</a:t>
            </a:r>
          </a:p>
        </p:txBody>
      </p:sp>
      <p:grpSp>
        <p:nvGrpSpPr>
          <p:cNvPr id="3" name="Group 2">
            <a:extLst>
              <a:ext uri="{FF2B5EF4-FFF2-40B4-BE49-F238E27FC236}">
                <a16:creationId xmlns:a16="http://schemas.microsoft.com/office/drawing/2014/main" id="{966224CD-9441-4F9F-BFE4-70E2C4FF99F8}"/>
              </a:ext>
            </a:extLst>
          </p:cNvPr>
          <p:cNvGrpSpPr/>
          <p:nvPr/>
        </p:nvGrpSpPr>
        <p:grpSpPr>
          <a:xfrm>
            <a:off x="1676400" y="1981200"/>
            <a:ext cx="6019800" cy="4023360"/>
            <a:chOff x="1676400" y="1981200"/>
            <a:chExt cx="6019800" cy="4023360"/>
          </a:xfrm>
        </p:grpSpPr>
        <p:grpSp>
          <p:nvGrpSpPr>
            <p:cNvPr id="32" name="Group 31">
              <a:extLst>
                <a:ext uri="{FF2B5EF4-FFF2-40B4-BE49-F238E27FC236}">
                  <a16:creationId xmlns:a16="http://schemas.microsoft.com/office/drawing/2014/main" id="{3D73FDED-2AAC-479E-9D0A-087D3026B667}"/>
                </a:ext>
              </a:extLst>
            </p:cNvPr>
            <p:cNvGrpSpPr/>
            <p:nvPr/>
          </p:nvGrpSpPr>
          <p:grpSpPr>
            <a:xfrm>
              <a:off x="1676400" y="1981200"/>
              <a:ext cx="4419600" cy="4023360"/>
              <a:chOff x="1676400" y="1981200"/>
              <a:chExt cx="4419600" cy="4023360"/>
            </a:xfrm>
          </p:grpSpPr>
          <p:sp>
            <p:nvSpPr>
              <p:cNvPr id="33" name="Rectangle 4">
                <a:extLst>
                  <a:ext uri="{FF2B5EF4-FFF2-40B4-BE49-F238E27FC236}">
                    <a16:creationId xmlns:a16="http://schemas.microsoft.com/office/drawing/2014/main" id="{9734FCA5-2126-4E33-BD5F-3D75CB16C82E}"/>
                  </a:ext>
                </a:extLst>
              </p:cNvPr>
              <p:cNvSpPr>
                <a:spLocks noChangeArrowheads="1"/>
              </p:cNvSpPr>
              <p:nvPr/>
            </p:nvSpPr>
            <p:spPr bwMode="auto">
              <a:xfrm>
                <a:off x="3427027" y="1981200"/>
                <a:ext cx="2286000" cy="4023360"/>
              </a:xfrm>
              <a:prstGeom prst="rect">
                <a:avLst/>
              </a:prstGeom>
              <a:pattFill prst="pct5">
                <a:fgClr>
                  <a:schemeClr val="tx1"/>
                </a:fgClr>
                <a:bgClr>
                  <a:schemeClr val="bg1"/>
                </a:bgClr>
              </a:pattFill>
              <a:ln w="9525">
                <a:solidFill>
                  <a:schemeClr val="tx1"/>
                </a:solidFill>
                <a:miter lim="800000"/>
                <a:headEnd/>
                <a:tailEnd/>
              </a:ln>
            </p:spPr>
            <p:txBody>
              <a:bodyPr wrap="none" lIns="92075" tIns="46038" rIns="92075" bIns="46038" anchor="ctr"/>
              <a:lstStyle/>
              <a:p>
                <a:endParaRPr lang="en-US" dirty="0"/>
              </a:p>
            </p:txBody>
          </p:sp>
          <p:sp>
            <p:nvSpPr>
              <p:cNvPr id="34" name="TextBox 33">
                <a:extLst>
                  <a:ext uri="{FF2B5EF4-FFF2-40B4-BE49-F238E27FC236}">
                    <a16:creationId xmlns:a16="http://schemas.microsoft.com/office/drawing/2014/main" id="{CB2C7CF1-55C1-4B13-B369-00B267B4844C}"/>
                  </a:ext>
                </a:extLst>
              </p:cNvPr>
              <p:cNvSpPr txBox="1"/>
              <p:nvPr/>
            </p:nvSpPr>
            <p:spPr>
              <a:xfrm>
                <a:off x="3427027" y="1981200"/>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dynamic link</a:t>
                </a:r>
              </a:p>
            </p:txBody>
          </p:sp>
          <p:sp>
            <p:nvSpPr>
              <p:cNvPr id="35" name="TextBox 34">
                <a:extLst>
                  <a:ext uri="{FF2B5EF4-FFF2-40B4-BE49-F238E27FC236}">
                    <a16:creationId xmlns:a16="http://schemas.microsoft.com/office/drawing/2014/main" id="{EA4EDA44-AF9A-4E98-8CC9-43BFBF389C0F}"/>
                  </a:ext>
                </a:extLst>
              </p:cNvPr>
              <p:cNvSpPr txBox="1"/>
              <p:nvPr/>
            </p:nvSpPr>
            <p:spPr>
              <a:xfrm>
                <a:off x="3427027" y="2351884"/>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return address</a:t>
                </a:r>
              </a:p>
            </p:txBody>
          </p:sp>
          <p:sp>
            <p:nvSpPr>
              <p:cNvPr id="36" name="TextBox 35">
                <a:extLst>
                  <a:ext uri="{FF2B5EF4-FFF2-40B4-BE49-F238E27FC236}">
                    <a16:creationId xmlns:a16="http://schemas.microsoft.com/office/drawing/2014/main" id="{4CF01FEF-624D-4A93-985F-3AD6BF4EF327}"/>
                  </a:ext>
                </a:extLst>
              </p:cNvPr>
              <p:cNvSpPr txBox="1"/>
              <p:nvPr/>
            </p:nvSpPr>
            <p:spPr>
              <a:xfrm>
                <a:off x="3427027" y="2722567"/>
                <a:ext cx="2286000" cy="369332"/>
              </a:xfrm>
              <a:prstGeom prst="rect">
                <a:avLst/>
              </a:prstGeom>
              <a:solidFill>
                <a:schemeClr val="bg1"/>
              </a:solidFill>
              <a:ln>
                <a:solidFill>
                  <a:schemeClr val="tx1"/>
                </a:solidFill>
              </a:ln>
            </p:spPr>
            <p:txBody>
              <a:bodyPr wrap="none" rtlCol="0">
                <a:noAutofit/>
              </a:bodyPr>
              <a:lstStyle/>
              <a:p>
                <a:pPr marL="91440" algn="l"/>
                <a:endParaRPr lang="en-US" sz="1800" dirty="0"/>
              </a:p>
            </p:txBody>
          </p:sp>
          <p:sp>
            <p:nvSpPr>
              <p:cNvPr id="37" name="TextBox 36">
                <a:extLst>
                  <a:ext uri="{FF2B5EF4-FFF2-40B4-BE49-F238E27FC236}">
                    <a16:creationId xmlns:a16="http://schemas.microsoft.com/office/drawing/2014/main" id="{489513C9-C9CF-4163-A2F7-C40E9B1EAE78}"/>
                  </a:ext>
                </a:extLst>
              </p:cNvPr>
              <p:cNvSpPr txBox="1"/>
              <p:nvPr/>
            </p:nvSpPr>
            <p:spPr>
              <a:xfrm>
                <a:off x="2819400" y="1986915"/>
                <a:ext cx="569388" cy="369332"/>
              </a:xfrm>
              <a:prstGeom prst="rect">
                <a:avLst/>
              </a:prstGeom>
              <a:noFill/>
            </p:spPr>
            <p:txBody>
              <a:bodyPr wrap="none" rtlCol="0">
                <a:spAutoFit/>
              </a:bodyPr>
              <a:lstStyle/>
              <a:p>
                <a:r>
                  <a:rPr lang="en-US" sz="1800" dirty="0"/>
                  <a:t>200</a:t>
                </a:r>
              </a:p>
            </p:txBody>
          </p:sp>
          <p:sp>
            <p:nvSpPr>
              <p:cNvPr id="38" name="TextBox 37">
                <a:extLst>
                  <a:ext uri="{FF2B5EF4-FFF2-40B4-BE49-F238E27FC236}">
                    <a16:creationId xmlns:a16="http://schemas.microsoft.com/office/drawing/2014/main" id="{7570C130-FC7F-4F1B-A0BA-DA404F5AA220}"/>
                  </a:ext>
                </a:extLst>
              </p:cNvPr>
              <p:cNvSpPr txBox="1"/>
              <p:nvPr/>
            </p:nvSpPr>
            <p:spPr>
              <a:xfrm>
                <a:off x="2819401" y="2351998"/>
                <a:ext cx="569387" cy="369332"/>
              </a:xfrm>
              <a:prstGeom prst="rect">
                <a:avLst/>
              </a:prstGeom>
              <a:noFill/>
            </p:spPr>
            <p:txBody>
              <a:bodyPr wrap="none" rtlCol="0">
                <a:spAutoFit/>
              </a:bodyPr>
              <a:lstStyle/>
              <a:p>
                <a:r>
                  <a:rPr lang="en-US" sz="1800" dirty="0"/>
                  <a:t>204</a:t>
                </a:r>
              </a:p>
            </p:txBody>
          </p:sp>
          <p:sp>
            <p:nvSpPr>
              <p:cNvPr id="39" name="TextBox 38">
                <a:extLst>
                  <a:ext uri="{FF2B5EF4-FFF2-40B4-BE49-F238E27FC236}">
                    <a16:creationId xmlns:a16="http://schemas.microsoft.com/office/drawing/2014/main" id="{E493A371-7957-42E7-AB4E-D6435545AB2B}"/>
                  </a:ext>
                </a:extLst>
              </p:cNvPr>
              <p:cNvSpPr txBox="1"/>
              <p:nvPr/>
            </p:nvSpPr>
            <p:spPr>
              <a:xfrm>
                <a:off x="2819400" y="2717081"/>
                <a:ext cx="569388" cy="369332"/>
              </a:xfrm>
              <a:prstGeom prst="rect">
                <a:avLst/>
              </a:prstGeom>
              <a:noFill/>
            </p:spPr>
            <p:txBody>
              <a:bodyPr wrap="none" rtlCol="0">
                <a:spAutoFit/>
              </a:bodyPr>
              <a:lstStyle/>
              <a:p>
                <a:r>
                  <a:rPr lang="en-US" sz="1800" dirty="0"/>
                  <a:t>208</a:t>
                </a:r>
              </a:p>
            </p:txBody>
          </p:sp>
          <p:sp>
            <p:nvSpPr>
              <p:cNvPr id="40" name="TextBox 39">
                <a:extLst>
                  <a:ext uri="{FF2B5EF4-FFF2-40B4-BE49-F238E27FC236}">
                    <a16:creationId xmlns:a16="http://schemas.microsoft.com/office/drawing/2014/main" id="{A975D09F-625F-413F-9A5B-CB0C46DA9B37}"/>
                  </a:ext>
                </a:extLst>
              </p:cNvPr>
              <p:cNvSpPr txBox="1"/>
              <p:nvPr/>
            </p:nvSpPr>
            <p:spPr>
              <a:xfrm>
                <a:off x="5791200" y="2710509"/>
                <a:ext cx="300083" cy="369332"/>
              </a:xfrm>
              <a:prstGeom prst="rect">
                <a:avLst/>
              </a:prstGeom>
              <a:noFill/>
            </p:spPr>
            <p:txBody>
              <a:bodyPr wrap="none" rtlCol="0">
                <a:spAutoFit/>
              </a:bodyPr>
              <a:lstStyle/>
              <a:p>
                <a:r>
                  <a:rPr lang="en-US" sz="1800" dirty="0"/>
                  <a:t>x</a:t>
                </a:r>
              </a:p>
            </p:txBody>
          </p:sp>
          <p:sp>
            <p:nvSpPr>
              <p:cNvPr id="41" name="TextBox 40">
                <a:extLst>
                  <a:ext uri="{FF2B5EF4-FFF2-40B4-BE49-F238E27FC236}">
                    <a16:creationId xmlns:a16="http://schemas.microsoft.com/office/drawing/2014/main" id="{D0B7108C-F73C-4625-8714-1DE0C5F7FCE4}"/>
                  </a:ext>
                </a:extLst>
              </p:cNvPr>
              <p:cNvSpPr txBox="1"/>
              <p:nvPr/>
            </p:nvSpPr>
            <p:spPr>
              <a:xfrm>
                <a:off x="5795918" y="3081440"/>
                <a:ext cx="300082" cy="369332"/>
              </a:xfrm>
              <a:prstGeom prst="rect">
                <a:avLst/>
              </a:prstGeom>
              <a:noFill/>
            </p:spPr>
            <p:txBody>
              <a:bodyPr wrap="none" rtlCol="0">
                <a:spAutoFit/>
              </a:bodyPr>
              <a:lstStyle/>
              <a:p>
                <a:r>
                  <a:rPr lang="en-US" sz="1800" dirty="0"/>
                  <a:t>y</a:t>
                </a:r>
              </a:p>
            </p:txBody>
          </p:sp>
          <p:sp>
            <p:nvSpPr>
              <p:cNvPr id="42" name="TextBox 41">
                <a:extLst>
                  <a:ext uri="{FF2B5EF4-FFF2-40B4-BE49-F238E27FC236}">
                    <a16:creationId xmlns:a16="http://schemas.microsoft.com/office/drawing/2014/main" id="{BAD2B814-7588-47DE-9F4D-8AFF77387127}"/>
                  </a:ext>
                </a:extLst>
              </p:cNvPr>
              <p:cNvSpPr txBox="1"/>
              <p:nvPr/>
            </p:nvSpPr>
            <p:spPr>
              <a:xfrm>
                <a:off x="1676400" y="1990627"/>
                <a:ext cx="492443" cy="369332"/>
              </a:xfrm>
              <a:prstGeom prst="rect">
                <a:avLst/>
              </a:prstGeom>
              <a:noFill/>
            </p:spPr>
            <p:txBody>
              <a:bodyPr wrap="none" rtlCol="0">
                <a:spAutoFit/>
              </a:bodyPr>
              <a:lstStyle/>
              <a:p>
                <a:r>
                  <a:rPr lang="en-US" sz="1800" dirty="0"/>
                  <a:t>BP</a:t>
                </a:r>
              </a:p>
            </p:txBody>
          </p:sp>
          <p:sp>
            <p:nvSpPr>
              <p:cNvPr id="43" name="TextBox 42">
                <a:extLst>
                  <a:ext uri="{FF2B5EF4-FFF2-40B4-BE49-F238E27FC236}">
                    <a16:creationId xmlns:a16="http://schemas.microsoft.com/office/drawing/2014/main" id="{99222172-4FDA-4096-AF9B-1C59C923FF4C}"/>
                  </a:ext>
                </a:extLst>
              </p:cNvPr>
              <p:cNvSpPr txBox="1"/>
              <p:nvPr/>
            </p:nvSpPr>
            <p:spPr>
              <a:xfrm>
                <a:off x="1676400" y="3812328"/>
                <a:ext cx="492443" cy="369332"/>
              </a:xfrm>
              <a:prstGeom prst="rect">
                <a:avLst/>
              </a:prstGeom>
              <a:noFill/>
            </p:spPr>
            <p:txBody>
              <a:bodyPr wrap="none" rtlCol="0">
                <a:spAutoFit/>
              </a:bodyPr>
              <a:lstStyle/>
              <a:p>
                <a:r>
                  <a:rPr lang="en-US" sz="1800" dirty="0"/>
                  <a:t>SP</a:t>
                </a:r>
              </a:p>
            </p:txBody>
          </p:sp>
          <p:cxnSp>
            <p:nvCxnSpPr>
              <p:cNvPr id="44" name="Straight Arrow Connector 43">
                <a:extLst>
                  <a:ext uri="{FF2B5EF4-FFF2-40B4-BE49-F238E27FC236}">
                    <a16:creationId xmlns:a16="http://schemas.microsoft.com/office/drawing/2014/main" id="{24B30C20-3604-4880-A3FE-A6BCFFF9CA75}"/>
                  </a:ext>
                </a:extLst>
              </p:cNvPr>
              <p:cNvCxnSpPr>
                <a:cxnSpLocks/>
                <a:stCxn id="42" idx="3"/>
                <a:endCxn id="37" idx="1"/>
              </p:cNvCxnSpPr>
              <p:nvPr/>
            </p:nvCxnSpPr>
            <p:spPr bwMode="auto">
              <a:xfrm flipV="1">
                <a:off x="2168843" y="2171581"/>
                <a:ext cx="650557" cy="3712"/>
              </a:xfrm>
              <a:prstGeom prst="straightConnector1">
                <a:avLst/>
              </a:prstGeom>
              <a:noFill/>
              <a:ln w="9525" cap="flat" cmpd="sng" algn="ctr">
                <a:solidFill>
                  <a:schemeClr val="tx1"/>
                </a:solidFill>
                <a:prstDash val="solid"/>
                <a:round/>
                <a:headEnd type="none" w="med" len="med"/>
                <a:tailEnd type="triangle"/>
              </a:ln>
              <a:effectLst/>
            </p:spPr>
          </p:cxnSp>
          <p:cxnSp>
            <p:nvCxnSpPr>
              <p:cNvPr id="45" name="Straight Arrow Connector 44">
                <a:extLst>
                  <a:ext uri="{FF2B5EF4-FFF2-40B4-BE49-F238E27FC236}">
                    <a16:creationId xmlns:a16="http://schemas.microsoft.com/office/drawing/2014/main" id="{591C90BD-53AB-40C2-9B34-0870FC0E7422}"/>
                  </a:ext>
                </a:extLst>
              </p:cNvPr>
              <p:cNvCxnSpPr>
                <a:cxnSpLocks/>
                <a:stCxn id="43" idx="3"/>
                <a:endCxn id="51" idx="1"/>
              </p:cNvCxnSpPr>
              <p:nvPr/>
            </p:nvCxnSpPr>
            <p:spPr bwMode="auto">
              <a:xfrm>
                <a:off x="2168843" y="3996994"/>
                <a:ext cx="650558" cy="0"/>
              </a:xfrm>
              <a:prstGeom prst="straightConnector1">
                <a:avLst/>
              </a:prstGeom>
              <a:noFill/>
              <a:ln w="9525" cap="flat" cmpd="sng" algn="ctr">
                <a:solidFill>
                  <a:schemeClr val="tx1"/>
                </a:solidFill>
                <a:prstDash val="solid"/>
                <a:round/>
                <a:headEnd type="none" w="med" len="med"/>
                <a:tailEnd type="triangle"/>
              </a:ln>
              <a:effectLst/>
            </p:spPr>
          </p:cxnSp>
          <p:sp>
            <p:nvSpPr>
              <p:cNvPr id="46" name="TextBox 45">
                <a:extLst>
                  <a:ext uri="{FF2B5EF4-FFF2-40B4-BE49-F238E27FC236}">
                    <a16:creationId xmlns:a16="http://schemas.microsoft.com/office/drawing/2014/main" id="{023801FC-2A12-49B9-9111-7723F6C12999}"/>
                  </a:ext>
                </a:extLst>
              </p:cNvPr>
              <p:cNvSpPr txBox="1"/>
              <p:nvPr/>
            </p:nvSpPr>
            <p:spPr>
              <a:xfrm>
                <a:off x="3427027" y="3091899"/>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6</a:t>
                </a:r>
              </a:p>
            </p:txBody>
          </p:sp>
          <p:sp>
            <p:nvSpPr>
              <p:cNvPr id="47" name="TextBox 46">
                <a:extLst>
                  <a:ext uri="{FF2B5EF4-FFF2-40B4-BE49-F238E27FC236}">
                    <a16:creationId xmlns:a16="http://schemas.microsoft.com/office/drawing/2014/main" id="{4BF3B0FC-882C-4350-A3D7-8BC983DE5AB6}"/>
                  </a:ext>
                </a:extLst>
              </p:cNvPr>
              <p:cNvSpPr txBox="1"/>
              <p:nvPr/>
            </p:nvSpPr>
            <p:spPr>
              <a:xfrm>
                <a:off x="2819401" y="3082164"/>
                <a:ext cx="569388" cy="369332"/>
              </a:xfrm>
              <a:prstGeom prst="rect">
                <a:avLst/>
              </a:prstGeom>
              <a:noFill/>
            </p:spPr>
            <p:txBody>
              <a:bodyPr wrap="none" rtlCol="0">
                <a:spAutoFit/>
              </a:bodyPr>
              <a:lstStyle/>
              <a:p>
                <a:r>
                  <a:rPr lang="en-US" sz="1800" dirty="0"/>
                  <a:t>212</a:t>
                </a:r>
              </a:p>
            </p:txBody>
          </p:sp>
          <p:sp>
            <p:nvSpPr>
              <p:cNvPr id="48" name="TextBox 47">
                <a:extLst>
                  <a:ext uri="{FF2B5EF4-FFF2-40B4-BE49-F238E27FC236}">
                    <a16:creationId xmlns:a16="http://schemas.microsoft.com/office/drawing/2014/main" id="{0C6CEF20-6FE5-490A-9C03-E4C0F7FF6514}"/>
                  </a:ext>
                </a:extLst>
              </p:cNvPr>
              <p:cNvSpPr txBox="1"/>
              <p:nvPr/>
            </p:nvSpPr>
            <p:spPr>
              <a:xfrm>
                <a:off x="3427027" y="3461231"/>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208 (address of x)</a:t>
                </a:r>
              </a:p>
            </p:txBody>
          </p:sp>
          <p:sp>
            <p:nvSpPr>
              <p:cNvPr id="49" name="TextBox 48">
                <a:extLst>
                  <a:ext uri="{FF2B5EF4-FFF2-40B4-BE49-F238E27FC236}">
                    <a16:creationId xmlns:a16="http://schemas.microsoft.com/office/drawing/2014/main" id="{854017EC-3327-4E8E-8325-64EB4FC6FCEA}"/>
                  </a:ext>
                </a:extLst>
              </p:cNvPr>
              <p:cNvSpPr txBox="1"/>
              <p:nvPr/>
            </p:nvSpPr>
            <p:spPr>
              <a:xfrm>
                <a:off x="2819400" y="3447247"/>
                <a:ext cx="569388" cy="369332"/>
              </a:xfrm>
              <a:prstGeom prst="rect">
                <a:avLst/>
              </a:prstGeom>
              <a:noFill/>
            </p:spPr>
            <p:txBody>
              <a:bodyPr wrap="none" rtlCol="0">
                <a:spAutoFit/>
              </a:bodyPr>
              <a:lstStyle/>
              <a:p>
                <a:r>
                  <a:rPr lang="en-US" sz="1800" dirty="0"/>
                  <a:t>216</a:t>
                </a:r>
              </a:p>
            </p:txBody>
          </p:sp>
          <p:sp>
            <p:nvSpPr>
              <p:cNvPr id="50" name="TextBox 49">
                <a:extLst>
                  <a:ext uri="{FF2B5EF4-FFF2-40B4-BE49-F238E27FC236}">
                    <a16:creationId xmlns:a16="http://schemas.microsoft.com/office/drawing/2014/main" id="{A9110F32-79BD-4D9F-ADC4-40851EB82020}"/>
                  </a:ext>
                </a:extLst>
              </p:cNvPr>
              <p:cNvSpPr txBox="1"/>
              <p:nvPr/>
            </p:nvSpPr>
            <p:spPr>
              <a:xfrm>
                <a:off x="3427027" y="3808791"/>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212 (address of y)</a:t>
                </a:r>
              </a:p>
            </p:txBody>
          </p:sp>
          <p:sp>
            <p:nvSpPr>
              <p:cNvPr id="51" name="TextBox 50">
                <a:extLst>
                  <a:ext uri="{FF2B5EF4-FFF2-40B4-BE49-F238E27FC236}">
                    <a16:creationId xmlns:a16="http://schemas.microsoft.com/office/drawing/2014/main" id="{EE10E1B1-F058-4FA2-918D-091D276AA285}"/>
                  </a:ext>
                </a:extLst>
              </p:cNvPr>
              <p:cNvSpPr txBox="1"/>
              <p:nvPr/>
            </p:nvSpPr>
            <p:spPr>
              <a:xfrm>
                <a:off x="2819401" y="3812328"/>
                <a:ext cx="569388" cy="369332"/>
              </a:xfrm>
              <a:prstGeom prst="rect">
                <a:avLst/>
              </a:prstGeom>
              <a:noFill/>
            </p:spPr>
            <p:txBody>
              <a:bodyPr wrap="none" rtlCol="0">
                <a:spAutoFit/>
              </a:bodyPr>
              <a:lstStyle/>
              <a:p>
                <a:r>
                  <a:rPr lang="en-US" sz="1800" dirty="0"/>
                  <a:t>220</a:t>
                </a:r>
              </a:p>
            </p:txBody>
          </p:sp>
        </p:grpSp>
        <p:sp>
          <p:nvSpPr>
            <p:cNvPr id="26" name="Right Brace 25">
              <a:extLst>
                <a:ext uri="{FF2B5EF4-FFF2-40B4-BE49-F238E27FC236}">
                  <a16:creationId xmlns:a16="http://schemas.microsoft.com/office/drawing/2014/main" id="{8D529EC4-4C5B-4737-9EC3-CB01DA84A8E7}"/>
                </a:ext>
              </a:extLst>
            </p:cNvPr>
            <p:cNvSpPr/>
            <p:nvPr/>
          </p:nvSpPr>
          <p:spPr bwMode="auto">
            <a:xfrm>
              <a:off x="5867400" y="3472231"/>
              <a:ext cx="152400" cy="73152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8" name="TextBox 27">
              <a:extLst>
                <a:ext uri="{FF2B5EF4-FFF2-40B4-BE49-F238E27FC236}">
                  <a16:creationId xmlns:a16="http://schemas.microsoft.com/office/drawing/2014/main" id="{FB5593B5-6F10-4AB6-B89C-54AA6EDDD9F4}"/>
                </a:ext>
              </a:extLst>
            </p:cNvPr>
            <p:cNvSpPr txBox="1"/>
            <p:nvPr/>
          </p:nvSpPr>
          <p:spPr>
            <a:xfrm>
              <a:off x="6011123" y="3653325"/>
              <a:ext cx="1685077" cy="369332"/>
            </a:xfrm>
            <a:prstGeom prst="rect">
              <a:avLst/>
            </a:prstGeom>
            <a:noFill/>
          </p:spPr>
          <p:txBody>
            <a:bodyPr wrap="none" rtlCol="0">
              <a:spAutoFit/>
            </a:bodyPr>
            <a:lstStyle/>
            <a:p>
              <a:r>
                <a:rPr lang="en-US" sz="1800" dirty="0"/>
                <a:t>temporary part</a:t>
              </a:r>
            </a:p>
          </p:txBody>
        </p:sp>
      </p:grpSp>
    </p:spTree>
    <p:extLst>
      <p:ext uri="{BB962C8B-B14F-4D97-AF65-F5344CB8AC3E}">
        <p14:creationId xmlns:p14="http://schemas.microsoft.com/office/powerpoint/2010/main" val="38472666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A879-EF42-4A2F-A284-843555707706}"/>
              </a:ext>
            </a:extLst>
          </p:cNvPr>
          <p:cNvSpPr>
            <a:spLocks noGrp="1"/>
          </p:cNvSpPr>
          <p:nvPr>
            <p:ph type="title"/>
          </p:nvPr>
        </p:nvSpPr>
        <p:spPr>
          <a:xfrm>
            <a:off x="822960" y="138113"/>
            <a:ext cx="7498080" cy="1004887"/>
          </a:xfrm>
        </p:spPr>
        <p:txBody>
          <a:bodyPr/>
          <a:lstStyle/>
          <a:p>
            <a:r>
              <a:rPr lang="en-US" sz="2600" dirty="0"/>
              <a:t>Example: Temporary Part of an Activation Record</a:t>
            </a:r>
            <a:br>
              <a:rPr lang="en-US" sz="2600" dirty="0"/>
            </a:br>
            <a:r>
              <a:rPr lang="en-US" sz="2400" dirty="0"/>
              <a:t>(continued)</a:t>
            </a:r>
          </a:p>
        </p:txBody>
      </p:sp>
      <p:sp>
        <p:nvSpPr>
          <p:cNvPr id="4" name="Footer Placeholder 3">
            <a:extLst>
              <a:ext uri="{FF2B5EF4-FFF2-40B4-BE49-F238E27FC236}">
                <a16:creationId xmlns:a16="http://schemas.microsoft.com/office/drawing/2014/main" id="{E7CB5EBB-27EC-41A7-BA4B-43CECFD80695}"/>
              </a:ext>
            </a:extLst>
          </p:cNvPr>
          <p:cNvSpPr>
            <a:spLocks noGrp="1"/>
          </p:cNvSpPr>
          <p:nvPr>
            <p:ph type="ftr" sz="quarter" idx="10"/>
          </p:nvPr>
        </p:nvSpPr>
        <p:spPr/>
        <p:txBody>
          <a:bodyPr/>
          <a:lstStyle/>
          <a:p>
            <a:pPr>
              <a:defRPr/>
            </a:pPr>
            <a:r>
              <a:rPr lang="en-US" dirty="0"/>
              <a:t>©SoftMoore Consulting</a:t>
            </a:r>
          </a:p>
        </p:txBody>
      </p:sp>
      <p:sp>
        <p:nvSpPr>
          <p:cNvPr id="5" name="Slide Number Placeholder 4">
            <a:extLst>
              <a:ext uri="{FF2B5EF4-FFF2-40B4-BE49-F238E27FC236}">
                <a16:creationId xmlns:a16="http://schemas.microsoft.com/office/drawing/2014/main" id="{71627D31-7CA1-4429-AA80-9A76187B8557}"/>
              </a:ext>
            </a:extLst>
          </p:cNvPr>
          <p:cNvSpPr>
            <a:spLocks noGrp="1"/>
          </p:cNvSpPr>
          <p:nvPr>
            <p:ph type="sldNum" sz="quarter" idx="11"/>
          </p:nvPr>
        </p:nvSpPr>
        <p:spPr/>
        <p:txBody>
          <a:bodyPr/>
          <a:lstStyle/>
          <a:p>
            <a:pPr>
              <a:defRPr/>
            </a:pPr>
            <a:r>
              <a:rPr lang="en-US" dirty="0"/>
              <a:t>Slide </a:t>
            </a:r>
            <a:fld id="{63AEAFB5-AC10-4A77-9869-4B293AAAFFF3}" type="slidenum">
              <a:rPr lang="en-US" smtClean="0"/>
              <a:pPr>
                <a:defRPr/>
              </a:pPr>
              <a:t>32</a:t>
            </a:fld>
            <a:endParaRPr lang="en-US" dirty="0"/>
          </a:p>
        </p:txBody>
      </p:sp>
      <p:sp>
        <p:nvSpPr>
          <p:cNvPr id="27" name="TextBox 26">
            <a:extLst>
              <a:ext uri="{FF2B5EF4-FFF2-40B4-BE49-F238E27FC236}">
                <a16:creationId xmlns:a16="http://schemas.microsoft.com/office/drawing/2014/main" id="{9CF3ED0A-3723-4A15-AD95-6864688DE62A}"/>
              </a:ext>
            </a:extLst>
          </p:cNvPr>
          <p:cNvSpPr txBox="1"/>
          <p:nvPr/>
        </p:nvSpPr>
        <p:spPr>
          <a:xfrm>
            <a:off x="822960" y="1345896"/>
            <a:ext cx="3514104" cy="461665"/>
          </a:xfrm>
          <a:prstGeom prst="rect">
            <a:avLst/>
          </a:prstGeom>
          <a:noFill/>
        </p:spPr>
        <p:txBody>
          <a:bodyPr wrap="none" rtlCol="0">
            <a:spAutoFit/>
          </a:bodyPr>
          <a:lstStyle/>
          <a:p>
            <a:r>
              <a:rPr lang="en-US" dirty="0"/>
              <a:t>After execution of </a:t>
            </a:r>
            <a:r>
              <a:rPr lang="en-US" sz="2300" dirty="0">
                <a:latin typeface="Consolas" panose="020B0609020204030204" pitchFamily="49" charset="0"/>
              </a:rPr>
              <a:t>LOADW</a:t>
            </a:r>
          </a:p>
        </p:txBody>
      </p:sp>
      <p:grpSp>
        <p:nvGrpSpPr>
          <p:cNvPr id="7" name="Group 6">
            <a:extLst>
              <a:ext uri="{FF2B5EF4-FFF2-40B4-BE49-F238E27FC236}">
                <a16:creationId xmlns:a16="http://schemas.microsoft.com/office/drawing/2014/main" id="{B0F559EF-C36A-4E2F-8339-57602F3D67AC}"/>
              </a:ext>
            </a:extLst>
          </p:cNvPr>
          <p:cNvGrpSpPr/>
          <p:nvPr/>
        </p:nvGrpSpPr>
        <p:grpSpPr>
          <a:xfrm>
            <a:off x="1676400" y="1981200"/>
            <a:ext cx="6019800" cy="4023360"/>
            <a:chOff x="1676400" y="1981200"/>
            <a:chExt cx="6019800" cy="4023360"/>
          </a:xfrm>
        </p:grpSpPr>
        <p:grpSp>
          <p:nvGrpSpPr>
            <p:cNvPr id="3" name="Group 2">
              <a:extLst>
                <a:ext uri="{FF2B5EF4-FFF2-40B4-BE49-F238E27FC236}">
                  <a16:creationId xmlns:a16="http://schemas.microsoft.com/office/drawing/2014/main" id="{06A02AFA-FFA4-4763-B0E7-0BA6350CC4EE}"/>
                </a:ext>
              </a:extLst>
            </p:cNvPr>
            <p:cNvGrpSpPr/>
            <p:nvPr/>
          </p:nvGrpSpPr>
          <p:grpSpPr>
            <a:xfrm>
              <a:off x="1676400" y="1981200"/>
              <a:ext cx="4419600" cy="4023360"/>
              <a:chOff x="1676400" y="1981200"/>
              <a:chExt cx="4419600" cy="4023360"/>
            </a:xfrm>
          </p:grpSpPr>
          <p:sp>
            <p:nvSpPr>
              <p:cNvPr id="63" name="Rectangle 4">
                <a:extLst>
                  <a:ext uri="{FF2B5EF4-FFF2-40B4-BE49-F238E27FC236}">
                    <a16:creationId xmlns:a16="http://schemas.microsoft.com/office/drawing/2014/main" id="{B5AB0F95-612B-447E-BC0F-F952B486D878}"/>
                  </a:ext>
                </a:extLst>
              </p:cNvPr>
              <p:cNvSpPr>
                <a:spLocks noChangeArrowheads="1"/>
              </p:cNvSpPr>
              <p:nvPr/>
            </p:nvSpPr>
            <p:spPr bwMode="auto">
              <a:xfrm>
                <a:off x="3427027" y="1981200"/>
                <a:ext cx="2286000" cy="4023360"/>
              </a:xfrm>
              <a:prstGeom prst="rect">
                <a:avLst/>
              </a:prstGeom>
              <a:pattFill prst="pct5">
                <a:fgClr>
                  <a:schemeClr val="tx1"/>
                </a:fgClr>
                <a:bgClr>
                  <a:schemeClr val="bg1"/>
                </a:bgClr>
              </a:pattFill>
              <a:ln w="9525">
                <a:solidFill>
                  <a:schemeClr val="tx1"/>
                </a:solidFill>
                <a:miter lim="800000"/>
                <a:headEnd/>
                <a:tailEnd/>
              </a:ln>
            </p:spPr>
            <p:txBody>
              <a:bodyPr wrap="none" lIns="92075" tIns="46038" rIns="92075" bIns="46038" anchor="ctr"/>
              <a:lstStyle/>
              <a:p>
                <a:endParaRPr lang="en-US" dirty="0"/>
              </a:p>
            </p:txBody>
          </p:sp>
          <p:sp>
            <p:nvSpPr>
              <p:cNvPr id="68" name="TextBox 67">
                <a:extLst>
                  <a:ext uri="{FF2B5EF4-FFF2-40B4-BE49-F238E27FC236}">
                    <a16:creationId xmlns:a16="http://schemas.microsoft.com/office/drawing/2014/main" id="{28BA86A7-17E6-414B-8B9D-E2CC84A29DC9}"/>
                  </a:ext>
                </a:extLst>
              </p:cNvPr>
              <p:cNvSpPr txBox="1"/>
              <p:nvPr/>
            </p:nvSpPr>
            <p:spPr>
              <a:xfrm>
                <a:off x="3427027" y="1981200"/>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dynamic link</a:t>
                </a:r>
              </a:p>
            </p:txBody>
          </p:sp>
          <p:sp>
            <p:nvSpPr>
              <p:cNvPr id="69" name="TextBox 68">
                <a:extLst>
                  <a:ext uri="{FF2B5EF4-FFF2-40B4-BE49-F238E27FC236}">
                    <a16:creationId xmlns:a16="http://schemas.microsoft.com/office/drawing/2014/main" id="{E2D64B75-6D6C-4DA6-A677-6C13279C8E15}"/>
                  </a:ext>
                </a:extLst>
              </p:cNvPr>
              <p:cNvSpPr txBox="1"/>
              <p:nvPr/>
            </p:nvSpPr>
            <p:spPr>
              <a:xfrm>
                <a:off x="3427027" y="2351884"/>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return address</a:t>
                </a:r>
              </a:p>
            </p:txBody>
          </p:sp>
          <p:sp>
            <p:nvSpPr>
              <p:cNvPr id="70" name="TextBox 69">
                <a:extLst>
                  <a:ext uri="{FF2B5EF4-FFF2-40B4-BE49-F238E27FC236}">
                    <a16:creationId xmlns:a16="http://schemas.microsoft.com/office/drawing/2014/main" id="{F2F7C5DF-6D2D-4543-B6E0-B18D4217F52E}"/>
                  </a:ext>
                </a:extLst>
              </p:cNvPr>
              <p:cNvSpPr txBox="1"/>
              <p:nvPr/>
            </p:nvSpPr>
            <p:spPr>
              <a:xfrm>
                <a:off x="3427027" y="2722567"/>
                <a:ext cx="2286000" cy="369332"/>
              </a:xfrm>
              <a:prstGeom prst="rect">
                <a:avLst/>
              </a:prstGeom>
              <a:solidFill>
                <a:schemeClr val="bg1"/>
              </a:solidFill>
              <a:ln>
                <a:solidFill>
                  <a:schemeClr val="tx1"/>
                </a:solidFill>
              </a:ln>
            </p:spPr>
            <p:txBody>
              <a:bodyPr wrap="none" rtlCol="0">
                <a:noAutofit/>
              </a:bodyPr>
              <a:lstStyle/>
              <a:p>
                <a:pPr marL="91440" algn="l"/>
                <a:endParaRPr lang="en-US" sz="1800" dirty="0"/>
              </a:p>
            </p:txBody>
          </p:sp>
          <p:sp>
            <p:nvSpPr>
              <p:cNvPr id="72" name="TextBox 71">
                <a:extLst>
                  <a:ext uri="{FF2B5EF4-FFF2-40B4-BE49-F238E27FC236}">
                    <a16:creationId xmlns:a16="http://schemas.microsoft.com/office/drawing/2014/main" id="{9599E4DD-7C5B-475F-806B-F0058F4ECE0F}"/>
                  </a:ext>
                </a:extLst>
              </p:cNvPr>
              <p:cNvSpPr txBox="1"/>
              <p:nvPr/>
            </p:nvSpPr>
            <p:spPr>
              <a:xfrm>
                <a:off x="2819400" y="1986915"/>
                <a:ext cx="569388" cy="369332"/>
              </a:xfrm>
              <a:prstGeom prst="rect">
                <a:avLst/>
              </a:prstGeom>
              <a:noFill/>
            </p:spPr>
            <p:txBody>
              <a:bodyPr wrap="none" rtlCol="0">
                <a:spAutoFit/>
              </a:bodyPr>
              <a:lstStyle/>
              <a:p>
                <a:r>
                  <a:rPr lang="en-US" sz="1800" dirty="0"/>
                  <a:t>200</a:t>
                </a:r>
              </a:p>
            </p:txBody>
          </p:sp>
          <p:sp>
            <p:nvSpPr>
              <p:cNvPr id="73" name="TextBox 72">
                <a:extLst>
                  <a:ext uri="{FF2B5EF4-FFF2-40B4-BE49-F238E27FC236}">
                    <a16:creationId xmlns:a16="http://schemas.microsoft.com/office/drawing/2014/main" id="{7D5F371E-A21E-4C6E-A0B0-A42812DA92BB}"/>
                  </a:ext>
                </a:extLst>
              </p:cNvPr>
              <p:cNvSpPr txBox="1"/>
              <p:nvPr/>
            </p:nvSpPr>
            <p:spPr>
              <a:xfrm>
                <a:off x="2819401" y="2351998"/>
                <a:ext cx="569387" cy="369332"/>
              </a:xfrm>
              <a:prstGeom prst="rect">
                <a:avLst/>
              </a:prstGeom>
              <a:noFill/>
            </p:spPr>
            <p:txBody>
              <a:bodyPr wrap="none" rtlCol="0">
                <a:spAutoFit/>
              </a:bodyPr>
              <a:lstStyle/>
              <a:p>
                <a:r>
                  <a:rPr lang="en-US" sz="1800" dirty="0"/>
                  <a:t>204</a:t>
                </a:r>
              </a:p>
            </p:txBody>
          </p:sp>
          <p:sp>
            <p:nvSpPr>
              <p:cNvPr id="74" name="TextBox 73">
                <a:extLst>
                  <a:ext uri="{FF2B5EF4-FFF2-40B4-BE49-F238E27FC236}">
                    <a16:creationId xmlns:a16="http://schemas.microsoft.com/office/drawing/2014/main" id="{314D2A39-5609-4923-AA08-AB9FB75E8DD8}"/>
                  </a:ext>
                </a:extLst>
              </p:cNvPr>
              <p:cNvSpPr txBox="1"/>
              <p:nvPr/>
            </p:nvSpPr>
            <p:spPr>
              <a:xfrm>
                <a:off x="2819400" y="2717081"/>
                <a:ext cx="569388" cy="369332"/>
              </a:xfrm>
              <a:prstGeom prst="rect">
                <a:avLst/>
              </a:prstGeom>
              <a:noFill/>
            </p:spPr>
            <p:txBody>
              <a:bodyPr wrap="none" rtlCol="0">
                <a:spAutoFit/>
              </a:bodyPr>
              <a:lstStyle/>
              <a:p>
                <a:r>
                  <a:rPr lang="en-US" sz="1800" dirty="0"/>
                  <a:t>208</a:t>
                </a:r>
              </a:p>
            </p:txBody>
          </p:sp>
          <p:sp>
            <p:nvSpPr>
              <p:cNvPr id="76" name="TextBox 75">
                <a:extLst>
                  <a:ext uri="{FF2B5EF4-FFF2-40B4-BE49-F238E27FC236}">
                    <a16:creationId xmlns:a16="http://schemas.microsoft.com/office/drawing/2014/main" id="{03FC58D0-0DFB-41BF-B004-B8A24DF19F40}"/>
                  </a:ext>
                </a:extLst>
              </p:cNvPr>
              <p:cNvSpPr txBox="1"/>
              <p:nvPr/>
            </p:nvSpPr>
            <p:spPr>
              <a:xfrm>
                <a:off x="5791200" y="2710509"/>
                <a:ext cx="300083" cy="369332"/>
              </a:xfrm>
              <a:prstGeom prst="rect">
                <a:avLst/>
              </a:prstGeom>
              <a:noFill/>
            </p:spPr>
            <p:txBody>
              <a:bodyPr wrap="none" rtlCol="0">
                <a:spAutoFit/>
              </a:bodyPr>
              <a:lstStyle/>
              <a:p>
                <a:r>
                  <a:rPr lang="en-US" sz="1800" dirty="0"/>
                  <a:t>x</a:t>
                </a:r>
              </a:p>
            </p:txBody>
          </p:sp>
          <p:sp>
            <p:nvSpPr>
              <p:cNvPr id="77" name="TextBox 76">
                <a:extLst>
                  <a:ext uri="{FF2B5EF4-FFF2-40B4-BE49-F238E27FC236}">
                    <a16:creationId xmlns:a16="http://schemas.microsoft.com/office/drawing/2014/main" id="{62061F1D-676D-43D4-B9CA-DB52FB119596}"/>
                  </a:ext>
                </a:extLst>
              </p:cNvPr>
              <p:cNvSpPr txBox="1"/>
              <p:nvPr/>
            </p:nvSpPr>
            <p:spPr>
              <a:xfrm>
                <a:off x="5795918" y="3081440"/>
                <a:ext cx="300082" cy="369332"/>
              </a:xfrm>
              <a:prstGeom prst="rect">
                <a:avLst/>
              </a:prstGeom>
              <a:noFill/>
            </p:spPr>
            <p:txBody>
              <a:bodyPr wrap="none" rtlCol="0">
                <a:spAutoFit/>
              </a:bodyPr>
              <a:lstStyle/>
              <a:p>
                <a:r>
                  <a:rPr lang="en-US" sz="1800" dirty="0"/>
                  <a:t>y</a:t>
                </a:r>
              </a:p>
            </p:txBody>
          </p:sp>
          <p:sp>
            <p:nvSpPr>
              <p:cNvPr id="21" name="TextBox 20">
                <a:extLst>
                  <a:ext uri="{FF2B5EF4-FFF2-40B4-BE49-F238E27FC236}">
                    <a16:creationId xmlns:a16="http://schemas.microsoft.com/office/drawing/2014/main" id="{AB841B8B-8949-425B-86CF-937F49018DBE}"/>
                  </a:ext>
                </a:extLst>
              </p:cNvPr>
              <p:cNvSpPr txBox="1"/>
              <p:nvPr/>
            </p:nvSpPr>
            <p:spPr>
              <a:xfrm>
                <a:off x="1676400" y="1990627"/>
                <a:ext cx="492443" cy="369332"/>
              </a:xfrm>
              <a:prstGeom prst="rect">
                <a:avLst/>
              </a:prstGeom>
              <a:noFill/>
            </p:spPr>
            <p:txBody>
              <a:bodyPr wrap="none" rtlCol="0">
                <a:spAutoFit/>
              </a:bodyPr>
              <a:lstStyle/>
              <a:p>
                <a:r>
                  <a:rPr lang="en-US" sz="1800" dirty="0"/>
                  <a:t>BP</a:t>
                </a:r>
              </a:p>
            </p:txBody>
          </p:sp>
          <p:sp>
            <p:nvSpPr>
              <p:cNvPr id="22" name="TextBox 21">
                <a:extLst>
                  <a:ext uri="{FF2B5EF4-FFF2-40B4-BE49-F238E27FC236}">
                    <a16:creationId xmlns:a16="http://schemas.microsoft.com/office/drawing/2014/main" id="{5C971F6B-A50E-44FF-8236-6A6813B34770}"/>
                  </a:ext>
                </a:extLst>
              </p:cNvPr>
              <p:cNvSpPr txBox="1"/>
              <p:nvPr/>
            </p:nvSpPr>
            <p:spPr>
              <a:xfrm>
                <a:off x="1676400" y="3812328"/>
                <a:ext cx="492443" cy="369332"/>
              </a:xfrm>
              <a:prstGeom prst="rect">
                <a:avLst/>
              </a:prstGeom>
              <a:noFill/>
            </p:spPr>
            <p:txBody>
              <a:bodyPr wrap="none" rtlCol="0">
                <a:spAutoFit/>
              </a:bodyPr>
              <a:lstStyle/>
              <a:p>
                <a:r>
                  <a:rPr lang="en-US" sz="1800" dirty="0"/>
                  <a:t>SP</a:t>
                </a:r>
              </a:p>
            </p:txBody>
          </p:sp>
          <p:cxnSp>
            <p:nvCxnSpPr>
              <p:cNvPr id="6" name="Straight Arrow Connector 5">
                <a:extLst>
                  <a:ext uri="{FF2B5EF4-FFF2-40B4-BE49-F238E27FC236}">
                    <a16:creationId xmlns:a16="http://schemas.microsoft.com/office/drawing/2014/main" id="{0A106FBB-345C-44C4-9643-9EAD3CCD65A3}"/>
                  </a:ext>
                </a:extLst>
              </p:cNvPr>
              <p:cNvCxnSpPr>
                <a:cxnSpLocks/>
                <a:stCxn id="21" idx="3"/>
                <a:endCxn id="72" idx="1"/>
              </p:cNvCxnSpPr>
              <p:nvPr/>
            </p:nvCxnSpPr>
            <p:spPr bwMode="auto">
              <a:xfrm flipV="1">
                <a:off x="2168843" y="2171581"/>
                <a:ext cx="650557" cy="3712"/>
              </a:xfrm>
              <a:prstGeom prst="straightConnector1">
                <a:avLst/>
              </a:prstGeom>
              <a:noFill/>
              <a:ln w="9525" cap="flat" cmpd="sng" algn="ctr">
                <a:solidFill>
                  <a:schemeClr val="tx1"/>
                </a:solidFill>
                <a:prstDash val="solid"/>
                <a:round/>
                <a:headEnd type="none" w="med" len="med"/>
                <a:tailEnd type="triangle"/>
              </a:ln>
              <a:effectLst/>
            </p:spPr>
          </p:cxnSp>
          <p:cxnSp>
            <p:nvCxnSpPr>
              <p:cNvPr id="8" name="Straight Arrow Connector 7">
                <a:extLst>
                  <a:ext uri="{FF2B5EF4-FFF2-40B4-BE49-F238E27FC236}">
                    <a16:creationId xmlns:a16="http://schemas.microsoft.com/office/drawing/2014/main" id="{A9C85EE5-732F-429A-900E-1B7B21758369}"/>
                  </a:ext>
                </a:extLst>
              </p:cNvPr>
              <p:cNvCxnSpPr>
                <a:cxnSpLocks/>
                <a:stCxn id="22" idx="3"/>
                <a:endCxn id="24" idx="1"/>
              </p:cNvCxnSpPr>
              <p:nvPr/>
            </p:nvCxnSpPr>
            <p:spPr bwMode="auto">
              <a:xfrm>
                <a:off x="2168843" y="3996994"/>
                <a:ext cx="650558" cy="0"/>
              </a:xfrm>
              <a:prstGeom prst="straightConnector1">
                <a:avLst/>
              </a:prstGeom>
              <a:noFill/>
              <a:ln w="9525" cap="flat" cmpd="sng" algn="ctr">
                <a:solidFill>
                  <a:schemeClr val="tx1"/>
                </a:solidFill>
                <a:prstDash val="solid"/>
                <a:round/>
                <a:headEnd type="none" w="med" len="med"/>
                <a:tailEnd type="triangle"/>
              </a:ln>
              <a:effectLst/>
            </p:spPr>
          </p:cxnSp>
          <p:sp>
            <p:nvSpPr>
              <p:cNvPr id="28" name="TextBox 27">
                <a:extLst>
                  <a:ext uri="{FF2B5EF4-FFF2-40B4-BE49-F238E27FC236}">
                    <a16:creationId xmlns:a16="http://schemas.microsoft.com/office/drawing/2014/main" id="{19D5125A-908B-4812-91D8-0C630BA2F87E}"/>
                  </a:ext>
                </a:extLst>
              </p:cNvPr>
              <p:cNvSpPr txBox="1"/>
              <p:nvPr/>
            </p:nvSpPr>
            <p:spPr>
              <a:xfrm>
                <a:off x="3427027" y="3091899"/>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6</a:t>
                </a:r>
              </a:p>
            </p:txBody>
          </p:sp>
          <p:sp>
            <p:nvSpPr>
              <p:cNvPr id="29" name="TextBox 28">
                <a:extLst>
                  <a:ext uri="{FF2B5EF4-FFF2-40B4-BE49-F238E27FC236}">
                    <a16:creationId xmlns:a16="http://schemas.microsoft.com/office/drawing/2014/main" id="{5EEA69FA-6414-4647-BC93-6FD115E6F199}"/>
                  </a:ext>
                </a:extLst>
              </p:cNvPr>
              <p:cNvSpPr txBox="1"/>
              <p:nvPr/>
            </p:nvSpPr>
            <p:spPr>
              <a:xfrm>
                <a:off x="2819401" y="3082164"/>
                <a:ext cx="569388" cy="369332"/>
              </a:xfrm>
              <a:prstGeom prst="rect">
                <a:avLst/>
              </a:prstGeom>
              <a:noFill/>
            </p:spPr>
            <p:txBody>
              <a:bodyPr wrap="none" rtlCol="0">
                <a:spAutoFit/>
              </a:bodyPr>
              <a:lstStyle/>
              <a:p>
                <a:r>
                  <a:rPr lang="en-US" sz="1800" dirty="0"/>
                  <a:t>212</a:t>
                </a:r>
              </a:p>
            </p:txBody>
          </p:sp>
          <p:sp>
            <p:nvSpPr>
              <p:cNvPr id="30" name="TextBox 29">
                <a:extLst>
                  <a:ext uri="{FF2B5EF4-FFF2-40B4-BE49-F238E27FC236}">
                    <a16:creationId xmlns:a16="http://schemas.microsoft.com/office/drawing/2014/main" id="{D71C7B3F-2738-4421-AAD1-B7BA92B38C7F}"/>
                  </a:ext>
                </a:extLst>
              </p:cNvPr>
              <p:cNvSpPr txBox="1"/>
              <p:nvPr/>
            </p:nvSpPr>
            <p:spPr>
              <a:xfrm>
                <a:off x="3427027" y="3461231"/>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208 (address of x)</a:t>
                </a:r>
              </a:p>
            </p:txBody>
          </p:sp>
          <p:sp>
            <p:nvSpPr>
              <p:cNvPr id="31" name="TextBox 30">
                <a:extLst>
                  <a:ext uri="{FF2B5EF4-FFF2-40B4-BE49-F238E27FC236}">
                    <a16:creationId xmlns:a16="http://schemas.microsoft.com/office/drawing/2014/main" id="{E6A72BF6-7B5B-4673-95A5-AD06EE024B99}"/>
                  </a:ext>
                </a:extLst>
              </p:cNvPr>
              <p:cNvSpPr txBox="1"/>
              <p:nvPr/>
            </p:nvSpPr>
            <p:spPr>
              <a:xfrm>
                <a:off x="2819400" y="3447247"/>
                <a:ext cx="569388" cy="369332"/>
              </a:xfrm>
              <a:prstGeom prst="rect">
                <a:avLst/>
              </a:prstGeom>
              <a:noFill/>
            </p:spPr>
            <p:txBody>
              <a:bodyPr wrap="none" rtlCol="0">
                <a:spAutoFit/>
              </a:bodyPr>
              <a:lstStyle/>
              <a:p>
                <a:r>
                  <a:rPr lang="en-US" sz="1800" dirty="0"/>
                  <a:t>216</a:t>
                </a:r>
              </a:p>
            </p:txBody>
          </p:sp>
          <p:sp>
            <p:nvSpPr>
              <p:cNvPr id="23" name="TextBox 22">
                <a:extLst>
                  <a:ext uri="{FF2B5EF4-FFF2-40B4-BE49-F238E27FC236}">
                    <a16:creationId xmlns:a16="http://schemas.microsoft.com/office/drawing/2014/main" id="{DB27667B-2D24-4EAD-845F-63661F64AA22}"/>
                  </a:ext>
                </a:extLst>
              </p:cNvPr>
              <p:cNvSpPr txBox="1"/>
              <p:nvPr/>
            </p:nvSpPr>
            <p:spPr>
              <a:xfrm>
                <a:off x="3427027" y="3808791"/>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6 (value of y)</a:t>
                </a:r>
              </a:p>
            </p:txBody>
          </p:sp>
          <p:sp>
            <p:nvSpPr>
              <p:cNvPr id="24" name="TextBox 23">
                <a:extLst>
                  <a:ext uri="{FF2B5EF4-FFF2-40B4-BE49-F238E27FC236}">
                    <a16:creationId xmlns:a16="http://schemas.microsoft.com/office/drawing/2014/main" id="{3E606A56-2D95-413E-ADB3-6428DF8D5654}"/>
                  </a:ext>
                </a:extLst>
              </p:cNvPr>
              <p:cNvSpPr txBox="1"/>
              <p:nvPr/>
            </p:nvSpPr>
            <p:spPr>
              <a:xfrm>
                <a:off x="2819401" y="3812328"/>
                <a:ext cx="569388" cy="369332"/>
              </a:xfrm>
              <a:prstGeom prst="rect">
                <a:avLst/>
              </a:prstGeom>
              <a:noFill/>
            </p:spPr>
            <p:txBody>
              <a:bodyPr wrap="none" rtlCol="0">
                <a:spAutoFit/>
              </a:bodyPr>
              <a:lstStyle/>
              <a:p>
                <a:r>
                  <a:rPr lang="en-US" sz="1800" dirty="0"/>
                  <a:t>220</a:t>
                </a:r>
              </a:p>
            </p:txBody>
          </p:sp>
        </p:grpSp>
        <p:sp>
          <p:nvSpPr>
            <p:cNvPr id="26" name="Right Brace 25">
              <a:extLst>
                <a:ext uri="{FF2B5EF4-FFF2-40B4-BE49-F238E27FC236}">
                  <a16:creationId xmlns:a16="http://schemas.microsoft.com/office/drawing/2014/main" id="{23E0AE0F-742C-4D5C-884A-A5FD23EFE98A}"/>
                </a:ext>
              </a:extLst>
            </p:cNvPr>
            <p:cNvSpPr/>
            <p:nvPr/>
          </p:nvSpPr>
          <p:spPr bwMode="auto">
            <a:xfrm>
              <a:off x="5867400" y="3472231"/>
              <a:ext cx="152400" cy="73152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32" name="TextBox 31">
              <a:extLst>
                <a:ext uri="{FF2B5EF4-FFF2-40B4-BE49-F238E27FC236}">
                  <a16:creationId xmlns:a16="http://schemas.microsoft.com/office/drawing/2014/main" id="{D043386B-21C8-4FDC-8D28-C544317ED7E7}"/>
                </a:ext>
              </a:extLst>
            </p:cNvPr>
            <p:cNvSpPr txBox="1"/>
            <p:nvPr/>
          </p:nvSpPr>
          <p:spPr>
            <a:xfrm>
              <a:off x="6011123" y="3653325"/>
              <a:ext cx="1685077" cy="369332"/>
            </a:xfrm>
            <a:prstGeom prst="rect">
              <a:avLst/>
            </a:prstGeom>
            <a:noFill/>
          </p:spPr>
          <p:txBody>
            <a:bodyPr wrap="none" rtlCol="0">
              <a:spAutoFit/>
            </a:bodyPr>
            <a:lstStyle/>
            <a:p>
              <a:r>
                <a:rPr lang="en-US" sz="1800" dirty="0"/>
                <a:t>temporary part</a:t>
              </a:r>
            </a:p>
          </p:txBody>
        </p:sp>
      </p:grpSp>
    </p:spTree>
    <p:extLst>
      <p:ext uri="{BB962C8B-B14F-4D97-AF65-F5344CB8AC3E}">
        <p14:creationId xmlns:p14="http://schemas.microsoft.com/office/powerpoint/2010/main" val="26940850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A879-EF42-4A2F-A284-843555707706}"/>
              </a:ext>
            </a:extLst>
          </p:cNvPr>
          <p:cNvSpPr>
            <a:spLocks noGrp="1"/>
          </p:cNvSpPr>
          <p:nvPr>
            <p:ph type="title"/>
          </p:nvPr>
        </p:nvSpPr>
        <p:spPr>
          <a:xfrm>
            <a:off x="822960" y="138113"/>
            <a:ext cx="7498080" cy="1004887"/>
          </a:xfrm>
        </p:spPr>
        <p:txBody>
          <a:bodyPr/>
          <a:lstStyle/>
          <a:p>
            <a:r>
              <a:rPr lang="en-US" sz="2600" dirty="0"/>
              <a:t>Example: Temporary Part of an Activation Record</a:t>
            </a:r>
            <a:br>
              <a:rPr lang="en-US" sz="2600" dirty="0"/>
            </a:br>
            <a:r>
              <a:rPr lang="en-US" sz="2400" dirty="0"/>
              <a:t>(continued)</a:t>
            </a:r>
          </a:p>
        </p:txBody>
      </p:sp>
      <p:sp>
        <p:nvSpPr>
          <p:cNvPr id="4" name="Footer Placeholder 3">
            <a:extLst>
              <a:ext uri="{FF2B5EF4-FFF2-40B4-BE49-F238E27FC236}">
                <a16:creationId xmlns:a16="http://schemas.microsoft.com/office/drawing/2014/main" id="{E7CB5EBB-27EC-41A7-BA4B-43CECFD80695}"/>
              </a:ext>
            </a:extLst>
          </p:cNvPr>
          <p:cNvSpPr>
            <a:spLocks noGrp="1"/>
          </p:cNvSpPr>
          <p:nvPr>
            <p:ph type="ftr" sz="quarter" idx="10"/>
          </p:nvPr>
        </p:nvSpPr>
        <p:spPr/>
        <p:txBody>
          <a:bodyPr/>
          <a:lstStyle/>
          <a:p>
            <a:pPr>
              <a:defRPr/>
            </a:pPr>
            <a:r>
              <a:rPr lang="en-US" dirty="0"/>
              <a:t>©SoftMoore Consulting</a:t>
            </a:r>
          </a:p>
        </p:txBody>
      </p:sp>
      <p:sp>
        <p:nvSpPr>
          <p:cNvPr id="5" name="Slide Number Placeholder 4">
            <a:extLst>
              <a:ext uri="{FF2B5EF4-FFF2-40B4-BE49-F238E27FC236}">
                <a16:creationId xmlns:a16="http://schemas.microsoft.com/office/drawing/2014/main" id="{71627D31-7CA1-4429-AA80-9A76187B8557}"/>
              </a:ext>
            </a:extLst>
          </p:cNvPr>
          <p:cNvSpPr>
            <a:spLocks noGrp="1"/>
          </p:cNvSpPr>
          <p:nvPr>
            <p:ph type="sldNum" sz="quarter" idx="11"/>
          </p:nvPr>
        </p:nvSpPr>
        <p:spPr/>
        <p:txBody>
          <a:bodyPr/>
          <a:lstStyle/>
          <a:p>
            <a:pPr>
              <a:defRPr/>
            </a:pPr>
            <a:r>
              <a:rPr lang="en-US" dirty="0"/>
              <a:t>Slide </a:t>
            </a:r>
            <a:fld id="{63AEAFB5-AC10-4A77-9869-4B293AAAFFF3}" type="slidenum">
              <a:rPr lang="en-US" smtClean="0"/>
              <a:pPr>
                <a:defRPr/>
              </a:pPr>
              <a:t>33</a:t>
            </a:fld>
            <a:endParaRPr lang="en-US" dirty="0"/>
          </a:p>
        </p:txBody>
      </p:sp>
      <p:sp>
        <p:nvSpPr>
          <p:cNvPr id="27" name="TextBox 26">
            <a:extLst>
              <a:ext uri="{FF2B5EF4-FFF2-40B4-BE49-F238E27FC236}">
                <a16:creationId xmlns:a16="http://schemas.microsoft.com/office/drawing/2014/main" id="{9CF3ED0A-3723-4A15-AD95-6864688DE62A}"/>
              </a:ext>
            </a:extLst>
          </p:cNvPr>
          <p:cNvSpPr txBox="1"/>
          <p:nvPr/>
        </p:nvSpPr>
        <p:spPr>
          <a:xfrm>
            <a:off x="822960" y="1345896"/>
            <a:ext cx="3853939" cy="461665"/>
          </a:xfrm>
          <a:prstGeom prst="rect">
            <a:avLst/>
          </a:prstGeom>
          <a:noFill/>
        </p:spPr>
        <p:txBody>
          <a:bodyPr wrap="none" rtlCol="0">
            <a:spAutoFit/>
          </a:bodyPr>
          <a:lstStyle/>
          <a:p>
            <a:r>
              <a:rPr lang="en-US" dirty="0"/>
              <a:t>After execution of </a:t>
            </a:r>
            <a:r>
              <a:rPr lang="en-US" sz="2300" dirty="0">
                <a:latin typeface="Consolas" panose="020B0609020204030204" pitchFamily="49" charset="0"/>
              </a:rPr>
              <a:t>LDCINT1</a:t>
            </a:r>
          </a:p>
        </p:txBody>
      </p:sp>
      <p:grpSp>
        <p:nvGrpSpPr>
          <p:cNvPr id="3" name="Group 2">
            <a:extLst>
              <a:ext uri="{FF2B5EF4-FFF2-40B4-BE49-F238E27FC236}">
                <a16:creationId xmlns:a16="http://schemas.microsoft.com/office/drawing/2014/main" id="{0A0ECD9A-7242-45E1-8A0A-C4BE27495EA2}"/>
              </a:ext>
            </a:extLst>
          </p:cNvPr>
          <p:cNvGrpSpPr/>
          <p:nvPr/>
        </p:nvGrpSpPr>
        <p:grpSpPr>
          <a:xfrm>
            <a:off x="1676400" y="1981200"/>
            <a:ext cx="6019800" cy="4023360"/>
            <a:chOff x="1676400" y="1981200"/>
            <a:chExt cx="6019800" cy="4023360"/>
          </a:xfrm>
        </p:grpSpPr>
        <p:grpSp>
          <p:nvGrpSpPr>
            <p:cNvPr id="7" name="Group 6">
              <a:extLst>
                <a:ext uri="{FF2B5EF4-FFF2-40B4-BE49-F238E27FC236}">
                  <a16:creationId xmlns:a16="http://schemas.microsoft.com/office/drawing/2014/main" id="{965E8CA4-0270-49AE-AD5F-58D364151783}"/>
                </a:ext>
              </a:extLst>
            </p:cNvPr>
            <p:cNvGrpSpPr/>
            <p:nvPr/>
          </p:nvGrpSpPr>
          <p:grpSpPr>
            <a:xfrm>
              <a:off x="1676400" y="1981200"/>
              <a:ext cx="4419600" cy="4023360"/>
              <a:chOff x="1676400" y="1981200"/>
              <a:chExt cx="4419600" cy="4023360"/>
            </a:xfrm>
          </p:grpSpPr>
          <p:sp>
            <p:nvSpPr>
              <p:cNvPr id="63" name="Rectangle 4">
                <a:extLst>
                  <a:ext uri="{FF2B5EF4-FFF2-40B4-BE49-F238E27FC236}">
                    <a16:creationId xmlns:a16="http://schemas.microsoft.com/office/drawing/2014/main" id="{B5AB0F95-612B-447E-BC0F-F952B486D878}"/>
                  </a:ext>
                </a:extLst>
              </p:cNvPr>
              <p:cNvSpPr>
                <a:spLocks noChangeArrowheads="1"/>
              </p:cNvSpPr>
              <p:nvPr/>
            </p:nvSpPr>
            <p:spPr bwMode="auto">
              <a:xfrm>
                <a:off x="3429000" y="1981200"/>
                <a:ext cx="2286000" cy="4023360"/>
              </a:xfrm>
              <a:prstGeom prst="rect">
                <a:avLst/>
              </a:prstGeom>
              <a:pattFill prst="pct5">
                <a:fgClr>
                  <a:schemeClr val="tx1"/>
                </a:fgClr>
                <a:bgClr>
                  <a:schemeClr val="bg1"/>
                </a:bgClr>
              </a:pattFill>
              <a:ln w="9525">
                <a:solidFill>
                  <a:schemeClr val="tx1"/>
                </a:solidFill>
                <a:miter lim="800000"/>
                <a:headEnd/>
                <a:tailEnd/>
              </a:ln>
            </p:spPr>
            <p:txBody>
              <a:bodyPr wrap="none" lIns="92075" tIns="46038" rIns="92075" bIns="46038" anchor="ctr"/>
              <a:lstStyle/>
              <a:p>
                <a:endParaRPr lang="en-US" dirty="0"/>
              </a:p>
            </p:txBody>
          </p:sp>
          <p:sp>
            <p:nvSpPr>
              <p:cNvPr id="68" name="TextBox 67">
                <a:extLst>
                  <a:ext uri="{FF2B5EF4-FFF2-40B4-BE49-F238E27FC236}">
                    <a16:creationId xmlns:a16="http://schemas.microsoft.com/office/drawing/2014/main" id="{28BA86A7-17E6-414B-8B9D-E2CC84A29DC9}"/>
                  </a:ext>
                </a:extLst>
              </p:cNvPr>
              <p:cNvSpPr txBox="1"/>
              <p:nvPr/>
            </p:nvSpPr>
            <p:spPr>
              <a:xfrm>
                <a:off x="3427027" y="1981200"/>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dynamic link</a:t>
                </a:r>
              </a:p>
            </p:txBody>
          </p:sp>
          <p:sp>
            <p:nvSpPr>
              <p:cNvPr id="69" name="TextBox 68">
                <a:extLst>
                  <a:ext uri="{FF2B5EF4-FFF2-40B4-BE49-F238E27FC236}">
                    <a16:creationId xmlns:a16="http://schemas.microsoft.com/office/drawing/2014/main" id="{E2D64B75-6D6C-4DA6-A677-6C13279C8E15}"/>
                  </a:ext>
                </a:extLst>
              </p:cNvPr>
              <p:cNvSpPr txBox="1"/>
              <p:nvPr/>
            </p:nvSpPr>
            <p:spPr>
              <a:xfrm>
                <a:off x="3427027" y="2351884"/>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return address</a:t>
                </a:r>
              </a:p>
            </p:txBody>
          </p:sp>
          <p:sp>
            <p:nvSpPr>
              <p:cNvPr id="70" name="TextBox 69">
                <a:extLst>
                  <a:ext uri="{FF2B5EF4-FFF2-40B4-BE49-F238E27FC236}">
                    <a16:creationId xmlns:a16="http://schemas.microsoft.com/office/drawing/2014/main" id="{F2F7C5DF-6D2D-4543-B6E0-B18D4217F52E}"/>
                  </a:ext>
                </a:extLst>
              </p:cNvPr>
              <p:cNvSpPr txBox="1"/>
              <p:nvPr/>
            </p:nvSpPr>
            <p:spPr>
              <a:xfrm>
                <a:off x="3427027" y="2722567"/>
                <a:ext cx="2286000" cy="369332"/>
              </a:xfrm>
              <a:prstGeom prst="rect">
                <a:avLst/>
              </a:prstGeom>
              <a:solidFill>
                <a:schemeClr val="bg1"/>
              </a:solidFill>
              <a:ln>
                <a:solidFill>
                  <a:schemeClr val="tx1"/>
                </a:solidFill>
              </a:ln>
            </p:spPr>
            <p:txBody>
              <a:bodyPr wrap="none" rtlCol="0">
                <a:noAutofit/>
              </a:bodyPr>
              <a:lstStyle/>
              <a:p>
                <a:pPr marL="91440" algn="l"/>
                <a:endParaRPr lang="en-US" sz="1800" dirty="0"/>
              </a:p>
            </p:txBody>
          </p:sp>
          <p:sp>
            <p:nvSpPr>
              <p:cNvPr id="72" name="TextBox 71">
                <a:extLst>
                  <a:ext uri="{FF2B5EF4-FFF2-40B4-BE49-F238E27FC236}">
                    <a16:creationId xmlns:a16="http://schemas.microsoft.com/office/drawing/2014/main" id="{9599E4DD-7C5B-475F-806B-F0058F4ECE0F}"/>
                  </a:ext>
                </a:extLst>
              </p:cNvPr>
              <p:cNvSpPr txBox="1"/>
              <p:nvPr/>
            </p:nvSpPr>
            <p:spPr>
              <a:xfrm>
                <a:off x="2819400" y="1988771"/>
                <a:ext cx="569388" cy="369332"/>
              </a:xfrm>
              <a:prstGeom prst="rect">
                <a:avLst/>
              </a:prstGeom>
              <a:noFill/>
            </p:spPr>
            <p:txBody>
              <a:bodyPr wrap="none" rtlCol="0">
                <a:spAutoFit/>
              </a:bodyPr>
              <a:lstStyle/>
              <a:p>
                <a:r>
                  <a:rPr lang="en-US" sz="1800" dirty="0"/>
                  <a:t>200</a:t>
                </a:r>
              </a:p>
            </p:txBody>
          </p:sp>
          <p:sp>
            <p:nvSpPr>
              <p:cNvPr id="73" name="TextBox 72">
                <a:extLst>
                  <a:ext uri="{FF2B5EF4-FFF2-40B4-BE49-F238E27FC236}">
                    <a16:creationId xmlns:a16="http://schemas.microsoft.com/office/drawing/2014/main" id="{7D5F371E-A21E-4C6E-A0B0-A42812DA92BB}"/>
                  </a:ext>
                </a:extLst>
              </p:cNvPr>
              <p:cNvSpPr txBox="1"/>
              <p:nvPr/>
            </p:nvSpPr>
            <p:spPr>
              <a:xfrm>
                <a:off x="2819401" y="2354133"/>
                <a:ext cx="569387" cy="369332"/>
              </a:xfrm>
              <a:prstGeom prst="rect">
                <a:avLst/>
              </a:prstGeom>
              <a:noFill/>
            </p:spPr>
            <p:txBody>
              <a:bodyPr wrap="none" rtlCol="0">
                <a:spAutoFit/>
              </a:bodyPr>
              <a:lstStyle/>
              <a:p>
                <a:r>
                  <a:rPr lang="en-US" sz="1800" dirty="0"/>
                  <a:t>204</a:t>
                </a:r>
              </a:p>
            </p:txBody>
          </p:sp>
          <p:sp>
            <p:nvSpPr>
              <p:cNvPr id="74" name="TextBox 73">
                <a:extLst>
                  <a:ext uri="{FF2B5EF4-FFF2-40B4-BE49-F238E27FC236}">
                    <a16:creationId xmlns:a16="http://schemas.microsoft.com/office/drawing/2014/main" id="{314D2A39-5609-4923-AA08-AB9FB75E8DD8}"/>
                  </a:ext>
                </a:extLst>
              </p:cNvPr>
              <p:cNvSpPr txBox="1"/>
              <p:nvPr/>
            </p:nvSpPr>
            <p:spPr>
              <a:xfrm>
                <a:off x="2819400" y="2719495"/>
                <a:ext cx="569388" cy="369332"/>
              </a:xfrm>
              <a:prstGeom prst="rect">
                <a:avLst/>
              </a:prstGeom>
              <a:noFill/>
            </p:spPr>
            <p:txBody>
              <a:bodyPr wrap="none" rtlCol="0">
                <a:spAutoFit/>
              </a:bodyPr>
              <a:lstStyle/>
              <a:p>
                <a:r>
                  <a:rPr lang="en-US" sz="1800" dirty="0"/>
                  <a:t>208</a:t>
                </a:r>
              </a:p>
            </p:txBody>
          </p:sp>
          <p:sp>
            <p:nvSpPr>
              <p:cNvPr id="76" name="TextBox 75">
                <a:extLst>
                  <a:ext uri="{FF2B5EF4-FFF2-40B4-BE49-F238E27FC236}">
                    <a16:creationId xmlns:a16="http://schemas.microsoft.com/office/drawing/2014/main" id="{03FC58D0-0DFB-41BF-B004-B8A24DF19F40}"/>
                  </a:ext>
                </a:extLst>
              </p:cNvPr>
              <p:cNvSpPr txBox="1"/>
              <p:nvPr/>
            </p:nvSpPr>
            <p:spPr>
              <a:xfrm>
                <a:off x="5791200" y="2710509"/>
                <a:ext cx="300083" cy="369332"/>
              </a:xfrm>
              <a:prstGeom prst="rect">
                <a:avLst/>
              </a:prstGeom>
              <a:noFill/>
            </p:spPr>
            <p:txBody>
              <a:bodyPr wrap="none" rtlCol="0">
                <a:spAutoFit/>
              </a:bodyPr>
              <a:lstStyle/>
              <a:p>
                <a:r>
                  <a:rPr lang="en-US" sz="1800" dirty="0"/>
                  <a:t>x</a:t>
                </a:r>
              </a:p>
            </p:txBody>
          </p:sp>
          <p:sp>
            <p:nvSpPr>
              <p:cNvPr id="77" name="TextBox 76">
                <a:extLst>
                  <a:ext uri="{FF2B5EF4-FFF2-40B4-BE49-F238E27FC236}">
                    <a16:creationId xmlns:a16="http://schemas.microsoft.com/office/drawing/2014/main" id="{62061F1D-676D-43D4-B9CA-DB52FB119596}"/>
                  </a:ext>
                </a:extLst>
              </p:cNvPr>
              <p:cNvSpPr txBox="1"/>
              <p:nvPr/>
            </p:nvSpPr>
            <p:spPr>
              <a:xfrm>
                <a:off x="5795918" y="3081440"/>
                <a:ext cx="300082" cy="369332"/>
              </a:xfrm>
              <a:prstGeom prst="rect">
                <a:avLst/>
              </a:prstGeom>
              <a:noFill/>
            </p:spPr>
            <p:txBody>
              <a:bodyPr wrap="none" rtlCol="0">
                <a:spAutoFit/>
              </a:bodyPr>
              <a:lstStyle/>
              <a:p>
                <a:r>
                  <a:rPr lang="en-US" sz="1800" dirty="0"/>
                  <a:t>y</a:t>
                </a:r>
              </a:p>
            </p:txBody>
          </p:sp>
          <p:sp>
            <p:nvSpPr>
              <p:cNvPr id="21" name="TextBox 20">
                <a:extLst>
                  <a:ext uri="{FF2B5EF4-FFF2-40B4-BE49-F238E27FC236}">
                    <a16:creationId xmlns:a16="http://schemas.microsoft.com/office/drawing/2014/main" id="{AB841B8B-8949-425B-86CF-937F49018DBE}"/>
                  </a:ext>
                </a:extLst>
              </p:cNvPr>
              <p:cNvSpPr txBox="1"/>
              <p:nvPr/>
            </p:nvSpPr>
            <p:spPr>
              <a:xfrm>
                <a:off x="1676400" y="1988771"/>
                <a:ext cx="492443" cy="369332"/>
              </a:xfrm>
              <a:prstGeom prst="rect">
                <a:avLst/>
              </a:prstGeom>
              <a:noFill/>
            </p:spPr>
            <p:txBody>
              <a:bodyPr wrap="none" rtlCol="0">
                <a:spAutoFit/>
              </a:bodyPr>
              <a:lstStyle/>
              <a:p>
                <a:r>
                  <a:rPr lang="en-US" sz="1800" dirty="0"/>
                  <a:t>BP</a:t>
                </a:r>
              </a:p>
            </p:txBody>
          </p:sp>
          <p:sp>
            <p:nvSpPr>
              <p:cNvPr id="22" name="TextBox 21">
                <a:extLst>
                  <a:ext uri="{FF2B5EF4-FFF2-40B4-BE49-F238E27FC236}">
                    <a16:creationId xmlns:a16="http://schemas.microsoft.com/office/drawing/2014/main" id="{5C971F6B-A50E-44FF-8236-6A6813B34770}"/>
                  </a:ext>
                </a:extLst>
              </p:cNvPr>
              <p:cNvSpPr txBox="1"/>
              <p:nvPr/>
            </p:nvSpPr>
            <p:spPr>
              <a:xfrm>
                <a:off x="1676400" y="4180945"/>
                <a:ext cx="492443" cy="369332"/>
              </a:xfrm>
              <a:prstGeom prst="rect">
                <a:avLst/>
              </a:prstGeom>
              <a:noFill/>
            </p:spPr>
            <p:txBody>
              <a:bodyPr wrap="none" rtlCol="0">
                <a:spAutoFit/>
              </a:bodyPr>
              <a:lstStyle/>
              <a:p>
                <a:r>
                  <a:rPr lang="en-US" sz="1800" dirty="0"/>
                  <a:t>SP</a:t>
                </a:r>
              </a:p>
            </p:txBody>
          </p:sp>
          <p:cxnSp>
            <p:nvCxnSpPr>
              <p:cNvPr id="6" name="Straight Arrow Connector 5">
                <a:extLst>
                  <a:ext uri="{FF2B5EF4-FFF2-40B4-BE49-F238E27FC236}">
                    <a16:creationId xmlns:a16="http://schemas.microsoft.com/office/drawing/2014/main" id="{0A106FBB-345C-44C4-9643-9EAD3CCD65A3}"/>
                  </a:ext>
                </a:extLst>
              </p:cNvPr>
              <p:cNvCxnSpPr>
                <a:cxnSpLocks/>
                <a:stCxn id="21" idx="3"/>
                <a:endCxn id="72" idx="1"/>
              </p:cNvCxnSpPr>
              <p:nvPr/>
            </p:nvCxnSpPr>
            <p:spPr bwMode="auto">
              <a:xfrm>
                <a:off x="2168843" y="2173437"/>
                <a:ext cx="650557" cy="0"/>
              </a:xfrm>
              <a:prstGeom prst="straightConnector1">
                <a:avLst/>
              </a:prstGeom>
              <a:noFill/>
              <a:ln w="9525" cap="flat" cmpd="sng" algn="ctr">
                <a:solidFill>
                  <a:schemeClr val="tx1"/>
                </a:solidFill>
                <a:prstDash val="solid"/>
                <a:round/>
                <a:headEnd type="none" w="med" len="med"/>
                <a:tailEnd type="triangle"/>
              </a:ln>
              <a:effectLst/>
            </p:spPr>
          </p:cxnSp>
          <p:cxnSp>
            <p:nvCxnSpPr>
              <p:cNvPr id="8" name="Straight Arrow Connector 7">
                <a:extLst>
                  <a:ext uri="{FF2B5EF4-FFF2-40B4-BE49-F238E27FC236}">
                    <a16:creationId xmlns:a16="http://schemas.microsoft.com/office/drawing/2014/main" id="{A9C85EE5-732F-429A-900E-1B7B21758369}"/>
                  </a:ext>
                </a:extLst>
              </p:cNvPr>
              <p:cNvCxnSpPr>
                <a:cxnSpLocks/>
                <a:stCxn id="22" idx="3"/>
                <a:endCxn id="32" idx="1"/>
              </p:cNvCxnSpPr>
              <p:nvPr/>
            </p:nvCxnSpPr>
            <p:spPr bwMode="auto">
              <a:xfrm>
                <a:off x="2168843" y="4365611"/>
                <a:ext cx="650557" cy="0"/>
              </a:xfrm>
              <a:prstGeom prst="straightConnector1">
                <a:avLst/>
              </a:prstGeom>
              <a:noFill/>
              <a:ln w="9525" cap="flat" cmpd="sng" algn="ctr">
                <a:solidFill>
                  <a:schemeClr val="tx1"/>
                </a:solidFill>
                <a:prstDash val="solid"/>
                <a:round/>
                <a:headEnd type="none" w="med" len="med"/>
                <a:tailEnd type="triangle"/>
              </a:ln>
              <a:effectLst/>
            </p:spPr>
          </p:cxnSp>
          <p:sp>
            <p:nvSpPr>
              <p:cNvPr id="28" name="TextBox 27">
                <a:extLst>
                  <a:ext uri="{FF2B5EF4-FFF2-40B4-BE49-F238E27FC236}">
                    <a16:creationId xmlns:a16="http://schemas.microsoft.com/office/drawing/2014/main" id="{19D5125A-908B-4812-91D8-0C630BA2F87E}"/>
                  </a:ext>
                </a:extLst>
              </p:cNvPr>
              <p:cNvSpPr txBox="1"/>
              <p:nvPr/>
            </p:nvSpPr>
            <p:spPr>
              <a:xfrm>
                <a:off x="3427027" y="3091899"/>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6</a:t>
                </a:r>
              </a:p>
            </p:txBody>
          </p:sp>
          <p:sp>
            <p:nvSpPr>
              <p:cNvPr id="29" name="TextBox 28">
                <a:extLst>
                  <a:ext uri="{FF2B5EF4-FFF2-40B4-BE49-F238E27FC236}">
                    <a16:creationId xmlns:a16="http://schemas.microsoft.com/office/drawing/2014/main" id="{5EEA69FA-6414-4647-BC93-6FD115E6F199}"/>
                  </a:ext>
                </a:extLst>
              </p:cNvPr>
              <p:cNvSpPr txBox="1"/>
              <p:nvPr/>
            </p:nvSpPr>
            <p:spPr>
              <a:xfrm>
                <a:off x="2819400" y="3084857"/>
                <a:ext cx="569388" cy="369332"/>
              </a:xfrm>
              <a:prstGeom prst="rect">
                <a:avLst/>
              </a:prstGeom>
              <a:noFill/>
            </p:spPr>
            <p:txBody>
              <a:bodyPr wrap="none" rtlCol="0">
                <a:spAutoFit/>
              </a:bodyPr>
              <a:lstStyle/>
              <a:p>
                <a:r>
                  <a:rPr lang="en-US" sz="1800" dirty="0"/>
                  <a:t>212</a:t>
                </a:r>
              </a:p>
            </p:txBody>
          </p:sp>
          <p:sp>
            <p:nvSpPr>
              <p:cNvPr id="30" name="TextBox 29">
                <a:extLst>
                  <a:ext uri="{FF2B5EF4-FFF2-40B4-BE49-F238E27FC236}">
                    <a16:creationId xmlns:a16="http://schemas.microsoft.com/office/drawing/2014/main" id="{D71C7B3F-2738-4421-AAD1-B7BA92B38C7F}"/>
                  </a:ext>
                </a:extLst>
              </p:cNvPr>
              <p:cNvSpPr txBox="1"/>
              <p:nvPr/>
            </p:nvSpPr>
            <p:spPr>
              <a:xfrm>
                <a:off x="3427027" y="3461231"/>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208 (address of x)</a:t>
                </a:r>
              </a:p>
            </p:txBody>
          </p:sp>
          <p:sp>
            <p:nvSpPr>
              <p:cNvPr id="31" name="TextBox 30">
                <a:extLst>
                  <a:ext uri="{FF2B5EF4-FFF2-40B4-BE49-F238E27FC236}">
                    <a16:creationId xmlns:a16="http://schemas.microsoft.com/office/drawing/2014/main" id="{E6A72BF6-7B5B-4673-95A5-AD06EE024B99}"/>
                  </a:ext>
                </a:extLst>
              </p:cNvPr>
              <p:cNvSpPr txBox="1"/>
              <p:nvPr/>
            </p:nvSpPr>
            <p:spPr>
              <a:xfrm>
                <a:off x="2819400" y="3450219"/>
                <a:ext cx="569388" cy="369332"/>
              </a:xfrm>
              <a:prstGeom prst="rect">
                <a:avLst/>
              </a:prstGeom>
              <a:noFill/>
            </p:spPr>
            <p:txBody>
              <a:bodyPr wrap="none" rtlCol="0">
                <a:spAutoFit/>
              </a:bodyPr>
              <a:lstStyle/>
              <a:p>
                <a:r>
                  <a:rPr lang="en-US" sz="1800" dirty="0"/>
                  <a:t>216</a:t>
                </a:r>
              </a:p>
            </p:txBody>
          </p:sp>
          <p:sp>
            <p:nvSpPr>
              <p:cNvPr id="23" name="TextBox 22">
                <a:extLst>
                  <a:ext uri="{FF2B5EF4-FFF2-40B4-BE49-F238E27FC236}">
                    <a16:creationId xmlns:a16="http://schemas.microsoft.com/office/drawing/2014/main" id="{DB27667B-2D24-4EAD-845F-63661F64AA22}"/>
                  </a:ext>
                </a:extLst>
              </p:cNvPr>
              <p:cNvSpPr txBox="1"/>
              <p:nvPr/>
            </p:nvSpPr>
            <p:spPr>
              <a:xfrm>
                <a:off x="3427027" y="3808791"/>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6 (value of y)</a:t>
                </a:r>
              </a:p>
            </p:txBody>
          </p:sp>
          <p:sp>
            <p:nvSpPr>
              <p:cNvPr id="24" name="TextBox 23">
                <a:extLst>
                  <a:ext uri="{FF2B5EF4-FFF2-40B4-BE49-F238E27FC236}">
                    <a16:creationId xmlns:a16="http://schemas.microsoft.com/office/drawing/2014/main" id="{3E606A56-2D95-413E-ADB3-6428DF8D5654}"/>
                  </a:ext>
                </a:extLst>
              </p:cNvPr>
              <p:cNvSpPr txBox="1"/>
              <p:nvPr/>
            </p:nvSpPr>
            <p:spPr>
              <a:xfrm>
                <a:off x="2819400" y="3815581"/>
                <a:ext cx="569388" cy="369332"/>
              </a:xfrm>
              <a:prstGeom prst="rect">
                <a:avLst/>
              </a:prstGeom>
              <a:noFill/>
            </p:spPr>
            <p:txBody>
              <a:bodyPr wrap="none" rtlCol="0">
                <a:spAutoFit/>
              </a:bodyPr>
              <a:lstStyle/>
              <a:p>
                <a:r>
                  <a:rPr lang="en-US" sz="1800" dirty="0"/>
                  <a:t>220</a:t>
                </a:r>
              </a:p>
            </p:txBody>
          </p:sp>
          <p:sp>
            <p:nvSpPr>
              <p:cNvPr id="26" name="TextBox 25">
                <a:extLst>
                  <a:ext uri="{FF2B5EF4-FFF2-40B4-BE49-F238E27FC236}">
                    <a16:creationId xmlns:a16="http://schemas.microsoft.com/office/drawing/2014/main" id="{274A75B1-0F48-410D-9F86-C665AFC0C644}"/>
                  </a:ext>
                </a:extLst>
              </p:cNvPr>
              <p:cNvSpPr txBox="1"/>
              <p:nvPr/>
            </p:nvSpPr>
            <p:spPr>
              <a:xfrm>
                <a:off x="3427027" y="4178897"/>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 (constant integer)</a:t>
                </a:r>
              </a:p>
            </p:txBody>
          </p:sp>
          <p:sp>
            <p:nvSpPr>
              <p:cNvPr id="32" name="TextBox 31">
                <a:extLst>
                  <a:ext uri="{FF2B5EF4-FFF2-40B4-BE49-F238E27FC236}">
                    <a16:creationId xmlns:a16="http://schemas.microsoft.com/office/drawing/2014/main" id="{3C5E5336-C55D-48B4-B85F-9B94C1047CC2}"/>
                  </a:ext>
                </a:extLst>
              </p:cNvPr>
              <p:cNvSpPr txBox="1"/>
              <p:nvPr/>
            </p:nvSpPr>
            <p:spPr>
              <a:xfrm>
                <a:off x="2819400" y="4180945"/>
                <a:ext cx="569388" cy="369332"/>
              </a:xfrm>
              <a:prstGeom prst="rect">
                <a:avLst/>
              </a:prstGeom>
              <a:noFill/>
            </p:spPr>
            <p:txBody>
              <a:bodyPr wrap="none" rtlCol="0">
                <a:spAutoFit/>
              </a:bodyPr>
              <a:lstStyle/>
              <a:p>
                <a:r>
                  <a:rPr lang="en-US" sz="1800" dirty="0"/>
                  <a:t>224</a:t>
                </a:r>
              </a:p>
            </p:txBody>
          </p:sp>
        </p:grpSp>
        <p:sp>
          <p:nvSpPr>
            <p:cNvPr id="33" name="Right Brace 32">
              <a:extLst>
                <a:ext uri="{FF2B5EF4-FFF2-40B4-BE49-F238E27FC236}">
                  <a16:creationId xmlns:a16="http://schemas.microsoft.com/office/drawing/2014/main" id="{2AE0427C-F749-4D1F-A1A9-F5AAFE6995EC}"/>
                </a:ext>
              </a:extLst>
            </p:cNvPr>
            <p:cNvSpPr/>
            <p:nvPr/>
          </p:nvSpPr>
          <p:spPr bwMode="auto">
            <a:xfrm>
              <a:off x="5867400" y="3466788"/>
              <a:ext cx="152400" cy="109728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34" name="TextBox 33">
              <a:extLst>
                <a:ext uri="{FF2B5EF4-FFF2-40B4-BE49-F238E27FC236}">
                  <a16:creationId xmlns:a16="http://schemas.microsoft.com/office/drawing/2014/main" id="{562A2224-7E03-4D43-A5D1-765CCE499E93}"/>
                </a:ext>
              </a:extLst>
            </p:cNvPr>
            <p:cNvSpPr txBox="1"/>
            <p:nvPr/>
          </p:nvSpPr>
          <p:spPr>
            <a:xfrm>
              <a:off x="6011123" y="3830762"/>
              <a:ext cx="1685077" cy="369332"/>
            </a:xfrm>
            <a:prstGeom prst="rect">
              <a:avLst/>
            </a:prstGeom>
            <a:noFill/>
          </p:spPr>
          <p:txBody>
            <a:bodyPr wrap="none" rtlCol="0">
              <a:spAutoFit/>
            </a:bodyPr>
            <a:lstStyle/>
            <a:p>
              <a:r>
                <a:rPr lang="en-US" sz="1800" dirty="0"/>
                <a:t>temporary part</a:t>
              </a:r>
            </a:p>
          </p:txBody>
        </p:sp>
      </p:grpSp>
    </p:spTree>
    <p:extLst>
      <p:ext uri="{BB962C8B-B14F-4D97-AF65-F5344CB8AC3E}">
        <p14:creationId xmlns:p14="http://schemas.microsoft.com/office/powerpoint/2010/main" val="36644459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A879-EF42-4A2F-A284-843555707706}"/>
              </a:ext>
            </a:extLst>
          </p:cNvPr>
          <p:cNvSpPr>
            <a:spLocks noGrp="1"/>
          </p:cNvSpPr>
          <p:nvPr>
            <p:ph type="title"/>
          </p:nvPr>
        </p:nvSpPr>
        <p:spPr>
          <a:xfrm>
            <a:off x="822960" y="138113"/>
            <a:ext cx="7498080" cy="1004887"/>
          </a:xfrm>
        </p:spPr>
        <p:txBody>
          <a:bodyPr/>
          <a:lstStyle/>
          <a:p>
            <a:r>
              <a:rPr lang="en-US" sz="2600" dirty="0"/>
              <a:t>Example: Temporary Part of an Activation Record</a:t>
            </a:r>
            <a:br>
              <a:rPr lang="en-US" sz="2600" dirty="0"/>
            </a:br>
            <a:r>
              <a:rPr lang="en-US" sz="2400" dirty="0"/>
              <a:t>(continued)</a:t>
            </a:r>
          </a:p>
        </p:txBody>
      </p:sp>
      <p:sp>
        <p:nvSpPr>
          <p:cNvPr id="4" name="Footer Placeholder 3">
            <a:extLst>
              <a:ext uri="{FF2B5EF4-FFF2-40B4-BE49-F238E27FC236}">
                <a16:creationId xmlns:a16="http://schemas.microsoft.com/office/drawing/2014/main" id="{E7CB5EBB-27EC-41A7-BA4B-43CECFD80695}"/>
              </a:ext>
            </a:extLst>
          </p:cNvPr>
          <p:cNvSpPr>
            <a:spLocks noGrp="1"/>
          </p:cNvSpPr>
          <p:nvPr>
            <p:ph type="ftr" sz="quarter" idx="10"/>
          </p:nvPr>
        </p:nvSpPr>
        <p:spPr/>
        <p:txBody>
          <a:bodyPr/>
          <a:lstStyle/>
          <a:p>
            <a:pPr>
              <a:defRPr/>
            </a:pPr>
            <a:r>
              <a:rPr lang="en-US" dirty="0"/>
              <a:t>©SoftMoore Consulting</a:t>
            </a:r>
          </a:p>
        </p:txBody>
      </p:sp>
      <p:sp>
        <p:nvSpPr>
          <p:cNvPr id="5" name="Slide Number Placeholder 4">
            <a:extLst>
              <a:ext uri="{FF2B5EF4-FFF2-40B4-BE49-F238E27FC236}">
                <a16:creationId xmlns:a16="http://schemas.microsoft.com/office/drawing/2014/main" id="{71627D31-7CA1-4429-AA80-9A76187B8557}"/>
              </a:ext>
            </a:extLst>
          </p:cNvPr>
          <p:cNvSpPr>
            <a:spLocks noGrp="1"/>
          </p:cNvSpPr>
          <p:nvPr>
            <p:ph type="sldNum" sz="quarter" idx="11"/>
          </p:nvPr>
        </p:nvSpPr>
        <p:spPr/>
        <p:txBody>
          <a:bodyPr/>
          <a:lstStyle/>
          <a:p>
            <a:pPr>
              <a:defRPr/>
            </a:pPr>
            <a:r>
              <a:rPr lang="en-US" dirty="0"/>
              <a:t>Slide </a:t>
            </a:r>
            <a:fld id="{63AEAFB5-AC10-4A77-9869-4B293AAAFFF3}" type="slidenum">
              <a:rPr lang="en-US" smtClean="0"/>
              <a:pPr>
                <a:defRPr/>
              </a:pPr>
              <a:t>34</a:t>
            </a:fld>
            <a:endParaRPr lang="en-US" dirty="0"/>
          </a:p>
        </p:txBody>
      </p:sp>
      <p:sp>
        <p:nvSpPr>
          <p:cNvPr id="27" name="TextBox 26">
            <a:extLst>
              <a:ext uri="{FF2B5EF4-FFF2-40B4-BE49-F238E27FC236}">
                <a16:creationId xmlns:a16="http://schemas.microsoft.com/office/drawing/2014/main" id="{9CF3ED0A-3723-4A15-AD95-6864688DE62A}"/>
              </a:ext>
            </a:extLst>
          </p:cNvPr>
          <p:cNvSpPr txBox="1"/>
          <p:nvPr/>
        </p:nvSpPr>
        <p:spPr>
          <a:xfrm>
            <a:off x="822960" y="1345896"/>
            <a:ext cx="3174266" cy="461665"/>
          </a:xfrm>
          <a:prstGeom prst="rect">
            <a:avLst/>
          </a:prstGeom>
          <a:noFill/>
        </p:spPr>
        <p:txBody>
          <a:bodyPr wrap="none" rtlCol="0">
            <a:spAutoFit/>
          </a:bodyPr>
          <a:lstStyle/>
          <a:p>
            <a:r>
              <a:rPr lang="en-US" dirty="0"/>
              <a:t>After execution of </a:t>
            </a:r>
            <a:r>
              <a:rPr lang="en-US" sz="2300" dirty="0">
                <a:latin typeface="Consolas" panose="020B0609020204030204" pitchFamily="49" charset="0"/>
              </a:rPr>
              <a:t>ADD</a:t>
            </a:r>
          </a:p>
        </p:txBody>
      </p:sp>
      <p:grpSp>
        <p:nvGrpSpPr>
          <p:cNvPr id="3" name="Group 2">
            <a:extLst>
              <a:ext uri="{FF2B5EF4-FFF2-40B4-BE49-F238E27FC236}">
                <a16:creationId xmlns:a16="http://schemas.microsoft.com/office/drawing/2014/main" id="{894303BC-12DE-4B26-8E80-5364FC5EEC3C}"/>
              </a:ext>
            </a:extLst>
          </p:cNvPr>
          <p:cNvGrpSpPr/>
          <p:nvPr/>
        </p:nvGrpSpPr>
        <p:grpSpPr>
          <a:xfrm>
            <a:off x="1676400" y="1981200"/>
            <a:ext cx="6019800" cy="4023360"/>
            <a:chOff x="1676400" y="1981200"/>
            <a:chExt cx="6019800" cy="4023360"/>
          </a:xfrm>
        </p:grpSpPr>
        <p:grpSp>
          <p:nvGrpSpPr>
            <p:cNvPr id="10" name="Group 9">
              <a:extLst>
                <a:ext uri="{FF2B5EF4-FFF2-40B4-BE49-F238E27FC236}">
                  <a16:creationId xmlns:a16="http://schemas.microsoft.com/office/drawing/2014/main" id="{F105B340-A5ED-4780-A77A-3BA0FBBD410A}"/>
                </a:ext>
              </a:extLst>
            </p:cNvPr>
            <p:cNvGrpSpPr/>
            <p:nvPr/>
          </p:nvGrpSpPr>
          <p:grpSpPr>
            <a:xfrm>
              <a:off x="1676400" y="1981200"/>
              <a:ext cx="4419600" cy="4023360"/>
              <a:chOff x="1676400" y="1981200"/>
              <a:chExt cx="4419600" cy="4023360"/>
            </a:xfrm>
          </p:grpSpPr>
          <p:sp>
            <p:nvSpPr>
              <p:cNvPr id="63" name="Rectangle 4">
                <a:extLst>
                  <a:ext uri="{FF2B5EF4-FFF2-40B4-BE49-F238E27FC236}">
                    <a16:creationId xmlns:a16="http://schemas.microsoft.com/office/drawing/2014/main" id="{B5AB0F95-612B-447E-BC0F-F952B486D878}"/>
                  </a:ext>
                </a:extLst>
              </p:cNvPr>
              <p:cNvSpPr>
                <a:spLocks noChangeArrowheads="1"/>
              </p:cNvSpPr>
              <p:nvPr/>
            </p:nvSpPr>
            <p:spPr bwMode="auto">
              <a:xfrm>
                <a:off x="3429000" y="1981200"/>
                <a:ext cx="2286000" cy="4023360"/>
              </a:xfrm>
              <a:prstGeom prst="rect">
                <a:avLst/>
              </a:prstGeom>
              <a:pattFill prst="pct5">
                <a:fgClr>
                  <a:schemeClr val="tx1"/>
                </a:fgClr>
                <a:bgClr>
                  <a:schemeClr val="bg1"/>
                </a:bgClr>
              </a:pattFill>
              <a:ln w="9525">
                <a:solidFill>
                  <a:schemeClr val="tx1"/>
                </a:solidFill>
                <a:miter lim="800000"/>
                <a:headEnd/>
                <a:tailEnd/>
              </a:ln>
            </p:spPr>
            <p:txBody>
              <a:bodyPr wrap="none" lIns="92075" tIns="46038" rIns="92075" bIns="46038" anchor="ctr"/>
              <a:lstStyle/>
              <a:p>
                <a:endParaRPr lang="en-US" dirty="0"/>
              </a:p>
            </p:txBody>
          </p:sp>
          <p:sp>
            <p:nvSpPr>
              <p:cNvPr id="68" name="TextBox 67">
                <a:extLst>
                  <a:ext uri="{FF2B5EF4-FFF2-40B4-BE49-F238E27FC236}">
                    <a16:creationId xmlns:a16="http://schemas.microsoft.com/office/drawing/2014/main" id="{28BA86A7-17E6-414B-8B9D-E2CC84A29DC9}"/>
                  </a:ext>
                </a:extLst>
              </p:cNvPr>
              <p:cNvSpPr txBox="1"/>
              <p:nvPr/>
            </p:nvSpPr>
            <p:spPr>
              <a:xfrm>
                <a:off x="3427027" y="1981200"/>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dynamic link</a:t>
                </a:r>
              </a:p>
            </p:txBody>
          </p:sp>
          <p:sp>
            <p:nvSpPr>
              <p:cNvPr id="69" name="TextBox 68">
                <a:extLst>
                  <a:ext uri="{FF2B5EF4-FFF2-40B4-BE49-F238E27FC236}">
                    <a16:creationId xmlns:a16="http://schemas.microsoft.com/office/drawing/2014/main" id="{E2D64B75-6D6C-4DA6-A677-6C13279C8E15}"/>
                  </a:ext>
                </a:extLst>
              </p:cNvPr>
              <p:cNvSpPr txBox="1"/>
              <p:nvPr/>
            </p:nvSpPr>
            <p:spPr>
              <a:xfrm>
                <a:off x="3427027" y="2351884"/>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return address</a:t>
                </a:r>
              </a:p>
            </p:txBody>
          </p:sp>
          <p:sp>
            <p:nvSpPr>
              <p:cNvPr id="70" name="TextBox 69">
                <a:extLst>
                  <a:ext uri="{FF2B5EF4-FFF2-40B4-BE49-F238E27FC236}">
                    <a16:creationId xmlns:a16="http://schemas.microsoft.com/office/drawing/2014/main" id="{F2F7C5DF-6D2D-4543-B6E0-B18D4217F52E}"/>
                  </a:ext>
                </a:extLst>
              </p:cNvPr>
              <p:cNvSpPr txBox="1"/>
              <p:nvPr/>
            </p:nvSpPr>
            <p:spPr>
              <a:xfrm>
                <a:off x="3427027" y="2722567"/>
                <a:ext cx="2286000" cy="369332"/>
              </a:xfrm>
              <a:prstGeom prst="rect">
                <a:avLst/>
              </a:prstGeom>
              <a:solidFill>
                <a:schemeClr val="bg1"/>
              </a:solidFill>
              <a:ln>
                <a:solidFill>
                  <a:schemeClr val="tx1"/>
                </a:solidFill>
              </a:ln>
            </p:spPr>
            <p:txBody>
              <a:bodyPr wrap="none" rtlCol="0">
                <a:noAutofit/>
              </a:bodyPr>
              <a:lstStyle/>
              <a:p>
                <a:pPr marL="91440" algn="l"/>
                <a:endParaRPr lang="en-US" sz="1800" dirty="0"/>
              </a:p>
            </p:txBody>
          </p:sp>
          <p:sp>
            <p:nvSpPr>
              <p:cNvPr id="72" name="TextBox 71">
                <a:extLst>
                  <a:ext uri="{FF2B5EF4-FFF2-40B4-BE49-F238E27FC236}">
                    <a16:creationId xmlns:a16="http://schemas.microsoft.com/office/drawing/2014/main" id="{9599E4DD-7C5B-475F-806B-F0058F4ECE0F}"/>
                  </a:ext>
                </a:extLst>
              </p:cNvPr>
              <p:cNvSpPr txBox="1"/>
              <p:nvPr/>
            </p:nvSpPr>
            <p:spPr>
              <a:xfrm>
                <a:off x="2819400" y="1988771"/>
                <a:ext cx="569388" cy="369332"/>
              </a:xfrm>
              <a:prstGeom prst="rect">
                <a:avLst/>
              </a:prstGeom>
              <a:noFill/>
            </p:spPr>
            <p:txBody>
              <a:bodyPr wrap="none" rtlCol="0">
                <a:spAutoFit/>
              </a:bodyPr>
              <a:lstStyle/>
              <a:p>
                <a:r>
                  <a:rPr lang="en-US" sz="1800" dirty="0"/>
                  <a:t>200</a:t>
                </a:r>
              </a:p>
            </p:txBody>
          </p:sp>
          <p:sp>
            <p:nvSpPr>
              <p:cNvPr id="73" name="TextBox 72">
                <a:extLst>
                  <a:ext uri="{FF2B5EF4-FFF2-40B4-BE49-F238E27FC236}">
                    <a16:creationId xmlns:a16="http://schemas.microsoft.com/office/drawing/2014/main" id="{7D5F371E-A21E-4C6E-A0B0-A42812DA92BB}"/>
                  </a:ext>
                </a:extLst>
              </p:cNvPr>
              <p:cNvSpPr txBox="1"/>
              <p:nvPr/>
            </p:nvSpPr>
            <p:spPr>
              <a:xfrm>
                <a:off x="2819401" y="2353548"/>
                <a:ext cx="569387" cy="369332"/>
              </a:xfrm>
              <a:prstGeom prst="rect">
                <a:avLst/>
              </a:prstGeom>
              <a:noFill/>
            </p:spPr>
            <p:txBody>
              <a:bodyPr wrap="none" rtlCol="0">
                <a:spAutoFit/>
              </a:bodyPr>
              <a:lstStyle/>
              <a:p>
                <a:r>
                  <a:rPr lang="en-US" sz="1800" dirty="0"/>
                  <a:t>204</a:t>
                </a:r>
              </a:p>
            </p:txBody>
          </p:sp>
          <p:sp>
            <p:nvSpPr>
              <p:cNvPr id="74" name="TextBox 73">
                <a:extLst>
                  <a:ext uri="{FF2B5EF4-FFF2-40B4-BE49-F238E27FC236}">
                    <a16:creationId xmlns:a16="http://schemas.microsoft.com/office/drawing/2014/main" id="{314D2A39-5609-4923-AA08-AB9FB75E8DD8}"/>
                  </a:ext>
                </a:extLst>
              </p:cNvPr>
              <p:cNvSpPr txBox="1"/>
              <p:nvPr/>
            </p:nvSpPr>
            <p:spPr>
              <a:xfrm>
                <a:off x="2819400" y="2718325"/>
                <a:ext cx="569388" cy="369332"/>
              </a:xfrm>
              <a:prstGeom prst="rect">
                <a:avLst/>
              </a:prstGeom>
              <a:noFill/>
            </p:spPr>
            <p:txBody>
              <a:bodyPr wrap="none" rtlCol="0">
                <a:spAutoFit/>
              </a:bodyPr>
              <a:lstStyle/>
              <a:p>
                <a:r>
                  <a:rPr lang="en-US" sz="1800" dirty="0"/>
                  <a:t>208</a:t>
                </a:r>
              </a:p>
            </p:txBody>
          </p:sp>
          <p:sp>
            <p:nvSpPr>
              <p:cNvPr id="76" name="TextBox 75">
                <a:extLst>
                  <a:ext uri="{FF2B5EF4-FFF2-40B4-BE49-F238E27FC236}">
                    <a16:creationId xmlns:a16="http://schemas.microsoft.com/office/drawing/2014/main" id="{03FC58D0-0DFB-41BF-B004-B8A24DF19F40}"/>
                  </a:ext>
                </a:extLst>
              </p:cNvPr>
              <p:cNvSpPr txBox="1"/>
              <p:nvPr/>
            </p:nvSpPr>
            <p:spPr>
              <a:xfrm>
                <a:off x="5791200" y="2710509"/>
                <a:ext cx="300083" cy="369332"/>
              </a:xfrm>
              <a:prstGeom prst="rect">
                <a:avLst/>
              </a:prstGeom>
              <a:noFill/>
            </p:spPr>
            <p:txBody>
              <a:bodyPr wrap="none" rtlCol="0">
                <a:spAutoFit/>
              </a:bodyPr>
              <a:lstStyle/>
              <a:p>
                <a:r>
                  <a:rPr lang="en-US" sz="1800" dirty="0"/>
                  <a:t>x</a:t>
                </a:r>
              </a:p>
            </p:txBody>
          </p:sp>
          <p:sp>
            <p:nvSpPr>
              <p:cNvPr id="77" name="TextBox 76">
                <a:extLst>
                  <a:ext uri="{FF2B5EF4-FFF2-40B4-BE49-F238E27FC236}">
                    <a16:creationId xmlns:a16="http://schemas.microsoft.com/office/drawing/2014/main" id="{62061F1D-676D-43D4-B9CA-DB52FB119596}"/>
                  </a:ext>
                </a:extLst>
              </p:cNvPr>
              <p:cNvSpPr txBox="1"/>
              <p:nvPr/>
            </p:nvSpPr>
            <p:spPr>
              <a:xfrm>
                <a:off x="5795918" y="3081440"/>
                <a:ext cx="300082" cy="369332"/>
              </a:xfrm>
              <a:prstGeom prst="rect">
                <a:avLst/>
              </a:prstGeom>
              <a:noFill/>
            </p:spPr>
            <p:txBody>
              <a:bodyPr wrap="none" rtlCol="0">
                <a:spAutoFit/>
              </a:bodyPr>
              <a:lstStyle/>
              <a:p>
                <a:r>
                  <a:rPr lang="en-US" sz="1800" dirty="0"/>
                  <a:t>y</a:t>
                </a:r>
              </a:p>
            </p:txBody>
          </p:sp>
          <p:sp>
            <p:nvSpPr>
              <p:cNvPr id="21" name="TextBox 20">
                <a:extLst>
                  <a:ext uri="{FF2B5EF4-FFF2-40B4-BE49-F238E27FC236}">
                    <a16:creationId xmlns:a16="http://schemas.microsoft.com/office/drawing/2014/main" id="{AB841B8B-8949-425B-86CF-937F49018DBE}"/>
                  </a:ext>
                </a:extLst>
              </p:cNvPr>
              <p:cNvSpPr txBox="1"/>
              <p:nvPr/>
            </p:nvSpPr>
            <p:spPr>
              <a:xfrm>
                <a:off x="1676400" y="1988771"/>
                <a:ext cx="492443" cy="369332"/>
              </a:xfrm>
              <a:prstGeom prst="rect">
                <a:avLst/>
              </a:prstGeom>
              <a:noFill/>
            </p:spPr>
            <p:txBody>
              <a:bodyPr wrap="none" rtlCol="0">
                <a:spAutoFit/>
              </a:bodyPr>
              <a:lstStyle/>
              <a:p>
                <a:r>
                  <a:rPr lang="en-US" sz="1800" dirty="0"/>
                  <a:t>BP</a:t>
                </a:r>
              </a:p>
            </p:txBody>
          </p:sp>
          <p:sp>
            <p:nvSpPr>
              <p:cNvPr id="22" name="TextBox 21">
                <a:extLst>
                  <a:ext uri="{FF2B5EF4-FFF2-40B4-BE49-F238E27FC236}">
                    <a16:creationId xmlns:a16="http://schemas.microsoft.com/office/drawing/2014/main" id="{5C971F6B-A50E-44FF-8236-6A6813B34770}"/>
                  </a:ext>
                </a:extLst>
              </p:cNvPr>
              <p:cNvSpPr txBox="1"/>
              <p:nvPr/>
            </p:nvSpPr>
            <p:spPr>
              <a:xfrm>
                <a:off x="1676400" y="3812657"/>
                <a:ext cx="492443" cy="369332"/>
              </a:xfrm>
              <a:prstGeom prst="rect">
                <a:avLst/>
              </a:prstGeom>
              <a:noFill/>
            </p:spPr>
            <p:txBody>
              <a:bodyPr wrap="none" rtlCol="0">
                <a:spAutoFit/>
              </a:bodyPr>
              <a:lstStyle/>
              <a:p>
                <a:r>
                  <a:rPr lang="en-US" sz="1800" dirty="0"/>
                  <a:t>SP</a:t>
                </a:r>
              </a:p>
            </p:txBody>
          </p:sp>
          <p:cxnSp>
            <p:nvCxnSpPr>
              <p:cNvPr id="6" name="Straight Arrow Connector 5">
                <a:extLst>
                  <a:ext uri="{FF2B5EF4-FFF2-40B4-BE49-F238E27FC236}">
                    <a16:creationId xmlns:a16="http://schemas.microsoft.com/office/drawing/2014/main" id="{0A106FBB-345C-44C4-9643-9EAD3CCD65A3}"/>
                  </a:ext>
                </a:extLst>
              </p:cNvPr>
              <p:cNvCxnSpPr>
                <a:cxnSpLocks/>
                <a:stCxn id="21" idx="3"/>
                <a:endCxn id="72" idx="1"/>
              </p:cNvCxnSpPr>
              <p:nvPr/>
            </p:nvCxnSpPr>
            <p:spPr bwMode="auto">
              <a:xfrm>
                <a:off x="2168843" y="2173437"/>
                <a:ext cx="650557" cy="0"/>
              </a:xfrm>
              <a:prstGeom prst="straightConnector1">
                <a:avLst/>
              </a:prstGeom>
              <a:noFill/>
              <a:ln w="9525" cap="flat" cmpd="sng" algn="ctr">
                <a:solidFill>
                  <a:schemeClr val="tx1"/>
                </a:solidFill>
                <a:prstDash val="solid"/>
                <a:round/>
                <a:headEnd type="none" w="med" len="med"/>
                <a:tailEnd type="triangle"/>
              </a:ln>
              <a:effectLst/>
            </p:spPr>
          </p:cxnSp>
          <p:cxnSp>
            <p:nvCxnSpPr>
              <p:cNvPr id="8" name="Straight Arrow Connector 7">
                <a:extLst>
                  <a:ext uri="{FF2B5EF4-FFF2-40B4-BE49-F238E27FC236}">
                    <a16:creationId xmlns:a16="http://schemas.microsoft.com/office/drawing/2014/main" id="{A9C85EE5-732F-429A-900E-1B7B21758369}"/>
                  </a:ext>
                </a:extLst>
              </p:cNvPr>
              <p:cNvCxnSpPr>
                <a:cxnSpLocks/>
                <a:stCxn id="22" idx="3"/>
                <a:endCxn id="24" idx="1"/>
              </p:cNvCxnSpPr>
              <p:nvPr/>
            </p:nvCxnSpPr>
            <p:spPr bwMode="auto">
              <a:xfrm>
                <a:off x="2168843" y="3997323"/>
                <a:ext cx="650557" cy="0"/>
              </a:xfrm>
              <a:prstGeom prst="straightConnector1">
                <a:avLst/>
              </a:prstGeom>
              <a:noFill/>
              <a:ln w="9525" cap="flat" cmpd="sng" algn="ctr">
                <a:solidFill>
                  <a:schemeClr val="tx1"/>
                </a:solidFill>
                <a:prstDash val="solid"/>
                <a:round/>
                <a:headEnd type="none" w="med" len="med"/>
                <a:tailEnd type="triangle"/>
              </a:ln>
              <a:effectLst/>
            </p:spPr>
          </p:cxnSp>
          <p:sp>
            <p:nvSpPr>
              <p:cNvPr id="28" name="TextBox 27">
                <a:extLst>
                  <a:ext uri="{FF2B5EF4-FFF2-40B4-BE49-F238E27FC236}">
                    <a16:creationId xmlns:a16="http://schemas.microsoft.com/office/drawing/2014/main" id="{19D5125A-908B-4812-91D8-0C630BA2F87E}"/>
                  </a:ext>
                </a:extLst>
              </p:cNvPr>
              <p:cNvSpPr txBox="1"/>
              <p:nvPr/>
            </p:nvSpPr>
            <p:spPr>
              <a:xfrm>
                <a:off x="3427027" y="3091899"/>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6</a:t>
                </a:r>
              </a:p>
            </p:txBody>
          </p:sp>
          <p:sp>
            <p:nvSpPr>
              <p:cNvPr id="29" name="TextBox 28">
                <a:extLst>
                  <a:ext uri="{FF2B5EF4-FFF2-40B4-BE49-F238E27FC236}">
                    <a16:creationId xmlns:a16="http://schemas.microsoft.com/office/drawing/2014/main" id="{5EEA69FA-6414-4647-BC93-6FD115E6F199}"/>
                  </a:ext>
                </a:extLst>
              </p:cNvPr>
              <p:cNvSpPr txBox="1"/>
              <p:nvPr/>
            </p:nvSpPr>
            <p:spPr>
              <a:xfrm>
                <a:off x="2819400" y="3083102"/>
                <a:ext cx="569388" cy="369332"/>
              </a:xfrm>
              <a:prstGeom prst="rect">
                <a:avLst/>
              </a:prstGeom>
              <a:noFill/>
            </p:spPr>
            <p:txBody>
              <a:bodyPr wrap="none" rtlCol="0">
                <a:spAutoFit/>
              </a:bodyPr>
              <a:lstStyle/>
              <a:p>
                <a:r>
                  <a:rPr lang="en-US" sz="1800" dirty="0"/>
                  <a:t>212</a:t>
                </a:r>
              </a:p>
            </p:txBody>
          </p:sp>
          <p:sp>
            <p:nvSpPr>
              <p:cNvPr id="30" name="TextBox 29">
                <a:extLst>
                  <a:ext uri="{FF2B5EF4-FFF2-40B4-BE49-F238E27FC236}">
                    <a16:creationId xmlns:a16="http://schemas.microsoft.com/office/drawing/2014/main" id="{D71C7B3F-2738-4421-AAD1-B7BA92B38C7F}"/>
                  </a:ext>
                </a:extLst>
              </p:cNvPr>
              <p:cNvSpPr txBox="1"/>
              <p:nvPr/>
            </p:nvSpPr>
            <p:spPr>
              <a:xfrm>
                <a:off x="3427027" y="3461231"/>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208 (address of x)</a:t>
                </a:r>
              </a:p>
            </p:txBody>
          </p:sp>
          <p:sp>
            <p:nvSpPr>
              <p:cNvPr id="31" name="TextBox 30">
                <a:extLst>
                  <a:ext uri="{FF2B5EF4-FFF2-40B4-BE49-F238E27FC236}">
                    <a16:creationId xmlns:a16="http://schemas.microsoft.com/office/drawing/2014/main" id="{E6A72BF6-7B5B-4673-95A5-AD06EE024B99}"/>
                  </a:ext>
                </a:extLst>
              </p:cNvPr>
              <p:cNvSpPr txBox="1"/>
              <p:nvPr/>
            </p:nvSpPr>
            <p:spPr>
              <a:xfrm>
                <a:off x="2819400" y="3447879"/>
                <a:ext cx="569388" cy="369332"/>
              </a:xfrm>
              <a:prstGeom prst="rect">
                <a:avLst/>
              </a:prstGeom>
              <a:noFill/>
            </p:spPr>
            <p:txBody>
              <a:bodyPr wrap="none" rtlCol="0">
                <a:spAutoFit/>
              </a:bodyPr>
              <a:lstStyle/>
              <a:p>
                <a:r>
                  <a:rPr lang="en-US" sz="1800" dirty="0"/>
                  <a:t>216</a:t>
                </a:r>
              </a:p>
            </p:txBody>
          </p:sp>
          <p:sp>
            <p:nvSpPr>
              <p:cNvPr id="23" name="TextBox 22">
                <a:extLst>
                  <a:ext uri="{FF2B5EF4-FFF2-40B4-BE49-F238E27FC236}">
                    <a16:creationId xmlns:a16="http://schemas.microsoft.com/office/drawing/2014/main" id="{DB27667B-2D24-4EAD-845F-63661F64AA22}"/>
                  </a:ext>
                </a:extLst>
              </p:cNvPr>
              <p:cNvSpPr txBox="1"/>
              <p:nvPr/>
            </p:nvSpPr>
            <p:spPr>
              <a:xfrm>
                <a:off x="3427027" y="3808791"/>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7 (sum)</a:t>
                </a:r>
              </a:p>
            </p:txBody>
          </p:sp>
          <p:sp>
            <p:nvSpPr>
              <p:cNvPr id="24" name="TextBox 23">
                <a:extLst>
                  <a:ext uri="{FF2B5EF4-FFF2-40B4-BE49-F238E27FC236}">
                    <a16:creationId xmlns:a16="http://schemas.microsoft.com/office/drawing/2014/main" id="{3E606A56-2D95-413E-ADB3-6428DF8D5654}"/>
                  </a:ext>
                </a:extLst>
              </p:cNvPr>
              <p:cNvSpPr txBox="1"/>
              <p:nvPr/>
            </p:nvSpPr>
            <p:spPr>
              <a:xfrm>
                <a:off x="2819400" y="3812657"/>
                <a:ext cx="569388" cy="369332"/>
              </a:xfrm>
              <a:prstGeom prst="rect">
                <a:avLst/>
              </a:prstGeom>
              <a:noFill/>
            </p:spPr>
            <p:txBody>
              <a:bodyPr wrap="none" rtlCol="0">
                <a:spAutoFit/>
              </a:bodyPr>
              <a:lstStyle/>
              <a:p>
                <a:r>
                  <a:rPr lang="en-US" sz="1800" dirty="0"/>
                  <a:t>220</a:t>
                </a:r>
              </a:p>
            </p:txBody>
          </p:sp>
        </p:grpSp>
        <p:sp>
          <p:nvSpPr>
            <p:cNvPr id="26" name="Right Brace 25">
              <a:extLst>
                <a:ext uri="{FF2B5EF4-FFF2-40B4-BE49-F238E27FC236}">
                  <a16:creationId xmlns:a16="http://schemas.microsoft.com/office/drawing/2014/main" id="{EEBCA012-2C64-4690-9D33-F270A314AD29}"/>
                </a:ext>
              </a:extLst>
            </p:cNvPr>
            <p:cNvSpPr/>
            <p:nvPr/>
          </p:nvSpPr>
          <p:spPr bwMode="auto">
            <a:xfrm>
              <a:off x="5867400" y="3472231"/>
              <a:ext cx="152400" cy="73152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32" name="TextBox 31">
              <a:extLst>
                <a:ext uri="{FF2B5EF4-FFF2-40B4-BE49-F238E27FC236}">
                  <a16:creationId xmlns:a16="http://schemas.microsoft.com/office/drawing/2014/main" id="{B30D06A9-A026-4436-BB98-E9B74E7D4707}"/>
                </a:ext>
              </a:extLst>
            </p:cNvPr>
            <p:cNvSpPr txBox="1"/>
            <p:nvPr/>
          </p:nvSpPr>
          <p:spPr>
            <a:xfrm>
              <a:off x="6011123" y="3653325"/>
              <a:ext cx="1685077" cy="369332"/>
            </a:xfrm>
            <a:prstGeom prst="rect">
              <a:avLst/>
            </a:prstGeom>
            <a:noFill/>
          </p:spPr>
          <p:txBody>
            <a:bodyPr wrap="none" rtlCol="0">
              <a:spAutoFit/>
            </a:bodyPr>
            <a:lstStyle/>
            <a:p>
              <a:r>
                <a:rPr lang="en-US" sz="1800" dirty="0"/>
                <a:t>temporary part</a:t>
              </a:r>
            </a:p>
          </p:txBody>
        </p:sp>
      </p:grpSp>
    </p:spTree>
    <p:extLst>
      <p:ext uri="{BB962C8B-B14F-4D97-AF65-F5344CB8AC3E}">
        <p14:creationId xmlns:p14="http://schemas.microsoft.com/office/powerpoint/2010/main" val="3937826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A879-EF42-4A2F-A284-843555707706}"/>
              </a:ext>
            </a:extLst>
          </p:cNvPr>
          <p:cNvSpPr>
            <a:spLocks noGrp="1"/>
          </p:cNvSpPr>
          <p:nvPr>
            <p:ph type="title"/>
          </p:nvPr>
        </p:nvSpPr>
        <p:spPr>
          <a:xfrm>
            <a:off x="822960" y="138113"/>
            <a:ext cx="7498080" cy="1004887"/>
          </a:xfrm>
        </p:spPr>
        <p:txBody>
          <a:bodyPr/>
          <a:lstStyle/>
          <a:p>
            <a:r>
              <a:rPr lang="en-US" sz="2600" dirty="0"/>
              <a:t>Example: Temporary Part of an Activation Record</a:t>
            </a:r>
            <a:br>
              <a:rPr lang="en-US" sz="2600" dirty="0"/>
            </a:br>
            <a:r>
              <a:rPr lang="en-US" sz="2400" dirty="0"/>
              <a:t>(continued)</a:t>
            </a:r>
          </a:p>
        </p:txBody>
      </p:sp>
      <p:sp>
        <p:nvSpPr>
          <p:cNvPr id="4" name="Footer Placeholder 3">
            <a:extLst>
              <a:ext uri="{FF2B5EF4-FFF2-40B4-BE49-F238E27FC236}">
                <a16:creationId xmlns:a16="http://schemas.microsoft.com/office/drawing/2014/main" id="{E7CB5EBB-27EC-41A7-BA4B-43CECFD80695}"/>
              </a:ext>
            </a:extLst>
          </p:cNvPr>
          <p:cNvSpPr>
            <a:spLocks noGrp="1"/>
          </p:cNvSpPr>
          <p:nvPr>
            <p:ph type="ftr" sz="quarter" idx="10"/>
          </p:nvPr>
        </p:nvSpPr>
        <p:spPr/>
        <p:txBody>
          <a:bodyPr/>
          <a:lstStyle/>
          <a:p>
            <a:pPr>
              <a:defRPr/>
            </a:pPr>
            <a:r>
              <a:rPr lang="en-US" dirty="0"/>
              <a:t>©SoftMoore Consulting</a:t>
            </a:r>
          </a:p>
        </p:txBody>
      </p:sp>
      <p:sp>
        <p:nvSpPr>
          <p:cNvPr id="5" name="Slide Number Placeholder 4">
            <a:extLst>
              <a:ext uri="{FF2B5EF4-FFF2-40B4-BE49-F238E27FC236}">
                <a16:creationId xmlns:a16="http://schemas.microsoft.com/office/drawing/2014/main" id="{71627D31-7CA1-4429-AA80-9A76187B8557}"/>
              </a:ext>
            </a:extLst>
          </p:cNvPr>
          <p:cNvSpPr>
            <a:spLocks noGrp="1"/>
          </p:cNvSpPr>
          <p:nvPr>
            <p:ph type="sldNum" sz="quarter" idx="11"/>
          </p:nvPr>
        </p:nvSpPr>
        <p:spPr/>
        <p:txBody>
          <a:bodyPr/>
          <a:lstStyle/>
          <a:p>
            <a:pPr>
              <a:defRPr/>
            </a:pPr>
            <a:r>
              <a:rPr lang="en-US" dirty="0"/>
              <a:t>Slide </a:t>
            </a:r>
            <a:fld id="{63AEAFB5-AC10-4A77-9869-4B293AAAFFF3}" type="slidenum">
              <a:rPr lang="en-US" smtClean="0"/>
              <a:pPr>
                <a:defRPr/>
              </a:pPr>
              <a:t>35</a:t>
            </a:fld>
            <a:endParaRPr lang="en-US" dirty="0"/>
          </a:p>
        </p:txBody>
      </p:sp>
      <p:sp>
        <p:nvSpPr>
          <p:cNvPr id="27" name="TextBox 26">
            <a:extLst>
              <a:ext uri="{FF2B5EF4-FFF2-40B4-BE49-F238E27FC236}">
                <a16:creationId xmlns:a16="http://schemas.microsoft.com/office/drawing/2014/main" id="{9CF3ED0A-3723-4A15-AD95-6864688DE62A}"/>
              </a:ext>
            </a:extLst>
          </p:cNvPr>
          <p:cNvSpPr txBox="1"/>
          <p:nvPr/>
        </p:nvSpPr>
        <p:spPr>
          <a:xfrm>
            <a:off x="822960" y="1345896"/>
            <a:ext cx="3684022" cy="461665"/>
          </a:xfrm>
          <a:prstGeom prst="rect">
            <a:avLst/>
          </a:prstGeom>
          <a:noFill/>
        </p:spPr>
        <p:txBody>
          <a:bodyPr wrap="none" rtlCol="0">
            <a:spAutoFit/>
          </a:bodyPr>
          <a:lstStyle/>
          <a:p>
            <a:r>
              <a:rPr lang="en-US" dirty="0"/>
              <a:t>After execution of </a:t>
            </a:r>
            <a:r>
              <a:rPr lang="en-US" sz="2300" dirty="0">
                <a:latin typeface="Consolas" panose="020B0609020204030204" pitchFamily="49" charset="0"/>
              </a:rPr>
              <a:t>STOREW</a:t>
            </a:r>
          </a:p>
        </p:txBody>
      </p:sp>
      <p:grpSp>
        <p:nvGrpSpPr>
          <p:cNvPr id="3" name="Group 2">
            <a:extLst>
              <a:ext uri="{FF2B5EF4-FFF2-40B4-BE49-F238E27FC236}">
                <a16:creationId xmlns:a16="http://schemas.microsoft.com/office/drawing/2014/main" id="{BF11AF20-B056-4B6E-B5EC-908814E17B73}"/>
              </a:ext>
            </a:extLst>
          </p:cNvPr>
          <p:cNvGrpSpPr/>
          <p:nvPr/>
        </p:nvGrpSpPr>
        <p:grpSpPr>
          <a:xfrm>
            <a:off x="1676400" y="1981200"/>
            <a:ext cx="6113780" cy="4023360"/>
            <a:chOff x="1676400" y="1981200"/>
            <a:chExt cx="6113780" cy="4023360"/>
          </a:xfrm>
        </p:grpSpPr>
        <p:sp>
          <p:nvSpPr>
            <p:cNvPr id="63" name="Rectangle 4">
              <a:extLst>
                <a:ext uri="{FF2B5EF4-FFF2-40B4-BE49-F238E27FC236}">
                  <a16:creationId xmlns:a16="http://schemas.microsoft.com/office/drawing/2014/main" id="{B5AB0F95-612B-447E-BC0F-F952B486D878}"/>
                </a:ext>
              </a:extLst>
            </p:cNvPr>
            <p:cNvSpPr>
              <a:spLocks noChangeArrowheads="1"/>
            </p:cNvSpPr>
            <p:nvPr/>
          </p:nvSpPr>
          <p:spPr bwMode="auto">
            <a:xfrm>
              <a:off x="3427027" y="1981200"/>
              <a:ext cx="2286000" cy="4023360"/>
            </a:xfrm>
            <a:prstGeom prst="rect">
              <a:avLst/>
            </a:prstGeom>
            <a:pattFill prst="pct5">
              <a:fgClr>
                <a:schemeClr val="tx1"/>
              </a:fgClr>
              <a:bgClr>
                <a:schemeClr val="bg1"/>
              </a:bgClr>
            </a:pattFill>
            <a:ln w="9525">
              <a:solidFill>
                <a:schemeClr val="tx1"/>
              </a:solidFill>
              <a:miter lim="800000"/>
              <a:headEnd/>
              <a:tailEnd/>
            </a:ln>
          </p:spPr>
          <p:txBody>
            <a:bodyPr wrap="none" lIns="92075" tIns="46038" rIns="92075" bIns="46038" anchor="ctr"/>
            <a:lstStyle/>
            <a:p>
              <a:endParaRPr lang="en-US" dirty="0"/>
            </a:p>
          </p:txBody>
        </p:sp>
        <p:sp>
          <p:nvSpPr>
            <p:cNvPr id="68" name="TextBox 67">
              <a:extLst>
                <a:ext uri="{FF2B5EF4-FFF2-40B4-BE49-F238E27FC236}">
                  <a16:creationId xmlns:a16="http://schemas.microsoft.com/office/drawing/2014/main" id="{28BA86A7-17E6-414B-8B9D-E2CC84A29DC9}"/>
                </a:ext>
              </a:extLst>
            </p:cNvPr>
            <p:cNvSpPr txBox="1"/>
            <p:nvPr/>
          </p:nvSpPr>
          <p:spPr>
            <a:xfrm>
              <a:off x="3427027" y="1981200"/>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dynamic link</a:t>
              </a:r>
            </a:p>
          </p:txBody>
        </p:sp>
        <p:sp>
          <p:nvSpPr>
            <p:cNvPr id="69" name="TextBox 68">
              <a:extLst>
                <a:ext uri="{FF2B5EF4-FFF2-40B4-BE49-F238E27FC236}">
                  <a16:creationId xmlns:a16="http://schemas.microsoft.com/office/drawing/2014/main" id="{E2D64B75-6D6C-4DA6-A677-6C13279C8E15}"/>
                </a:ext>
              </a:extLst>
            </p:cNvPr>
            <p:cNvSpPr txBox="1"/>
            <p:nvPr/>
          </p:nvSpPr>
          <p:spPr>
            <a:xfrm>
              <a:off x="3427027" y="2351884"/>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return address</a:t>
              </a:r>
            </a:p>
          </p:txBody>
        </p:sp>
        <p:sp>
          <p:nvSpPr>
            <p:cNvPr id="70" name="TextBox 69">
              <a:extLst>
                <a:ext uri="{FF2B5EF4-FFF2-40B4-BE49-F238E27FC236}">
                  <a16:creationId xmlns:a16="http://schemas.microsoft.com/office/drawing/2014/main" id="{F2F7C5DF-6D2D-4543-B6E0-B18D4217F52E}"/>
                </a:ext>
              </a:extLst>
            </p:cNvPr>
            <p:cNvSpPr txBox="1"/>
            <p:nvPr/>
          </p:nvSpPr>
          <p:spPr>
            <a:xfrm>
              <a:off x="3427027" y="2722567"/>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7</a:t>
              </a:r>
            </a:p>
          </p:txBody>
        </p:sp>
        <p:sp>
          <p:nvSpPr>
            <p:cNvPr id="72" name="TextBox 71">
              <a:extLst>
                <a:ext uri="{FF2B5EF4-FFF2-40B4-BE49-F238E27FC236}">
                  <a16:creationId xmlns:a16="http://schemas.microsoft.com/office/drawing/2014/main" id="{9599E4DD-7C5B-475F-806B-F0058F4ECE0F}"/>
                </a:ext>
              </a:extLst>
            </p:cNvPr>
            <p:cNvSpPr txBox="1"/>
            <p:nvPr/>
          </p:nvSpPr>
          <p:spPr>
            <a:xfrm>
              <a:off x="2819400" y="1988771"/>
              <a:ext cx="569388" cy="369332"/>
            </a:xfrm>
            <a:prstGeom prst="rect">
              <a:avLst/>
            </a:prstGeom>
            <a:noFill/>
          </p:spPr>
          <p:txBody>
            <a:bodyPr wrap="none" rtlCol="0">
              <a:spAutoFit/>
            </a:bodyPr>
            <a:lstStyle/>
            <a:p>
              <a:r>
                <a:rPr lang="en-US" sz="1800" dirty="0"/>
                <a:t>200</a:t>
              </a:r>
            </a:p>
          </p:txBody>
        </p:sp>
        <p:sp>
          <p:nvSpPr>
            <p:cNvPr id="73" name="TextBox 72">
              <a:extLst>
                <a:ext uri="{FF2B5EF4-FFF2-40B4-BE49-F238E27FC236}">
                  <a16:creationId xmlns:a16="http://schemas.microsoft.com/office/drawing/2014/main" id="{7D5F371E-A21E-4C6E-A0B0-A42812DA92BB}"/>
                </a:ext>
              </a:extLst>
            </p:cNvPr>
            <p:cNvSpPr txBox="1"/>
            <p:nvPr/>
          </p:nvSpPr>
          <p:spPr>
            <a:xfrm>
              <a:off x="2819401" y="2356911"/>
              <a:ext cx="569387" cy="369332"/>
            </a:xfrm>
            <a:prstGeom prst="rect">
              <a:avLst/>
            </a:prstGeom>
            <a:noFill/>
          </p:spPr>
          <p:txBody>
            <a:bodyPr wrap="none" rtlCol="0">
              <a:spAutoFit/>
            </a:bodyPr>
            <a:lstStyle/>
            <a:p>
              <a:r>
                <a:rPr lang="en-US" sz="1800" dirty="0"/>
                <a:t>204</a:t>
              </a:r>
            </a:p>
          </p:txBody>
        </p:sp>
        <p:sp>
          <p:nvSpPr>
            <p:cNvPr id="74" name="TextBox 73">
              <a:extLst>
                <a:ext uri="{FF2B5EF4-FFF2-40B4-BE49-F238E27FC236}">
                  <a16:creationId xmlns:a16="http://schemas.microsoft.com/office/drawing/2014/main" id="{314D2A39-5609-4923-AA08-AB9FB75E8DD8}"/>
                </a:ext>
              </a:extLst>
            </p:cNvPr>
            <p:cNvSpPr txBox="1"/>
            <p:nvPr/>
          </p:nvSpPr>
          <p:spPr>
            <a:xfrm>
              <a:off x="2819400" y="2725051"/>
              <a:ext cx="569388" cy="369332"/>
            </a:xfrm>
            <a:prstGeom prst="rect">
              <a:avLst/>
            </a:prstGeom>
            <a:noFill/>
          </p:spPr>
          <p:txBody>
            <a:bodyPr wrap="none" rtlCol="0">
              <a:spAutoFit/>
            </a:bodyPr>
            <a:lstStyle/>
            <a:p>
              <a:r>
                <a:rPr lang="en-US" sz="1800" dirty="0"/>
                <a:t>208</a:t>
              </a:r>
            </a:p>
          </p:txBody>
        </p:sp>
        <p:sp>
          <p:nvSpPr>
            <p:cNvPr id="76" name="TextBox 75">
              <a:extLst>
                <a:ext uri="{FF2B5EF4-FFF2-40B4-BE49-F238E27FC236}">
                  <a16:creationId xmlns:a16="http://schemas.microsoft.com/office/drawing/2014/main" id="{03FC58D0-0DFB-41BF-B004-B8A24DF19F40}"/>
                </a:ext>
              </a:extLst>
            </p:cNvPr>
            <p:cNvSpPr txBox="1"/>
            <p:nvPr/>
          </p:nvSpPr>
          <p:spPr>
            <a:xfrm>
              <a:off x="5791200" y="2710509"/>
              <a:ext cx="300083" cy="369332"/>
            </a:xfrm>
            <a:prstGeom prst="rect">
              <a:avLst/>
            </a:prstGeom>
            <a:noFill/>
          </p:spPr>
          <p:txBody>
            <a:bodyPr wrap="none" rtlCol="0">
              <a:spAutoFit/>
            </a:bodyPr>
            <a:lstStyle/>
            <a:p>
              <a:r>
                <a:rPr lang="en-US" sz="1800" dirty="0"/>
                <a:t>x</a:t>
              </a:r>
            </a:p>
          </p:txBody>
        </p:sp>
        <p:sp>
          <p:nvSpPr>
            <p:cNvPr id="77" name="TextBox 76">
              <a:extLst>
                <a:ext uri="{FF2B5EF4-FFF2-40B4-BE49-F238E27FC236}">
                  <a16:creationId xmlns:a16="http://schemas.microsoft.com/office/drawing/2014/main" id="{62061F1D-676D-43D4-B9CA-DB52FB119596}"/>
                </a:ext>
              </a:extLst>
            </p:cNvPr>
            <p:cNvSpPr txBox="1"/>
            <p:nvPr/>
          </p:nvSpPr>
          <p:spPr>
            <a:xfrm>
              <a:off x="5791200" y="3081440"/>
              <a:ext cx="300082" cy="369332"/>
            </a:xfrm>
            <a:prstGeom prst="rect">
              <a:avLst/>
            </a:prstGeom>
            <a:noFill/>
          </p:spPr>
          <p:txBody>
            <a:bodyPr wrap="none" rtlCol="0">
              <a:spAutoFit/>
            </a:bodyPr>
            <a:lstStyle/>
            <a:p>
              <a:r>
                <a:rPr lang="en-US" sz="1800" dirty="0"/>
                <a:t>y</a:t>
              </a:r>
            </a:p>
          </p:txBody>
        </p:sp>
        <p:sp>
          <p:nvSpPr>
            <p:cNvPr id="21" name="TextBox 20">
              <a:extLst>
                <a:ext uri="{FF2B5EF4-FFF2-40B4-BE49-F238E27FC236}">
                  <a16:creationId xmlns:a16="http://schemas.microsoft.com/office/drawing/2014/main" id="{AB841B8B-8949-425B-86CF-937F49018DBE}"/>
                </a:ext>
              </a:extLst>
            </p:cNvPr>
            <p:cNvSpPr txBox="1"/>
            <p:nvPr/>
          </p:nvSpPr>
          <p:spPr>
            <a:xfrm>
              <a:off x="1676400" y="1988771"/>
              <a:ext cx="492443" cy="369332"/>
            </a:xfrm>
            <a:prstGeom prst="rect">
              <a:avLst/>
            </a:prstGeom>
            <a:noFill/>
          </p:spPr>
          <p:txBody>
            <a:bodyPr wrap="none" rtlCol="0">
              <a:spAutoFit/>
            </a:bodyPr>
            <a:lstStyle/>
            <a:p>
              <a:r>
                <a:rPr lang="en-US" sz="1800" dirty="0"/>
                <a:t>BP</a:t>
              </a:r>
            </a:p>
          </p:txBody>
        </p:sp>
        <p:sp>
          <p:nvSpPr>
            <p:cNvPr id="22" name="TextBox 21">
              <a:extLst>
                <a:ext uri="{FF2B5EF4-FFF2-40B4-BE49-F238E27FC236}">
                  <a16:creationId xmlns:a16="http://schemas.microsoft.com/office/drawing/2014/main" id="{5C971F6B-A50E-44FF-8236-6A6813B34770}"/>
                </a:ext>
              </a:extLst>
            </p:cNvPr>
            <p:cNvSpPr txBox="1"/>
            <p:nvPr/>
          </p:nvSpPr>
          <p:spPr>
            <a:xfrm>
              <a:off x="1676400" y="3093191"/>
              <a:ext cx="492443" cy="369332"/>
            </a:xfrm>
            <a:prstGeom prst="rect">
              <a:avLst/>
            </a:prstGeom>
            <a:noFill/>
          </p:spPr>
          <p:txBody>
            <a:bodyPr wrap="square" rtlCol="0">
              <a:spAutoFit/>
            </a:bodyPr>
            <a:lstStyle/>
            <a:p>
              <a:r>
                <a:rPr lang="en-US" sz="1800" dirty="0"/>
                <a:t>SP</a:t>
              </a:r>
            </a:p>
          </p:txBody>
        </p:sp>
        <p:cxnSp>
          <p:nvCxnSpPr>
            <p:cNvPr id="6" name="Straight Arrow Connector 5">
              <a:extLst>
                <a:ext uri="{FF2B5EF4-FFF2-40B4-BE49-F238E27FC236}">
                  <a16:creationId xmlns:a16="http://schemas.microsoft.com/office/drawing/2014/main" id="{0A106FBB-345C-44C4-9643-9EAD3CCD65A3}"/>
                </a:ext>
              </a:extLst>
            </p:cNvPr>
            <p:cNvCxnSpPr>
              <a:cxnSpLocks/>
              <a:stCxn id="21" idx="3"/>
              <a:endCxn id="72" idx="1"/>
            </p:cNvCxnSpPr>
            <p:nvPr/>
          </p:nvCxnSpPr>
          <p:spPr bwMode="auto">
            <a:xfrm>
              <a:off x="2168843" y="2173437"/>
              <a:ext cx="650557" cy="0"/>
            </a:xfrm>
            <a:prstGeom prst="straightConnector1">
              <a:avLst/>
            </a:prstGeom>
            <a:noFill/>
            <a:ln w="9525" cap="flat" cmpd="sng" algn="ctr">
              <a:solidFill>
                <a:schemeClr val="tx1"/>
              </a:solidFill>
              <a:prstDash val="solid"/>
              <a:round/>
              <a:headEnd type="none" w="med" len="med"/>
              <a:tailEnd type="triangle"/>
            </a:ln>
            <a:effectLst/>
          </p:spPr>
        </p:cxnSp>
        <p:cxnSp>
          <p:nvCxnSpPr>
            <p:cNvPr id="8" name="Straight Arrow Connector 7">
              <a:extLst>
                <a:ext uri="{FF2B5EF4-FFF2-40B4-BE49-F238E27FC236}">
                  <a16:creationId xmlns:a16="http://schemas.microsoft.com/office/drawing/2014/main" id="{A9C85EE5-732F-429A-900E-1B7B21758369}"/>
                </a:ext>
              </a:extLst>
            </p:cNvPr>
            <p:cNvCxnSpPr>
              <a:cxnSpLocks/>
              <a:stCxn id="22" idx="3"/>
              <a:endCxn id="29" idx="1"/>
            </p:cNvCxnSpPr>
            <p:nvPr/>
          </p:nvCxnSpPr>
          <p:spPr bwMode="auto">
            <a:xfrm>
              <a:off x="2168843" y="3277857"/>
              <a:ext cx="650557" cy="0"/>
            </a:xfrm>
            <a:prstGeom prst="straightConnector1">
              <a:avLst/>
            </a:prstGeom>
            <a:noFill/>
            <a:ln w="9525" cap="flat" cmpd="sng" algn="ctr">
              <a:solidFill>
                <a:schemeClr val="tx1"/>
              </a:solidFill>
              <a:prstDash val="solid"/>
              <a:round/>
              <a:headEnd type="none" w="med" len="med"/>
              <a:tailEnd type="triangle"/>
            </a:ln>
            <a:effectLst/>
          </p:spPr>
        </p:cxnSp>
        <p:sp>
          <p:nvSpPr>
            <p:cNvPr id="28" name="TextBox 27">
              <a:extLst>
                <a:ext uri="{FF2B5EF4-FFF2-40B4-BE49-F238E27FC236}">
                  <a16:creationId xmlns:a16="http://schemas.microsoft.com/office/drawing/2014/main" id="{19D5125A-908B-4812-91D8-0C630BA2F87E}"/>
                </a:ext>
              </a:extLst>
            </p:cNvPr>
            <p:cNvSpPr txBox="1"/>
            <p:nvPr/>
          </p:nvSpPr>
          <p:spPr>
            <a:xfrm>
              <a:off x="3427027" y="3091899"/>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6</a:t>
              </a:r>
            </a:p>
          </p:txBody>
        </p:sp>
        <p:sp>
          <p:nvSpPr>
            <p:cNvPr id="29" name="TextBox 28">
              <a:extLst>
                <a:ext uri="{FF2B5EF4-FFF2-40B4-BE49-F238E27FC236}">
                  <a16:creationId xmlns:a16="http://schemas.microsoft.com/office/drawing/2014/main" id="{5EEA69FA-6414-4647-BC93-6FD115E6F199}"/>
                </a:ext>
              </a:extLst>
            </p:cNvPr>
            <p:cNvSpPr txBox="1"/>
            <p:nvPr/>
          </p:nvSpPr>
          <p:spPr>
            <a:xfrm>
              <a:off x="2819400" y="3093191"/>
              <a:ext cx="569388" cy="369332"/>
            </a:xfrm>
            <a:prstGeom prst="rect">
              <a:avLst/>
            </a:prstGeom>
            <a:noFill/>
          </p:spPr>
          <p:txBody>
            <a:bodyPr wrap="none" rtlCol="0">
              <a:spAutoFit/>
            </a:bodyPr>
            <a:lstStyle/>
            <a:p>
              <a:r>
                <a:rPr lang="en-US" sz="1800" dirty="0"/>
                <a:t>212</a:t>
              </a:r>
            </a:p>
          </p:txBody>
        </p:sp>
        <p:sp>
          <p:nvSpPr>
            <p:cNvPr id="33" name="TextBox 32">
              <a:extLst>
                <a:ext uri="{FF2B5EF4-FFF2-40B4-BE49-F238E27FC236}">
                  <a16:creationId xmlns:a16="http://schemas.microsoft.com/office/drawing/2014/main" id="{ED99B209-FB75-4C41-B89D-39246426418C}"/>
                </a:ext>
              </a:extLst>
            </p:cNvPr>
            <p:cNvSpPr txBox="1"/>
            <p:nvPr/>
          </p:nvSpPr>
          <p:spPr>
            <a:xfrm>
              <a:off x="6477000" y="2587650"/>
              <a:ext cx="1313180" cy="646331"/>
            </a:xfrm>
            <a:prstGeom prst="rect">
              <a:avLst/>
            </a:prstGeom>
            <a:noFill/>
          </p:spPr>
          <p:txBody>
            <a:bodyPr wrap="none" rtlCol="0">
              <a:spAutoFit/>
            </a:bodyPr>
            <a:lstStyle/>
            <a:p>
              <a:pPr algn="l"/>
              <a:r>
                <a:rPr lang="en-US" sz="1800" dirty="0"/>
                <a:t>x  now has</a:t>
              </a:r>
            </a:p>
            <a:p>
              <a:pPr algn="l"/>
              <a:r>
                <a:rPr lang="en-US" sz="1800" dirty="0"/>
                <a:t>the value 7</a:t>
              </a:r>
            </a:p>
          </p:txBody>
        </p:sp>
        <p:sp>
          <p:nvSpPr>
            <p:cNvPr id="24" name="TextBox 23">
              <a:extLst>
                <a:ext uri="{FF2B5EF4-FFF2-40B4-BE49-F238E27FC236}">
                  <a16:creationId xmlns:a16="http://schemas.microsoft.com/office/drawing/2014/main" id="{6F96ED24-C652-477B-9A47-9E445831C4D9}"/>
                </a:ext>
              </a:extLst>
            </p:cNvPr>
            <p:cNvSpPr txBox="1"/>
            <p:nvPr/>
          </p:nvSpPr>
          <p:spPr>
            <a:xfrm>
              <a:off x="5791200" y="3470564"/>
              <a:ext cx="1685077" cy="646331"/>
            </a:xfrm>
            <a:prstGeom prst="rect">
              <a:avLst/>
            </a:prstGeom>
            <a:noFill/>
          </p:spPr>
          <p:txBody>
            <a:bodyPr wrap="none" rtlCol="0">
              <a:spAutoFit/>
            </a:bodyPr>
            <a:lstStyle/>
            <a:p>
              <a:pPr algn="l"/>
              <a:r>
                <a:rPr lang="en-US" sz="1800" dirty="0"/>
                <a:t>temporary part</a:t>
              </a:r>
            </a:p>
            <a:p>
              <a:pPr algn="l"/>
              <a:r>
                <a:rPr lang="en-US" sz="1800" dirty="0"/>
                <a:t>is empty again</a:t>
              </a:r>
            </a:p>
          </p:txBody>
        </p:sp>
      </p:grpSp>
    </p:spTree>
    <p:extLst>
      <p:ext uri="{BB962C8B-B14F-4D97-AF65-F5344CB8AC3E}">
        <p14:creationId xmlns:p14="http://schemas.microsoft.com/office/powerpoint/2010/main" val="23203541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3"/>
          <p:cNvSpPr>
            <a:spLocks noGrp="1"/>
          </p:cNvSpPr>
          <p:nvPr>
            <p:ph type="ftr" sz="quarter" idx="10"/>
          </p:nvPr>
        </p:nvSpPr>
        <p:spPr>
          <a:noFill/>
        </p:spPr>
        <p:txBody>
          <a:bodyPr/>
          <a:lstStyle/>
          <a:p>
            <a:r>
              <a:rPr lang="en-US"/>
              <a:t>©SoftMoore Consulting</a:t>
            </a:r>
          </a:p>
        </p:txBody>
      </p:sp>
      <p:sp>
        <p:nvSpPr>
          <p:cNvPr id="24579" name="Slide Number Placeholder 4"/>
          <p:cNvSpPr>
            <a:spLocks noGrp="1"/>
          </p:cNvSpPr>
          <p:nvPr>
            <p:ph type="sldNum" sz="quarter" idx="11"/>
          </p:nvPr>
        </p:nvSpPr>
        <p:spPr>
          <a:noFill/>
        </p:spPr>
        <p:txBody>
          <a:bodyPr/>
          <a:lstStyle/>
          <a:p>
            <a:r>
              <a:rPr lang="en-US"/>
              <a:t>Slide </a:t>
            </a:r>
            <a:fld id="{7A7BFCB5-5701-44DE-9B82-7D4D47D5F106}" type="slidenum">
              <a:rPr lang="en-US" smtClean="0"/>
              <a:pPr/>
              <a:t>36</a:t>
            </a:fld>
            <a:endParaRPr lang="en-US"/>
          </a:p>
        </p:txBody>
      </p:sp>
      <p:sp>
        <p:nvSpPr>
          <p:cNvPr id="24580" name="Rectangle 2"/>
          <p:cNvSpPr>
            <a:spLocks noGrp="1" noChangeArrowheads="1"/>
          </p:cNvSpPr>
          <p:nvPr>
            <p:ph type="title"/>
          </p:nvPr>
        </p:nvSpPr>
        <p:spPr/>
        <p:txBody>
          <a:bodyPr/>
          <a:lstStyle/>
          <a:p>
            <a:r>
              <a:rPr lang="en-US" dirty="0"/>
              <a:t>Example: Subprogram with Parameters</a:t>
            </a:r>
          </a:p>
        </p:txBody>
      </p:sp>
      <p:sp>
        <p:nvSpPr>
          <p:cNvPr id="24581" name="Rectangle 3"/>
          <p:cNvSpPr>
            <a:spLocks noGrp="1" noChangeArrowheads="1"/>
          </p:cNvSpPr>
          <p:nvPr>
            <p:ph type="body" idx="1"/>
          </p:nvPr>
        </p:nvSpPr>
        <p:spPr/>
        <p:txBody>
          <a:bodyPr tIns="91440"/>
          <a:lstStyle/>
          <a:p>
            <a:pPr marL="274320" indent="0">
              <a:spcBef>
                <a:spcPts val="100"/>
              </a:spcBef>
              <a:buFontTx/>
              <a:buNone/>
            </a:pPr>
            <a:r>
              <a:rPr lang="en-US" sz="1800" dirty="0">
                <a:latin typeface="Consolas" pitchFamily="49" charset="0"/>
              </a:rPr>
              <a:t>proc p(a : Integer, b : Integer)</a:t>
            </a:r>
          </a:p>
          <a:p>
            <a:pPr marL="274320" indent="0">
              <a:spcBef>
                <a:spcPts val="100"/>
              </a:spcBef>
              <a:buFontTx/>
              <a:buNone/>
            </a:pPr>
            <a:r>
              <a:rPr lang="en-US" sz="1800" dirty="0">
                <a:latin typeface="Consolas" pitchFamily="49" charset="0"/>
              </a:rPr>
              <a:t>  {</a:t>
            </a:r>
          </a:p>
          <a:p>
            <a:pPr marL="274320" indent="0">
              <a:spcBef>
                <a:spcPts val="100"/>
              </a:spcBef>
              <a:buFontTx/>
              <a:buNone/>
            </a:pPr>
            <a:r>
              <a:rPr lang="en-US" sz="1800" dirty="0">
                <a:latin typeface="Consolas" pitchFamily="49" charset="0"/>
              </a:rPr>
              <a:t>     var n : Integer;</a:t>
            </a:r>
          </a:p>
          <a:p>
            <a:pPr marL="274320" indent="0">
              <a:spcBef>
                <a:spcPts val="100"/>
              </a:spcBef>
              <a:buFontTx/>
              <a:buNone/>
            </a:pPr>
            <a:r>
              <a:rPr lang="en-US" sz="1800" dirty="0">
                <a:latin typeface="Consolas" pitchFamily="49" charset="0"/>
              </a:rPr>
              <a:t>     ...</a:t>
            </a:r>
          </a:p>
          <a:p>
            <a:pPr marL="274320" indent="0">
              <a:spcBef>
                <a:spcPts val="100"/>
              </a:spcBef>
              <a:buFontTx/>
              <a:buNone/>
            </a:pPr>
            <a:r>
              <a:rPr lang="en-US" sz="1800" dirty="0">
                <a:latin typeface="Consolas" pitchFamily="49" charset="0"/>
              </a:rPr>
              <a:t>  }</a:t>
            </a:r>
          </a:p>
          <a:p>
            <a:pPr marL="274320" indent="0">
              <a:spcBef>
                <a:spcPts val="100"/>
              </a:spcBef>
              <a:buFontTx/>
              <a:buNone/>
            </a:pPr>
            <a:endParaRPr lang="en-US" sz="1800" dirty="0">
              <a:latin typeface="Consolas" pitchFamily="49" charset="0"/>
            </a:endParaRPr>
          </a:p>
          <a:p>
            <a:pPr marL="274320" indent="0">
              <a:spcBef>
                <a:spcPts val="100"/>
              </a:spcBef>
              <a:buFontTx/>
              <a:buNone/>
            </a:pPr>
            <a:r>
              <a:rPr lang="en-US" sz="1800" dirty="0">
                <a:latin typeface="Consolas" pitchFamily="49" charset="0"/>
              </a:rPr>
              <a:t>proc main()</a:t>
            </a:r>
          </a:p>
          <a:p>
            <a:pPr marL="274320" indent="0">
              <a:spcBef>
                <a:spcPts val="100"/>
              </a:spcBef>
              <a:buFontTx/>
              <a:buNone/>
            </a:pPr>
            <a:r>
              <a:rPr lang="en-US" sz="1800" dirty="0">
                <a:latin typeface="Consolas" pitchFamily="49" charset="0"/>
              </a:rPr>
              <a:t>  {</a:t>
            </a:r>
          </a:p>
          <a:p>
            <a:pPr marL="274320" indent="0">
              <a:spcBef>
                <a:spcPts val="100"/>
              </a:spcBef>
              <a:buFontTx/>
              <a:buNone/>
            </a:pPr>
            <a:r>
              <a:rPr lang="en-US" sz="1800" dirty="0">
                <a:latin typeface="Consolas" pitchFamily="49" charset="0"/>
              </a:rPr>
              <a:t>    ...</a:t>
            </a:r>
          </a:p>
          <a:p>
            <a:pPr marL="274320" indent="0">
              <a:spcBef>
                <a:spcPts val="100"/>
              </a:spcBef>
              <a:buFontTx/>
              <a:buNone/>
            </a:pPr>
            <a:r>
              <a:rPr lang="en-US" sz="1800" dirty="0">
                <a:latin typeface="Consolas" pitchFamily="49" charset="0"/>
              </a:rPr>
              <a:t>    p(2, 5);</a:t>
            </a:r>
          </a:p>
          <a:p>
            <a:pPr marL="274320" indent="0">
              <a:spcBef>
                <a:spcPts val="100"/>
              </a:spcBef>
              <a:buFontTx/>
              <a:buNone/>
            </a:pPr>
            <a:r>
              <a:rPr lang="en-US" sz="1800" dirty="0">
                <a:latin typeface="Consolas" pitchFamily="49" charset="0"/>
              </a:rPr>
              <a:t>    ...</a:t>
            </a:r>
          </a:p>
          <a:p>
            <a:pPr marL="274320" indent="0">
              <a:spcBef>
                <a:spcPts val="100"/>
              </a:spcBef>
              <a:buFontTx/>
              <a:buNone/>
            </a:pPr>
            <a:r>
              <a:rPr lang="en-US" sz="1800" dirty="0">
                <a:latin typeface="Consolas" pitchFamily="49" charset="0"/>
              </a:rPr>
              <a:t>  }</a:t>
            </a:r>
          </a:p>
          <a:p>
            <a:pPr marL="274320" indent="0">
              <a:spcBef>
                <a:spcPts val="100"/>
              </a:spcBef>
              <a:buFontTx/>
              <a:buNone/>
            </a:pPr>
            <a:endParaRPr lang="en-US" sz="1800" dirty="0">
              <a:latin typeface="Consolas" pitchFamily="49"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2"/>
          <p:cNvSpPr>
            <a:spLocks noGrp="1"/>
          </p:cNvSpPr>
          <p:nvPr>
            <p:ph type="ftr" sz="quarter" idx="10"/>
          </p:nvPr>
        </p:nvSpPr>
        <p:spPr>
          <a:noFill/>
        </p:spPr>
        <p:txBody>
          <a:bodyPr/>
          <a:lstStyle/>
          <a:p>
            <a:r>
              <a:rPr lang="en-US"/>
              <a:t>©SoftMoore Consulting</a:t>
            </a:r>
          </a:p>
        </p:txBody>
      </p:sp>
      <p:sp>
        <p:nvSpPr>
          <p:cNvPr id="25603" name="Slide Number Placeholder 3"/>
          <p:cNvSpPr>
            <a:spLocks noGrp="1"/>
          </p:cNvSpPr>
          <p:nvPr>
            <p:ph type="sldNum" sz="quarter" idx="11"/>
          </p:nvPr>
        </p:nvSpPr>
        <p:spPr>
          <a:noFill/>
        </p:spPr>
        <p:txBody>
          <a:bodyPr/>
          <a:lstStyle/>
          <a:p>
            <a:r>
              <a:rPr lang="en-US"/>
              <a:t>Slide </a:t>
            </a:r>
            <a:fld id="{7402C915-0DFC-47EF-80DE-4DAB7CB87AF4}" type="slidenum">
              <a:rPr lang="en-US" smtClean="0"/>
              <a:pPr/>
              <a:t>37</a:t>
            </a:fld>
            <a:endParaRPr lang="en-US"/>
          </a:p>
        </p:txBody>
      </p:sp>
      <p:sp>
        <p:nvSpPr>
          <p:cNvPr id="25604" name="Rectangle 2"/>
          <p:cNvSpPr>
            <a:spLocks noGrp="1" noChangeArrowheads="1"/>
          </p:cNvSpPr>
          <p:nvPr>
            <p:ph type="title"/>
          </p:nvPr>
        </p:nvSpPr>
        <p:spPr/>
        <p:txBody>
          <a:bodyPr/>
          <a:lstStyle/>
          <a:p>
            <a:r>
              <a:rPr lang="en-US" dirty="0"/>
              <a:t>Activation Record for Procedure </a:t>
            </a:r>
            <a:r>
              <a:rPr lang="en-US" dirty="0">
                <a:latin typeface="Consolas" panose="020B0609020204030204" pitchFamily="49" charset="0"/>
              </a:rPr>
              <a:t>p()</a:t>
            </a:r>
          </a:p>
        </p:txBody>
      </p:sp>
      <p:sp>
        <p:nvSpPr>
          <p:cNvPr id="65" name="TextBox 64"/>
          <p:cNvSpPr txBox="1"/>
          <p:nvPr/>
        </p:nvSpPr>
        <p:spPr>
          <a:xfrm>
            <a:off x="3211801" y="1437658"/>
            <a:ext cx="492444" cy="461665"/>
          </a:xfrm>
          <a:prstGeom prst="rect">
            <a:avLst/>
          </a:prstGeom>
          <a:noFill/>
        </p:spPr>
        <p:txBody>
          <a:bodyPr wrap="none" rtlCol="0">
            <a:spAutoFit/>
          </a:bodyPr>
          <a:lstStyle/>
          <a:p>
            <a:r>
              <a:rPr lang="en-US" dirty="0"/>
              <a:t>…</a:t>
            </a:r>
          </a:p>
        </p:txBody>
      </p:sp>
      <p:grpSp>
        <p:nvGrpSpPr>
          <p:cNvPr id="4" name="Group 3"/>
          <p:cNvGrpSpPr/>
          <p:nvPr/>
        </p:nvGrpSpPr>
        <p:grpSpPr>
          <a:xfrm>
            <a:off x="1305196" y="1446520"/>
            <a:ext cx="6533608" cy="4573280"/>
            <a:chOff x="1295400" y="1418812"/>
            <a:chExt cx="6533608" cy="4573280"/>
          </a:xfrm>
        </p:grpSpPr>
        <p:sp>
          <p:nvSpPr>
            <p:cNvPr id="25605" name="Rectangle 4"/>
            <p:cNvSpPr>
              <a:spLocks noChangeArrowheads="1"/>
            </p:cNvSpPr>
            <p:nvPr/>
          </p:nvSpPr>
          <p:spPr bwMode="auto">
            <a:xfrm>
              <a:off x="2911475" y="1647825"/>
              <a:ext cx="1096962" cy="4295775"/>
            </a:xfrm>
            <a:prstGeom prst="rect">
              <a:avLst/>
            </a:prstGeom>
            <a:noFill/>
            <a:ln w="9525">
              <a:solidFill>
                <a:schemeClr val="tx1"/>
              </a:solidFill>
              <a:miter lim="800000"/>
              <a:headEnd/>
              <a:tailEnd/>
            </a:ln>
          </p:spPr>
          <p:txBody>
            <a:bodyPr wrap="none" lIns="92075" tIns="46038" rIns="92075" bIns="46038" anchor="ctr"/>
            <a:lstStyle/>
            <a:p>
              <a:endParaRPr lang="en-US" sz="1700" dirty="0"/>
            </a:p>
          </p:txBody>
        </p:sp>
        <p:sp>
          <p:nvSpPr>
            <p:cNvPr id="25606" name="Line 5"/>
            <p:cNvSpPr>
              <a:spLocks noChangeShapeType="1"/>
            </p:cNvSpPr>
            <p:nvPr/>
          </p:nvSpPr>
          <p:spPr bwMode="auto">
            <a:xfrm>
              <a:off x="2911475" y="1987550"/>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07" name="Line 6"/>
            <p:cNvSpPr>
              <a:spLocks noChangeShapeType="1"/>
            </p:cNvSpPr>
            <p:nvPr/>
          </p:nvSpPr>
          <p:spPr bwMode="auto">
            <a:xfrm>
              <a:off x="2911475" y="2151063"/>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08" name="Line 7"/>
            <p:cNvSpPr>
              <a:spLocks noChangeShapeType="1"/>
            </p:cNvSpPr>
            <p:nvPr/>
          </p:nvSpPr>
          <p:spPr bwMode="auto">
            <a:xfrm>
              <a:off x="2911475" y="1824038"/>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09" name="Line 8"/>
            <p:cNvSpPr>
              <a:spLocks noChangeShapeType="1"/>
            </p:cNvSpPr>
            <p:nvPr/>
          </p:nvSpPr>
          <p:spPr bwMode="auto">
            <a:xfrm>
              <a:off x="2911475" y="2316163"/>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10" name="Line 9"/>
            <p:cNvSpPr>
              <a:spLocks noChangeShapeType="1"/>
            </p:cNvSpPr>
            <p:nvPr/>
          </p:nvSpPr>
          <p:spPr bwMode="auto">
            <a:xfrm>
              <a:off x="2911475" y="2479675"/>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11" name="Line 10"/>
            <p:cNvSpPr>
              <a:spLocks noChangeShapeType="1"/>
            </p:cNvSpPr>
            <p:nvPr/>
          </p:nvSpPr>
          <p:spPr bwMode="auto">
            <a:xfrm>
              <a:off x="2911475" y="2644775"/>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12" name="Line 11"/>
            <p:cNvSpPr>
              <a:spLocks noChangeShapeType="1"/>
            </p:cNvSpPr>
            <p:nvPr/>
          </p:nvSpPr>
          <p:spPr bwMode="auto">
            <a:xfrm>
              <a:off x="2911475" y="2808288"/>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13" name="Line 12"/>
            <p:cNvSpPr>
              <a:spLocks noChangeShapeType="1"/>
            </p:cNvSpPr>
            <p:nvPr/>
          </p:nvSpPr>
          <p:spPr bwMode="auto">
            <a:xfrm>
              <a:off x="2911475" y="2973388"/>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14" name="Line 13"/>
            <p:cNvSpPr>
              <a:spLocks noChangeShapeType="1"/>
            </p:cNvSpPr>
            <p:nvPr/>
          </p:nvSpPr>
          <p:spPr bwMode="auto">
            <a:xfrm>
              <a:off x="2911475" y="3136900"/>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15" name="Line 14"/>
            <p:cNvSpPr>
              <a:spLocks noChangeShapeType="1"/>
            </p:cNvSpPr>
            <p:nvPr/>
          </p:nvSpPr>
          <p:spPr bwMode="auto">
            <a:xfrm>
              <a:off x="2911475" y="3302000"/>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16" name="Line 15"/>
            <p:cNvSpPr>
              <a:spLocks noChangeShapeType="1"/>
            </p:cNvSpPr>
            <p:nvPr/>
          </p:nvSpPr>
          <p:spPr bwMode="auto">
            <a:xfrm>
              <a:off x="2911475" y="3465513"/>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17" name="Line 16"/>
            <p:cNvSpPr>
              <a:spLocks noChangeShapeType="1"/>
            </p:cNvSpPr>
            <p:nvPr/>
          </p:nvSpPr>
          <p:spPr bwMode="auto">
            <a:xfrm>
              <a:off x="2911475" y="3630613"/>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18" name="Line 17"/>
            <p:cNvSpPr>
              <a:spLocks noChangeShapeType="1"/>
            </p:cNvSpPr>
            <p:nvPr/>
          </p:nvSpPr>
          <p:spPr bwMode="auto">
            <a:xfrm>
              <a:off x="2911475" y="3794125"/>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19" name="Line 18"/>
            <p:cNvSpPr>
              <a:spLocks noChangeShapeType="1"/>
            </p:cNvSpPr>
            <p:nvPr/>
          </p:nvSpPr>
          <p:spPr bwMode="auto">
            <a:xfrm>
              <a:off x="2911475" y="3957638"/>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20" name="Line 19"/>
            <p:cNvSpPr>
              <a:spLocks noChangeShapeType="1"/>
            </p:cNvSpPr>
            <p:nvPr/>
          </p:nvSpPr>
          <p:spPr bwMode="auto">
            <a:xfrm>
              <a:off x="2911475" y="4122738"/>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21" name="Line 20"/>
            <p:cNvSpPr>
              <a:spLocks noChangeShapeType="1"/>
            </p:cNvSpPr>
            <p:nvPr/>
          </p:nvSpPr>
          <p:spPr bwMode="auto">
            <a:xfrm>
              <a:off x="2911475" y="4286250"/>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22" name="Line 21"/>
            <p:cNvSpPr>
              <a:spLocks noChangeShapeType="1"/>
            </p:cNvSpPr>
            <p:nvPr/>
          </p:nvSpPr>
          <p:spPr bwMode="auto">
            <a:xfrm>
              <a:off x="2911475" y="4451350"/>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23" name="Line 22"/>
            <p:cNvSpPr>
              <a:spLocks noChangeShapeType="1"/>
            </p:cNvSpPr>
            <p:nvPr/>
          </p:nvSpPr>
          <p:spPr bwMode="auto">
            <a:xfrm>
              <a:off x="2911475" y="4614863"/>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24" name="Line 23"/>
            <p:cNvSpPr>
              <a:spLocks noChangeShapeType="1"/>
            </p:cNvSpPr>
            <p:nvPr/>
          </p:nvSpPr>
          <p:spPr bwMode="auto">
            <a:xfrm>
              <a:off x="2911475" y="4779963"/>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25" name="Line 24"/>
            <p:cNvSpPr>
              <a:spLocks noChangeShapeType="1"/>
            </p:cNvSpPr>
            <p:nvPr/>
          </p:nvSpPr>
          <p:spPr bwMode="auto">
            <a:xfrm>
              <a:off x="2911475" y="4943475"/>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26" name="Line 25"/>
            <p:cNvSpPr>
              <a:spLocks noChangeShapeType="1"/>
            </p:cNvSpPr>
            <p:nvPr/>
          </p:nvSpPr>
          <p:spPr bwMode="auto">
            <a:xfrm>
              <a:off x="2911475" y="5108575"/>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27" name="Line 26"/>
            <p:cNvSpPr>
              <a:spLocks noChangeShapeType="1"/>
            </p:cNvSpPr>
            <p:nvPr/>
          </p:nvSpPr>
          <p:spPr bwMode="auto">
            <a:xfrm>
              <a:off x="2911475" y="5272088"/>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28" name="Line 27"/>
            <p:cNvSpPr>
              <a:spLocks noChangeShapeType="1"/>
            </p:cNvSpPr>
            <p:nvPr/>
          </p:nvSpPr>
          <p:spPr bwMode="auto">
            <a:xfrm>
              <a:off x="2911475" y="5437188"/>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29" name="Line 28"/>
            <p:cNvSpPr>
              <a:spLocks noChangeShapeType="1"/>
            </p:cNvSpPr>
            <p:nvPr/>
          </p:nvSpPr>
          <p:spPr bwMode="auto">
            <a:xfrm>
              <a:off x="2911475" y="5600700"/>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30" name="Line 29"/>
            <p:cNvSpPr>
              <a:spLocks noChangeShapeType="1"/>
            </p:cNvSpPr>
            <p:nvPr/>
          </p:nvSpPr>
          <p:spPr bwMode="auto">
            <a:xfrm>
              <a:off x="2911475" y="5765800"/>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31" name="AutoShape 30"/>
            <p:cNvSpPr>
              <a:spLocks/>
            </p:cNvSpPr>
            <p:nvPr/>
          </p:nvSpPr>
          <p:spPr bwMode="auto">
            <a:xfrm>
              <a:off x="4103687" y="1847850"/>
              <a:ext cx="92075" cy="593725"/>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endParaRPr lang="en-US"/>
            </a:p>
          </p:txBody>
        </p:sp>
        <p:sp>
          <p:nvSpPr>
            <p:cNvPr id="25632" name="AutoShape 31"/>
            <p:cNvSpPr>
              <a:spLocks/>
            </p:cNvSpPr>
            <p:nvPr/>
          </p:nvSpPr>
          <p:spPr bwMode="auto">
            <a:xfrm>
              <a:off x="4103687" y="2505075"/>
              <a:ext cx="92075" cy="593725"/>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endParaRPr lang="en-US"/>
            </a:p>
          </p:txBody>
        </p:sp>
        <p:sp>
          <p:nvSpPr>
            <p:cNvPr id="25633" name="AutoShape 32"/>
            <p:cNvSpPr>
              <a:spLocks/>
            </p:cNvSpPr>
            <p:nvPr/>
          </p:nvSpPr>
          <p:spPr bwMode="auto">
            <a:xfrm>
              <a:off x="4103687" y="3162300"/>
              <a:ext cx="92075" cy="593725"/>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endParaRPr lang="en-US"/>
            </a:p>
          </p:txBody>
        </p:sp>
        <p:sp>
          <p:nvSpPr>
            <p:cNvPr id="25634" name="AutoShape 33"/>
            <p:cNvSpPr>
              <a:spLocks/>
            </p:cNvSpPr>
            <p:nvPr/>
          </p:nvSpPr>
          <p:spPr bwMode="auto">
            <a:xfrm>
              <a:off x="4102100" y="3821113"/>
              <a:ext cx="92075" cy="593725"/>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endParaRPr lang="en-US"/>
            </a:p>
          </p:txBody>
        </p:sp>
        <p:sp>
          <p:nvSpPr>
            <p:cNvPr id="25635" name="AutoShape 34"/>
            <p:cNvSpPr>
              <a:spLocks/>
            </p:cNvSpPr>
            <p:nvPr/>
          </p:nvSpPr>
          <p:spPr bwMode="auto">
            <a:xfrm>
              <a:off x="4102100" y="4473575"/>
              <a:ext cx="92075" cy="593725"/>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endParaRPr lang="en-US"/>
            </a:p>
          </p:txBody>
        </p:sp>
        <p:sp>
          <p:nvSpPr>
            <p:cNvPr id="25636" name="Text Box 36"/>
            <p:cNvSpPr txBox="1">
              <a:spLocks noChangeArrowheads="1"/>
            </p:cNvSpPr>
            <p:nvPr/>
          </p:nvSpPr>
          <p:spPr bwMode="auto">
            <a:xfrm>
              <a:off x="4243387" y="1960563"/>
              <a:ext cx="311150" cy="366712"/>
            </a:xfrm>
            <a:prstGeom prst="rect">
              <a:avLst/>
            </a:prstGeom>
            <a:noFill/>
            <a:ln w="9525">
              <a:noFill/>
              <a:miter lim="800000"/>
              <a:headEnd/>
              <a:tailEnd/>
            </a:ln>
          </p:spPr>
          <p:txBody>
            <a:bodyPr wrap="none" lIns="92075" tIns="46038" rIns="92075" bIns="46038">
              <a:spAutoFit/>
            </a:bodyPr>
            <a:lstStyle/>
            <a:p>
              <a:r>
                <a:rPr lang="en-US" sz="1800" dirty="0"/>
                <a:t>a</a:t>
              </a:r>
            </a:p>
          </p:txBody>
        </p:sp>
        <p:sp>
          <p:nvSpPr>
            <p:cNvPr id="25637" name="Text Box 37"/>
            <p:cNvSpPr txBox="1">
              <a:spLocks noChangeArrowheads="1"/>
            </p:cNvSpPr>
            <p:nvPr/>
          </p:nvSpPr>
          <p:spPr bwMode="auto">
            <a:xfrm>
              <a:off x="4243387" y="2616200"/>
              <a:ext cx="311150" cy="366713"/>
            </a:xfrm>
            <a:prstGeom prst="rect">
              <a:avLst/>
            </a:prstGeom>
            <a:noFill/>
            <a:ln w="9525">
              <a:noFill/>
              <a:miter lim="800000"/>
              <a:headEnd/>
              <a:tailEnd/>
            </a:ln>
          </p:spPr>
          <p:txBody>
            <a:bodyPr wrap="none" lIns="92075" tIns="46038" rIns="92075" bIns="46038">
              <a:spAutoFit/>
            </a:bodyPr>
            <a:lstStyle/>
            <a:p>
              <a:r>
                <a:rPr lang="en-US" sz="1800" dirty="0"/>
                <a:t>b</a:t>
              </a:r>
            </a:p>
          </p:txBody>
        </p:sp>
        <p:sp>
          <p:nvSpPr>
            <p:cNvPr id="25638" name="Text Box 39"/>
            <p:cNvSpPr txBox="1">
              <a:spLocks noChangeArrowheads="1"/>
            </p:cNvSpPr>
            <p:nvPr/>
          </p:nvSpPr>
          <p:spPr bwMode="auto">
            <a:xfrm>
              <a:off x="3003550" y="1873250"/>
              <a:ext cx="914400" cy="549275"/>
            </a:xfrm>
            <a:prstGeom prst="rect">
              <a:avLst/>
            </a:prstGeom>
            <a:solidFill>
              <a:schemeClr val="bg1"/>
            </a:solidFill>
            <a:ln w="9525">
              <a:noFill/>
              <a:miter lim="800000"/>
              <a:headEnd/>
              <a:tailEnd/>
            </a:ln>
          </p:spPr>
          <p:txBody>
            <a:bodyPr wrap="none" lIns="92075" tIns="46038" rIns="92075" bIns="46038" anchor="ctr"/>
            <a:lstStyle/>
            <a:p>
              <a:r>
                <a:rPr lang="en-US" sz="1700" dirty="0"/>
                <a:t>2</a:t>
              </a:r>
            </a:p>
          </p:txBody>
        </p:sp>
        <p:sp>
          <p:nvSpPr>
            <p:cNvPr id="25639" name="Text Box 40"/>
            <p:cNvSpPr txBox="1">
              <a:spLocks noChangeArrowheads="1"/>
            </p:cNvSpPr>
            <p:nvPr/>
          </p:nvSpPr>
          <p:spPr bwMode="auto">
            <a:xfrm>
              <a:off x="3003550" y="3830537"/>
              <a:ext cx="914400" cy="594360"/>
            </a:xfrm>
            <a:prstGeom prst="rect">
              <a:avLst/>
            </a:prstGeom>
            <a:solidFill>
              <a:schemeClr val="bg1"/>
            </a:solidFill>
            <a:ln w="9525">
              <a:noFill/>
              <a:miter lim="800000"/>
              <a:headEnd/>
              <a:tailEnd/>
            </a:ln>
          </p:spPr>
          <p:txBody>
            <a:bodyPr wrap="none" lIns="92075" tIns="46038" rIns="92075" bIns="46038"/>
            <a:lstStyle/>
            <a:p>
              <a:r>
                <a:rPr lang="en-US" sz="1700" dirty="0"/>
                <a:t>return</a:t>
              </a:r>
            </a:p>
            <a:p>
              <a:r>
                <a:rPr lang="en-US" sz="1700" dirty="0"/>
                <a:t>address</a:t>
              </a:r>
            </a:p>
          </p:txBody>
        </p:sp>
        <p:sp>
          <p:nvSpPr>
            <p:cNvPr id="25640" name="Text Box 41"/>
            <p:cNvSpPr txBox="1">
              <a:spLocks noChangeArrowheads="1"/>
            </p:cNvSpPr>
            <p:nvPr/>
          </p:nvSpPr>
          <p:spPr bwMode="auto">
            <a:xfrm>
              <a:off x="4243387" y="4586288"/>
              <a:ext cx="311150" cy="368300"/>
            </a:xfrm>
            <a:prstGeom prst="rect">
              <a:avLst/>
            </a:prstGeom>
            <a:noFill/>
            <a:ln w="9525">
              <a:noFill/>
              <a:miter lim="800000"/>
              <a:headEnd/>
              <a:tailEnd/>
            </a:ln>
          </p:spPr>
          <p:txBody>
            <a:bodyPr wrap="none" lIns="92075" tIns="46038" rIns="92075" bIns="46038">
              <a:spAutoFit/>
            </a:bodyPr>
            <a:lstStyle/>
            <a:p>
              <a:r>
                <a:rPr lang="en-US" sz="1800" dirty="0"/>
                <a:t>n</a:t>
              </a:r>
            </a:p>
          </p:txBody>
        </p:sp>
        <p:sp>
          <p:nvSpPr>
            <p:cNvPr id="25641" name="Text Box 42"/>
            <p:cNvSpPr txBox="1">
              <a:spLocks noChangeArrowheads="1"/>
            </p:cNvSpPr>
            <p:nvPr/>
          </p:nvSpPr>
          <p:spPr bwMode="auto">
            <a:xfrm>
              <a:off x="2454275" y="1731963"/>
              <a:ext cx="387350" cy="366712"/>
            </a:xfrm>
            <a:prstGeom prst="rect">
              <a:avLst/>
            </a:prstGeom>
            <a:noFill/>
            <a:ln w="9525">
              <a:noFill/>
              <a:miter lim="800000"/>
              <a:headEnd/>
              <a:tailEnd/>
            </a:ln>
          </p:spPr>
          <p:txBody>
            <a:bodyPr wrap="none" lIns="92075" tIns="46038" rIns="92075" bIns="46038">
              <a:spAutoFit/>
            </a:bodyPr>
            <a:lstStyle/>
            <a:p>
              <a:r>
                <a:rPr lang="en-US" sz="1800" dirty="0"/>
                <a:t>-8</a:t>
              </a:r>
            </a:p>
          </p:txBody>
        </p:sp>
        <p:sp>
          <p:nvSpPr>
            <p:cNvPr id="25642" name="Text Box 43"/>
            <p:cNvSpPr txBox="1">
              <a:spLocks noChangeArrowheads="1"/>
            </p:cNvSpPr>
            <p:nvPr/>
          </p:nvSpPr>
          <p:spPr bwMode="auto">
            <a:xfrm>
              <a:off x="2454275" y="2378075"/>
              <a:ext cx="387350" cy="366713"/>
            </a:xfrm>
            <a:prstGeom prst="rect">
              <a:avLst/>
            </a:prstGeom>
            <a:noFill/>
            <a:ln w="9525">
              <a:noFill/>
              <a:miter lim="800000"/>
              <a:headEnd/>
              <a:tailEnd/>
            </a:ln>
          </p:spPr>
          <p:txBody>
            <a:bodyPr wrap="none" lIns="92075" tIns="46038" rIns="92075" bIns="46038">
              <a:spAutoFit/>
            </a:bodyPr>
            <a:lstStyle/>
            <a:p>
              <a:r>
                <a:rPr lang="en-US" sz="1800"/>
                <a:t>-4</a:t>
              </a:r>
            </a:p>
          </p:txBody>
        </p:sp>
        <p:sp>
          <p:nvSpPr>
            <p:cNvPr id="25643" name="Text Box 44"/>
            <p:cNvSpPr txBox="1">
              <a:spLocks noChangeArrowheads="1"/>
            </p:cNvSpPr>
            <p:nvPr/>
          </p:nvSpPr>
          <p:spPr bwMode="auto">
            <a:xfrm>
              <a:off x="2530475" y="3033713"/>
              <a:ext cx="311150" cy="366712"/>
            </a:xfrm>
            <a:prstGeom prst="rect">
              <a:avLst/>
            </a:prstGeom>
            <a:noFill/>
            <a:ln w="9525">
              <a:noFill/>
              <a:miter lim="800000"/>
              <a:headEnd/>
              <a:tailEnd/>
            </a:ln>
          </p:spPr>
          <p:txBody>
            <a:bodyPr wrap="none" lIns="92075" tIns="46038" rIns="92075" bIns="46038">
              <a:spAutoFit/>
            </a:bodyPr>
            <a:lstStyle/>
            <a:p>
              <a:r>
                <a:rPr lang="en-US" sz="1800" dirty="0"/>
                <a:t>0</a:t>
              </a:r>
            </a:p>
          </p:txBody>
        </p:sp>
        <p:sp>
          <p:nvSpPr>
            <p:cNvPr id="25644" name="Text Box 45"/>
            <p:cNvSpPr txBox="1">
              <a:spLocks noChangeArrowheads="1"/>
            </p:cNvSpPr>
            <p:nvPr/>
          </p:nvSpPr>
          <p:spPr bwMode="auto">
            <a:xfrm>
              <a:off x="2530475" y="3687763"/>
              <a:ext cx="311150" cy="366712"/>
            </a:xfrm>
            <a:prstGeom prst="rect">
              <a:avLst/>
            </a:prstGeom>
            <a:noFill/>
            <a:ln w="9525">
              <a:noFill/>
              <a:miter lim="800000"/>
              <a:headEnd/>
              <a:tailEnd/>
            </a:ln>
          </p:spPr>
          <p:txBody>
            <a:bodyPr wrap="none" lIns="92075" tIns="46038" rIns="92075" bIns="46038">
              <a:spAutoFit/>
            </a:bodyPr>
            <a:lstStyle/>
            <a:p>
              <a:r>
                <a:rPr lang="en-US" sz="1800"/>
                <a:t>4</a:t>
              </a:r>
            </a:p>
          </p:txBody>
        </p:sp>
        <p:sp>
          <p:nvSpPr>
            <p:cNvPr id="25645" name="Text Box 46"/>
            <p:cNvSpPr txBox="1">
              <a:spLocks noChangeArrowheads="1"/>
            </p:cNvSpPr>
            <p:nvPr/>
          </p:nvSpPr>
          <p:spPr bwMode="auto">
            <a:xfrm>
              <a:off x="2530475" y="4352925"/>
              <a:ext cx="311150" cy="366713"/>
            </a:xfrm>
            <a:prstGeom prst="rect">
              <a:avLst/>
            </a:prstGeom>
            <a:noFill/>
            <a:ln w="9525">
              <a:noFill/>
              <a:miter lim="800000"/>
              <a:headEnd/>
              <a:tailEnd/>
            </a:ln>
          </p:spPr>
          <p:txBody>
            <a:bodyPr wrap="none" lIns="92075" tIns="46038" rIns="92075" bIns="46038">
              <a:spAutoFit/>
            </a:bodyPr>
            <a:lstStyle/>
            <a:p>
              <a:r>
                <a:rPr lang="en-US" sz="1800"/>
                <a:t>8</a:t>
              </a:r>
            </a:p>
          </p:txBody>
        </p:sp>
        <p:sp>
          <p:nvSpPr>
            <p:cNvPr id="25646" name="Text Box 47"/>
            <p:cNvSpPr txBox="1">
              <a:spLocks noChangeArrowheads="1"/>
            </p:cNvSpPr>
            <p:nvPr/>
          </p:nvSpPr>
          <p:spPr bwMode="auto">
            <a:xfrm>
              <a:off x="2403475" y="4999038"/>
              <a:ext cx="438150" cy="366712"/>
            </a:xfrm>
            <a:prstGeom prst="rect">
              <a:avLst/>
            </a:prstGeom>
            <a:noFill/>
            <a:ln w="9525">
              <a:noFill/>
              <a:miter lim="800000"/>
              <a:headEnd/>
              <a:tailEnd/>
            </a:ln>
          </p:spPr>
          <p:txBody>
            <a:bodyPr wrap="none" lIns="92075" tIns="46038" rIns="92075" bIns="46038">
              <a:spAutoFit/>
            </a:bodyPr>
            <a:lstStyle/>
            <a:p>
              <a:r>
                <a:rPr lang="en-US" sz="1800"/>
                <a:t>12</a:t>
              </a:r>
            </a:p>
          </p:txBody>
        </p:sp>
        <p:sp>
          <p:nvSpPr>
            <p:cNvPr id="25647" name="Text Box 48"/>
            <p:cNvSpPr txBox="1">
              <a:spLocks noChangeArrowheads="1"/>
            </p:cNvSpPr>
            <p:nvPr/>
          </p:nvSpPr>
          <p:spPr bwMode="auto">
            <a:xfrm>
              <a:off x="1295400" y="2720975"/>
              <a:ext cx="1087437" cy="1006475"/>
            </a:xfrm>
            <a:prstGeom prst="rect">
              <a:avLst/>
            </a:prstGeom>
            <a:noFill/>
            <a:ln w="9525">
              <a:noFill/>
              <a:miter lim="800000"/>
              <a:headEnd/>
              <a:tailEnd/>
            </a:ln>
          </p:spPr>
          <p:txBody>
            <a:bodyPr wrap="none" lIns="92075" tIns="46038" rIns="92075" bIns="46038">
              <a:spAutoFit/>
            </a:bodyPr>
            <a:lstStyle/>
            <a:p>
              <a:r>
                <a:rPr lang="en-US" sz="2000" dirty="0"/>
                <a:t>address</a:t>
              </a:r>
            </a:p>
            <a:p>
              <a:r>
                <a:rPr lang="en-US" sz="2000" dirty="0"/>
                <a:t>relative</a:t>
              </a:r>
            </a:p>
            <a:p>
              <a:r>
                <a:rPr lang="en-US" sz="2000" dirty="0"/>
                <a:t>to BP</a:t>
              </a:r>
            </a:p>
          </p:txBody>
        </p:sp>
        <p:sp>
          <p:nvSpPr>
            <p:cNvPr id="25648" name="AutoShape 50"/>
            <p:cNvSpPr>
              <a:spLocks/>
            </p:cNvSpPr>
            <p:nvPr/>
          </p:nvSpPr>
          <p:spPr bwMode="auto">
            <a:xfrm>
              <a:off x="5266531" y="1828800"/>
              <a:ext cx="92075" cy="1279525"/>
            </a:xfrm>
            <a:prstGeom prst="rightBrace">
              <a:avLst>
                <a:gd name="adj1" fmla="val 115805"/>
                <a:gd name="adj2" fmla="val 50000"/>
              </a:avLst>
            </a:prstGeom>
            <a:noFill/>
            <a:ln w="9525">
              <a:solidFill>
                <a:schemeClr val="tx1"/>
              </a:solidFill>
              <a:round/>
              <a:headEnd/>
              <a:tailEnd/>
            </a:ln>
          </p:spPr>
          <p:txBody>
            <a:bodyPr wrap="none" lIns="92075" tIns="46038" rIns="92075" bIns="46038" anchor="ctr"/>
            <a:lstStyle/>
            <a:p>
              <a:endParaRPr lang="en-US"/>
            </a:p>
          </p:txBody>
        </p:sp>
        <p:sp>
          <p:nvSpPr>
            <p:cNvPr id="25649" name="AutoShape 51"/>
            <p:cNvSpPr>
              <a:spLocks/>
            </p:cNvSpPr>
            <p:nvPr/>
          </p:nvSpPr>
          <p:spPr bwMode="auto">
            <a:xfrm>
              <a:off x="5266531" y="4474826"/>
              <a:ext cx="92075" cy="593725"/>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endParaRPr lang="en-US"/>
            </a:p>
          </p:txBody>
        </p:sp>
        <p:sp>
          <p:nvSpPr>
            <p:cNvPr id="25650" name="AutoShape 52"/>
            <p:cNvSpPr>
              <a:spLocks/>
            </p:cNvSpPr>
            <p:nvPr/>
          </p:nvSpPr>
          <p:spPr bwMode="auto">
            <a:xfrm>
              <a:off x="5266531" y="3151813"/>
              <a:ext cx="92075" cy="1279525"/>
            </a:xfrm>
            <a:prstGeom prst="rightBrace">
              <a:avLst>
                <a:gd name="adj1" fmla="val 173643"/>
                <a:gd name="adj2" fmla="val 50000"/>
              </a:avLst>
            </a:prstGeom>
            <a:noFill/>
            <a:ln w="9525">
              <a:solidFill>
                <a:schemeClr val="tx1"/>
              </a:solidFill>
              <a:round/>
              <a:headEnd/>
              <a:tailEnd/>
            </a:ln>
          </p:spPr>
          <p:txBody>
            <a:bodyPr wrap="none" lIns="92075" tIns="46038" rIns="92075" bIns="46038" anchor="ctr"/>
            <a:lstStyle/>
            <a:p>
              <a:endParaRPr lang="en-US"/>
            </a:p>
          </p:txBody>
        </p:sp>
        <p:sp>
          <p:nvSpPr>
            <p:cNvPr id="25651" name="Text Box 53"/>
            <p:cNvSpPr txBox="1">
              <a:spLocks noChangeArrowheads="1"/>
            </p:cNvSpPr>
            <p:nvPr/>
          </p:nvSpPr>
          <p:spPr bwMode="auto">
            <a:xfrm>
              <a:off x="5422900" y="2268186"/>
              <a:ext cx="1864293" cy="400752"/>
            </a:xfrm>
            <a:prstGeom prst="rect">
              <a:avLst/>
            </a:prstGeom>
            <a:noFill/>
            <a:ln w="9525">
              <a:noFill/>
              <a:miter lim="800000"/>
              <a:headEnd/>
              <a:tailEnd/>
            </a:ln>
          </p:spPr>
          <p:txBody>
            <a:bodyPr wrap="none" lIns="92075" tIns="46038" rIns="92075" bIns="46038">
              <a:spAutoFit/>
            </a:bodyPr>
            <a:lstStyle/>
            <a:p>
              <a:pPr algn="l"/>
              <a:r>
                <a:rPr lang="en-US" sz="2000" dirty="0"/>
                <a:t>parameter part</a:t>
              </a:r>
            </a:p>
          </p:txBody>
        </p:sp>
        <p:sp>
          <p:nvSpPr>
            <p:cNvPr id="25652" name="Text Box 55"/>
            <p:cNvSpPr txBox="1">
              <a:spLocks noChangeArrowheads="1"/>
            </p:cNvSpPr>
            <p:nvPr/>
          </p:nvSpPr>
          <p:spPr bwMode="auto">
            <a:xfrm>
              <a:off x="5422900" y="3612799"/>
              <a:ext cx="1522853" cy="400752"/>
            </a:xfrm>
            <a:prstGeom prst="rect">
              <a:avLst/>
            </a:prstGeom>
            <a:noFill/>
            <a:ln w="9525">
              <a:noFill/>
              <a:miter lim="800000"/>
              <a:headEnd/>
              <a:tailEnd/>
            </a:ln>
          </p:spPr>
          <p:txBody>
            <a:bodyPr wrap="none" lIns="92075" tIns="46038" rIns="92075" bIns="46038">
              <a:spAutoFit/>
            </a:bodyPr>
            <a:lstStyle/>
            <a:p>
              <a:pPr algn="l"/>
              <a:r>
                <a:rPr lang="en-US" sz="2000" dirty="0"/>
                <a:t>context part</a:t>
              </a:r>
            </a:p>
          </p:txBody>
        </p:sp>
        <p:sp>
          <p:nvSpPr>
            <p:cNvPr id="25653" name="Text Box 56"/>
            <p:cNvSpPr txBox="1">
              <a:spLocks noChangeArrowheads="1"/>
            </p:cNvSpPr>
            <p:nvPr/>
          </p:nvSpPr>
          <p:spPr bwMode="auto">
            <a:xfrm>
              <a:off x="5422900" y="4570061"/>
              <a:ext cx="2196114" cy="400752"/>
            </a:xfrm>
            <a:prstGeom prst="rect">
              <a:avLst/>
            </a:prstGeom>
            <a:noFill/>
            <a:ln w="9525">
              <a:noFill/>
              <a:miter lim="800000"/>
              <a:headEnd/>
              <a:tailEnd/>
            </a:ln>
          </p:spPr>
          <p:txBody>
            <a:bodyPr wrap="none" lIns="92075" tIns="46038" rIns="92075" bIns="46038">
              <a:spAutoFit/>
            </a:bodyPr>
            <a:lstStyle/>
            <a:p>
              <a:pPr algn="l"/>
              <a:r>
                <a:rPr lang="en-US" sz="2000" dirty="0"/>
                <a:t>local variable part</a:t>
              </a:r>
            </a:p>
          </p:txBody>
        </p:sp>
        <p:sp>
          <p:nvSpPr>
            <p:cNvPr id="25654" name="Rectangle 57"/>
            <p:cNvSpPr>
              <a:spLocks noChangeArrowheads="1"/>
            </p:cNvSpPr>
            <p:nvPr/>
          </p:nvSpPr>
          <p:spPr bwMode="auto">
            <a:xfrm>
              <a:off x="4656149" y="3058111"/>
              <a:ext cx="457177" cy="338554"/>
            </a:xfrm>
            <a:prstGeom prst="rect">
              <a:avLst/>
            </a:prstGeom>
            <a:noFill/>
            <a:ln w="9525">
              <a:solidFill>
                <a:schemeClr val="tx1"/>
              </a:solidFill>
              <a:miter lim="800000"/>
              <a:headEnd/>
              <a:tailEnd/>
            </a:ln>
          </p:spPr>
          <p:txBody>
            <a:bodyPr wrap="none" anchor="ctr">
              <a:spAutoFit/>
            </a:bodyPr>
            <a:lstStyle/>
            <a:p>
              <a:pPr eaLnBrk="1" hangingPunct="1"/>
              <a:r>
                <a:rPr lang="en-US" sz="1600" dirty="0"/>
                <a:t>BP</a:t>
              </a:r>
            </a:p>
          </p:txBody>
        </p:sp>
        <p:sp>
          <p:nvSpPr>
            <p:cNvPr id="25655" name="AutoShape 58"/>
            <p:cNvSpPr>
              <a:spLocks noChangeArrowheads="1"/>
            </p:cNvSpPr>
            <p:nvPr/>
          </p:nvSpPr>
          <p:spPr bwMode="auto">
            <a:xfrm>
              <a:off x="3983037" y="3108325"/>
              <a:ext cx="182563" cy="182563"/>
            </a:xfrm>
            <a:prstGeom prst="diamond">
              <a:avLst/>
            </a:prstGeom>
            <a:noFill/>
            <a:ln w="9525">
              <a:noFill/>
              <a:miter lim="800000"/>
              <a:headEnd/>
              <a:tailEnd/>
            </a:ln>
          </p:spPr>
          <p:txBody>
            <a:bodyPr wrap="none" anchor="ctr"/>
            <a:lstStyle/>
            <a:p>
              <a:endParaRPr lang="en-US"/>
            </a:p>
          </p:txBody>
        </p:sp>
        <p:cxnSp>
          <p:nvCxnSpPr>
            <p:cNvPr id="25656" name="AutoShape 59"/>
            <p:cNvCxnSpPr>
              <a:cxnSpLocks noChangeShapeType="1"/>
              <a:stCxn id="25654" idx="1"/>
            </p:cNvCxnSpPr>
            <p:nvPr/>
          </p:nvCxnSpPr>
          <p:spPr bwMode="auto">
            <a:xfrm flipH="1">
              <a:off x="4165601" y="3227388"/>
              <a:ext cx="490548" cy="0"/>
            </a:xfrm>
            <a:prstGeom prst="straightConnector1">
              <a:avLst/>
            </a:prstGeom>
            <a:noFill/>
            <a:ln w="9525">
              <a:solidFill>
                <a:schemeClr val="tx1"/>
              </a:solidFill>
              <a:round/>
              <a:headEnd/>
              <a:tailEnd type="triangle" w="med" len="med"/>
            </a:ln>
          </p:spPr>
        </p:cxnSp>
        <p:sp>
          <p:nvSpPr>
            <p:cNvPr id="25657" name="Rectangle 62"/>
            <p:cNvSpPr>
              <a:spLocks noChangeArrowheads="1"/>
            </p:cNvSpPr>
            <p:nvPr/>
          </p:nvSpPr>
          <p:spPr bwMode="auto">
            <a:xfrm>
              <a:off x="4676787" y="4855161"/>
              <a:ext cx="457177" cy="338554"/>
            </a:xfrm>
            <a:prstGeom prst="rect">
              <a:avLst/>
            </a:prstGeom>
            <a:noFill/>
            <a:ln w="9525">
              <a:solidFill>
                <a:schemeClr val="tx1"/>
              </a:solidFill>
              <a:miter lim="800000"/>
              <a:headEnd/>
              <a:tailEnd/>
            </a:ln>
          </p:spPr>
          <p:txBody>
            <a:bodyPr wrap="none" anchor="ctr">
              <a:spAutoFit/>
            </a:bodyPr>
            <a:lstStyle/>
            <a:p>
              <a:pPr eaLnBrk="1" hangingPunct="1"/>
              <a:r>
                <a:rPr lang="en-US" sz="1600" dirty="0"/>
                <a:t>SP</a:t>
              </a:r>
            </a:p>
          </p:txBody>
        </p:sp>
        <p:sp>
          <p:nvSpPr>
            <p:cNvPr id="25658" name="AutoShape 63"/>
            <p:cNvSpPr>
              <a:spLocks noChangeArrowheads="1"/>
            </p:cNvSpPr>
            <p:nvPr/>
          </p:nvSpPr>
          <p:spPr bwMode="auto">
            <a:xfrm>
              <a:off x="4003675" y="4932363"/>
              <a:ext cx="182562" cy="182562"/>
            </a:xfrm>
            <a:prstGeom prst="diamond">
              <a:avLst/>
            </a:prstGeom>
            <a:noFill/>
            <a:ln w="9525">
              <a:noFill/>
              <a:miter lim="800000"/>
              <a:headEnd/>
              <a:tailEnd/>
            </a:ln>
          </p:spPr>
          <p:txBody>
            <a:bodyPr wrap="none" anchor="ctr"/>
            <a:lstStyle/>
            <a:p>
              <a:endParaRPr lang="en-US"/>
            </a:p>
          </p:txBody>
        </p:sp>
        <p:cxnSp>
          <p:nvCxnSpPr>
            <p:cNvPr id="25659" name="AutoShape 64"/>
            <p:cNvCxnSpPr>
              <a:cxnSpLocks noChangeShapeType="1"/>
              <a:stCxn id="25657" idx="1"/>
            </p:cNvCxnSpPr>
            <p:nvPr/>
          </p:nvCxnSpPr>
          <p:spPr bwMode="auto">
            <a:xfrm flipH="1">
              <a:off x="4186237" y="5024438"/>
              <a:ext cx="490550" cy="0"/>
            </a:xfrm>
            <a:prstGeom prst="straightConnector1">
              <a:avLst/>
            </a:prstGeom>
            <a:noFill/>
            <a:ln w="9525">
              <a:solidFill>
                <a:schemeClr val="tx1"/>
              </a:solidFill>
              <a:round/>
              <a:headEnd/>
              <a:tailEnd type="triangle" w="med" len="med"/>
            </a:ln>
          </p:spPr>
        </p:cxnSp>
        <p:sp>
          <p:nvSpPr>
            <p:cNvPr id="25660" name="Text Box 39"/>
            <p:cNvSpPr txBox="1">
              <a:spLocks noChangeArrowheads="1"/>
            </p:cNvSpPr>
            <p:nvPr/>
          </p:nvSpPr>
          <p:spPr bwMode="auto">
            <a:xfrm>
              <a:off x="3003550" y="2530475"/>
              <a:ext cx="914400" cy="549275"/>
            </a:xfrm>
            <a:prstGeom prst="rect">
              <a:avLst/>
            </a:prstGeom>
            <a:solidFill>
              <a:schemeClr val="bg1"/>
            </a:solidFill>
            <a:ln w="9525">
              <a:noFill/>
              <a:miter lim="800000"/>
              <a:headEnd/>
              <a:tailEnd/>
            </a:ln>
          </p:spPr>
          <p:txBody>
            <a:bodyPr wrap="none" lIns="92075" tIns="46038" rIns="92075" bIns="46038" anchor="ctr"/>
            <a:lstStyle/>
            <a:p>
              <a:r>
                <a:rPr lang="en-US" sz="1700" dirty="0"/>
                <a:t>5</a:t>
              </a:r>
            </a:p>
          </p:txBody>
        </p:sp>
        <p:sp>
          <p:nvSpPr>
            <p:cNvPr id="25661" name="Text Box 39"/>
            <p:cNvSpPr txBox="1">
              <a:spLocks noChangeArrowheads="1"/>
            </p:cNvSpPr>
            <p:nvPr/>
          </p:nvSpPr>
          <p:spPr bwMode="auto">
            <a:xfrm>
              <a:off x="2961415" y="3165275"/>
              <a:ext cx="998671" cy="594360"/>
            </a:xfrm>
            <a:prstGeom prst="rect">
              <a:avLst/>
            </a:prstGeom>
            <a:solidFill>
              <a:schemeClr val="bg1"/>
            </a:solidFill>
            <a:ln w="9525">
              <a:noFill/>
              <a:miter lim="800000"/>
              <a:headEnd/>
              <a:tailEnd/>
            </a:ln>
          </p:spPr>
          <p:txBody>
            <a:bodyPr wrap="none" lIns="92075" tIns="46038" rIns="92075" bIns="46038">
              <a:spAutoFit/>
            </a:bodyPr>
            <a:lstStyle/>
            <a:p>
              <a:r>
                <a:rPr lang="en-US" sz="1700" dirty="0"/>
                <a:t>dynamic</a:t>
              </a:r>
            </a:p>
            <a:p>
              <a:r>
                <a:rPr lang="en-US" sz="1700" dirty="0"/>
                <a:t>link</a:t>
              </a:r>
            </a:p>
          </p:txBody>
        </p:sp>
        <p:sp>
          <p:nvSpPr>
            <p:cNvPr id="62" name="AutoShape 51"/>
            <p:cNvSpPr>
              <a:spLocks/>
            </p:cNvSpPr>
            <p:nvPr/>
          </p:nvSpPr>
          <p:spPr bwMode="auto">
            <a:xfrm>
              <a:off x="5266531" y="5112038"/>
              <a:ext cx="92075" cy="822960"/>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endParaRPr lang="en-US"/>
            </a:p>
          </p:txBody>
        </p:sp>
        <p:sp>
          <p:nvSpPr>
            <p:cNvPr id="63" name="Text Box 56"/>
            <p:cNvSpPr txBox="1">
              <a:spLocks noChangeArrowheads="1"/>
            </p:cNvSpPr>
            <p:nvPr/>
          </p:nvSpPr>
          <p:spPr bwMode="auto">
            <a:xfrm>
              <a:off x="5422900" y="5323142"/>
              <a:ext cx="1849865" cy="400752"/>
            </a:xfrm>
            <a:prstGeom prst="rect">
              <a:avLst/>
            </a:prstGeom>
            <a:noFill/>
            <a:ln w="9525">
              <a:noFill/>
              <a:miter lim="800000"/>
              <a:headEnd/>
              <a:tailEnd/>
            </a:ln>
          </p:spPr>
          <p:txBody>
            <a:bodyPr wrap="none" lIns="92075" tIns="46038" rIns="92075" bIns="46038">
              <a:spAutoFit/>
            </a:bodyPr>
            <a:lstStyle/>
            <a:p>
              <a:pPr algn="l"/>
              <a:r>
                <a:rPr lang="en-US" sz="2000" dirty="0"/>
                <a:t>temporary part</a:t>
              </a:r>
            </a:p>
          </p:txBody>
        </p:sp>
        <p:sp>
          <p:nvSpPr>
            <p:cNvPr id="2" name="TextBox 1"/>
            <p:cNvSpPr txBox="1"/>
            <p:nvPr/>
          </p:nvSpPr>
          <p:spPr>
            <a:xfrm>
              <a:off x="3213734" y="5530427"/>
              <a:ext cx="492444" cy="461665"/>
            </a:xfrm>
            <a:prstGeom prst="rect">
              <a:avLst/>
            </a:prstGeom>
            <a:noFill/>
          </p:spPr>
          <p:txBody>
            <a:bodyPr wrap="none" rtlCol="0">
              <a:spAutoFit/>
            </a:bodyPr>
            <a:lstStyle/>
            <a:p>
              <a:r>
                <a:rPr lang="en-US" dirty="0"/>
                <a:t>…</a:t>
              </a:r>
            </a:p>
          </p:txBody>
        </p:sp>
        <p:sp>
          <p:nvSpPr>
            <p:cNvPr id="66" name="Text Box 53"/>
            <p:cNvSpPr txBox="1">
              <a:spLocks noChangeArrowheads="1"/>
            </p:cNvSpPr>
            <p:nvPr/>
          </p:nvSpPr>
          <p:spPr bwMode="auto">
            <a:xfrm>
              <a:off x="5422900" y="1418812"/>
              <a:ext cx="2406108" cy="400752"/>
            </a:xfrm>
            <a:prstGeom prst="rect">
              <a:avLst/>
            </a:prstGeom>
            <a:noFill/>
            <a:ln w="9525">
              <a:noFill/>
              <a:miter lim="800000"/>
              <a:headEnd/>
              <a:tailEnd/>
            </a:ln>
          </p:spPr>
          <p:txBody>
            <a:bodyPr wrap="none" lIns="92075" tIns="46038" rIns="92075" bIns="46038">
              <a:spAutoFit/>
            </a:bodyPr>
            <a:lstStyle/>
            <a:p>
              <a:pPr algn="l"/>
              <a:r>
                <a:rPr lang="en-US" sz="2000" dirty="0"/>
                <a:t>no return value part</a:t>
              </a: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Supporting Recursion</a:t>
            </a:r>
          </a:p>
        </p:txBody>
      </p:sp>
      <p:sp>
        <p:nvSpPr>
          <p:cNvPr id="6" name="Content Placeholder 5"/>
          <p:cNvSpPr>
            <a:spLocks noGrp="1"/>
          </p:cNvSpPr>
          <p:nvPr>
            <p:ph idx="1"/>
          </p:nvPr>
        </p:nvSpPr>
        <p:spPr/>
        <p:txBody>
          <a:bodyPr/>
          <a:lstStyle/>
          <a:p>
            <a:r>
              <a:rPr lang="en-US" dirty="0"/>
              <a:t>Since a new activation record is created every time a subprogram is called, CPRL supports recursive calls.</a:t>
            </a:r>
          </a:p>
          <a:p>
            <a:r>
              <a:rPr lang="en-US" dirty="0"/>
              <a:t>To illustrate, suppose that </a:t>
            </a:r>
            <a:r>
              <a:rPr lang="en-US" sz="2300" dirty="0">
                <a:latin typeface="Consolas" panose="020B0609020204030204" pitchFamily="49" charset="0"/>
              </a:rPr>
              <a:t>main()</a:t>
            </a:r>
            <a:r>
              <a:rPr lang="en-US" dirty="0"/>
              <a:t> calls procedure </a:t>
            </a:r>
            <a:r>
              <a:rPr lang="en-US" sz="2300" dirty="0">
                <a:latin typeface="Consolas" panose="020B0609020204030204" pitchFamily="49" charset="0"/>
              </a:rPr>
              <a:t>p()</a:t>
            </a:r>
            <a:r>
              <a:rPr lang="en-US" dirty="0"/>
              <a:t>, and then </a:t>
            </a:r>
            <a:r>
              <a:rPr lang="en-US" sz="2300" dirty="0">
                <a:latin typeface="Consolas" panose="020B0609020204030204" pitchFamily="49" charset="0"/>
              </a:rPr>
              <a:t>p()</a:t>
            </a:r>
            <a:r>
              <a:rPr lang="en-US" dirty="0"/>
              <a:t> makes a recursive call to itself.  </a:t>
            </a:r>
            <a:r>
              <a:rPr lang="en-US" b="1" dirty="0"/>
              <a:t>Each call to </a:t>
            </a:r>
            <a:r>
              <a:rPr lang="en-US" sz="2300" b="1" dirty="0">
                <a:latin typeface="Consolas" panose="020B0609020204030204" pitchFamily="49" charset="0"/>
              </a:rPr>
              <a:t>p()</a:t>
            </a:r>
            <a:r>
              <a:rPr lang="en-US" b="1" dirty="0"/>
              <a:t> has its own activation record</a:t>
            </a:r>
            <a:r>
              <a:rPr lang="en-US" dirty="0"/>
              <a:t>, which means each call has its own copy of parameters, locally declared variables, etc.</a:t>
            </a:r>
          </a:p>
          <a:p>
            <a:r>
              <a:rPr lang="en-US" dirty="0"/>
              <a:t>The diagram on the next page illustrates this situation.</a:t>
            </a:r>
          </a:p>
        </p:txBody>
      </p:sp>
      <p:sp>
        <p:nvSpPr>
          <p:cNvPr id="3" name="Footer Placeholder 2"/>
          <p:cNvSpPr>
            <a:spLocks noGrp="1"/>
          </p:cNvSpPr>
          <p:nvPr>
            <p:ph type="ftr" sz="quarter" idx="10"/>
          </p:nvPr>
        </p:nvSpPr>
        <p:spPr/>
        <p:txBody>
          <a:bodyPr/>
          <a:lstStyle/>
          <a:p>
            <a:pPr>
              <a:defRPr/>
            </a:pPr>
            <a:r>
              <a:rPr lang="en-US"/>
              <a:t>©SoftMoore Consulting</a:t>
            </a:r>
          </a:p>
        </p:txBody>
      </p:sp>
      <p:sp>
        <p:nvSpPr>
          <p:cNvPr id="4" name="Slide Number Placeholder 3"/>
          <p:cNvSpPr>
            <a:spLocks noGrp="1"/>
          </p:cNvSpPr>
          <p:nvPr>
            <p:ph type="sldNum" sz="quarter" idx="11"/>
          </p:nvPr>
        </p:nvSpPr>
        <p:spPr/>
        <p:txBody>
          <a:bodyPr/>
          <a:lstStyle/>
          <a:p>
            <a:pPr>
              <a:defRPr/>
            </a:pPr>
            <a:r>
              <a:rPr lang="en-US"/>
              <a:t>Slide </a:t>
            </a:r>
            <a:fld id="{E6DF8550-1B8D-4350-9831-B0516B0EC456}" type="slidenum">
              <a:rPr lang="en-US" smtClean="0"/>
              <a:pPr>
                <a:defRPr/>
              </a:pPr>
              <a:t>38</a:t>
            </a:fld>
            <a:endParaRPr lang="en-US"/>
          </a:p>
        </p:txBody>
      </p:sp>
    </p:spTree>
    <p:extLst>
      <p:ext uri="{BB962C8B-B14F-4D97-AF65-F5344CB8AC3E}">
        <p14:creationId xmlns:p14="http://schemas.microsoft.com/office/powerpoint/2010/main" val="2489469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Supporting Recursion</a:t>
            </a:r>
            <a:br>
              <a:rPr lang="en-US" dirty="0"/>
            </a:br>
            <a:r>
              <a:rPr lang="en-US" sz="2400" dirty="0"/>
              <a:t>(continued)</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4E55CFDC-59FD-439A-9888-9166DC8A4008}" type="slidenum">
              <a:rPr lang="en-US" smtClean="0"/>
              <a:pPr>
                <a:defRPr/>
              </a:pPr>
              <a:t>39</a:t>
            </a:fld>
            <a:endParaRPr lang="en-US"/>
          </a:p>
        </p:txBody>
      </p:sp>
      <p:grpSp>
        <p:nvGrpSpPr>
          <p:cNvPr id="2" name="Group 1"/>
          <p:cNvGrpSpPr/>
          <p:nvPr/>
        </p:nvGrpSpPr>
        <p:grpSpPr>
          <a:xfrm>
            <a:off x="2286000" y="1362459"/>
            <a:ext cx="4260101" cy="4868024"/>
            <a:chOff x="2018144" y="1353128"/>
            <a:chExt cx="4260101" cy="4868024"/>
          </a:xfrm>
        </p:grpSpPr>
        <p:sp>
          <p:nvSpPr>
            <p:cNvPr id="7" name="Rectangle 6"/>
            <p:cNvSpPr/>
            <p:nvPr/>
          </p:nvSpPr>
          <p:spPr bwMode="auto">
            <a:xfrm>
              <a:off x="3906531" y="1466272"/>
              <a:ext cx="1280160" cy="4754880"/>
            </a:xfrm>
            <a:prstGeom prst="rect">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8" name="TextBox 7"/>
            <p:cNvSpPr txBox="1"/>
            <p:nvPr/>
          </p:nvSpPr>
          <p:spPr>
            <a:xfrm>
              <a:off x="2018144" y="1353128"/>
              <a:ext cx="1885453" cy="338554"/>
            </a:xfrm>
            <a:prstGeom prst="rect">
              <a:avLst/>
            </a:prstGeom>
            <a:noFill/>
          </p:spPr>
          <p:txBody>
            <a:bodyPr wrap="none" rtlCol="0">
              <a:spAutoFit/>
            </a:bodyPr>
            <a:lstStyle/>
            <a:p>
              <a:r>
                <a:rPr lang="en-US" sz="1600" dirty="0"/>
                <a:t>memory address 0</a:t>
              </a:r>
            </a:p>
          </p:txBody>
        </p:sp>
        <p:sp>
          <p:nvSpPr>
            <p:cNvPr id="9" name="TextBox 8"/>
            <p:cNvSpPr txBox="1"/>
            <p:nvPr/>
          </p:nvSpPr>
          <p:spPr>
            <a:xfrm>
              <a:off x="2489193" y="5131926"/>
              <a:ext cx="1130438" cy="1077218"/>
            </a:xfrm>
            <a:prstGeom prst="rect">
              <a:avLst/>
            </a:prstGeom>
            <a:noFill/>
          </p:spPr>
          <p:txBody>
            <a:bodyPr wrap="none" rtlCol="0">
              <a:spAutoFit/>
            </a:bodyPr>
            <a:lstStyle/>
            <a:p>
              <a:r>
                <a:rPr lang="en-US" sz="1600" dirty="0"/>
                <a:t>higher</a:t>
              </a:r>
            </a:p>
            <a:p>
              <a:r>
                <a:rPr lang="en-US" sz="1600" dirty="0"/>
                <a:t>numbered</a:t>
              </a:r>
            </a:p>
            <a:p>
              <a:r>
                <a:rPr lang="en-US" sz="1600" dirty="0"/>
                <a:t>memory</a:t>
              </a:r>
            </a:p>
            <a:p>
              <a:r>
                <a:rPr lang="en-US" sz="1600" dirty="0"/>
                <a:t>addresses</a:t>
              </a:r>
            </a:p>
          </p:txBody>
        </p:sp>
        <p:sp>
          <p:nvSpPr>
            <p:cNvPr id="10" name="Rectangle 57"/>
            <p:cNvSpPr>
              <a:spLocks noChangeArrowheads="1"/>
            </p:cNvSpPr>
            <p:nvPr/>
          </p:nvSpPr>
          <p:spPr bwMode="auto">
            <a:xfrm>
              <a:off x="5815458" y="2514600"/>
              <a:ext cx="457176" cy="338554"/>
            </a:xfrm>
            <a:prstGeom prst="rect">
              <a:avLst/>
            </a:prstGeom>
            <a:noFill/>
            <a:ln w="9525">
              <a:solidFill>
                <a:schemeClr val="tx1"/>
              </a:solidFill>
              <a:miter lim="800000"/>
              <a:headEnd/>
              <a:tailEnd/>
            </a:ln>
          </p:spPr>
          <p:txBody>
            <a:bodyPr wrap="none" anchor="ctr">
              <a:spAutoFit/>
            </a:bodyPr>
            <a:lstStyle/>
            <a:p>
              <a:pPr eaLnBrk="1" hangingPunct="1"/>
              <a:r>
                <a:rPr lang="en-US" sz="1600" dirty="0"/>
                <a:t>SB</a:t>
              </a:r>
            </a:p>
          </p:txBody>
        </p:sp>
        <p:sp>
          <p:nvSpPr>
            <p:cNvPr id="11" name="AutoShape 58"/>
            <p:cNvSpPr>
              <a:spLocks noChangeArrowheads="1"/>
            </p:cNvSpPr>
            <p:nvPr/>
          </p:nvSpPr>
          <p:spPr bwMode="auto">
            <a:xfrm>
              <a:off x="5038436" y="2592596"/>
              <a:ext cx="182563" cy="182563"/>
            </a:xfrm>
            <a:prstGeom prst="diamond">
              <a:avLst/>
            </a:prstGeom>
            <a:noFill/>
            <a:ln w="9525">
              <a:noFill/>
              <a:miter lim="800000"/>
              <a:headEnd/>
              <a:tailEnd/>
            </a:ln>
          </p:spPr>
          <p:txBody>
            <a:bodyPr wrap="none" anchor="ctr"/>
            <a:lstStyle/>
            <a:p>
              <a:endParaRPr lang="en-US"/>
            </a:p>
          </p:txBody>
        </p:sp>
        <p:cxnSp>
          <p:nvCxnSpPr>
            <p:cNvPr id="12" name="AutoShape 59"/>
            <p:cNvCxnSpPr>
              <a:cxnSpLocks noChangeShapeType="1"/>
              <a:stCxn id="10" idx="1"/>
              <a:endCxn id="11" idx="3"/>
            </p:cNvCxnSpPr>
            <p:nvPr/>
          </p:nvCxnSpPr>
          <p:spPr bwMode="auto">
            <a:xfrm flipH="1">
              <a:off x="5220999" y="2683877"/>
              <a:ext cx="594459" cy="1"/>
            </a:xfrm>
            <a:prstGeom prst="straightConnector1">
              <a:avLst/>
            </a:prstGeom>
            <a:noFill/>
            <a:ln w="9525">
              <a:solidFill>
                <a:schemeClr val="tx1"/>
              </a:solidFill>
              <a:round/>
              <a:headEnd/>
              <a:tailEnd type="triangle" w="med" len="med"/>
            </a:ln>
          </p:spPr>
        </p:cxnSp>
        <p:sp>
          <p:nvSpPr>
            <p:cNvPr id="13" name="Rectangle 57"/>
            <p:cNvSpPr>
              <a:spLocks noChangeArrowheads="1"/>
            </p:cNvSpPr>
            <p:nvPr/>
          </p:nvSpPr>
          <p:spPr bwMode="auto">
            <a:xfrm>
              <a:off x="5815458" y="4309646"/>
              <a:ext cx="457177" cy="338554"/>
            </a:xfrm>
            <a:prstGeom prst="rect">
              <a:avLst/>
            </a:prstGeom>
            <a:noFill/>
            <a:ln w="9525">
              <a:solidFill>
                <a:schemeClr val="tx1"/>
              </a:solidFill>
              <a:miter lim="800000"/>
              <a:headEnd/>
              <a:tailEnd/>
            </a:ln>
          </p:spPr>
          <p:txBody>
            <a:bodyPr wrap="none" anchor="ctr">
              <a:spAutoFit/>
            </a:bodyPr>
            <a:lstStyle/>
            <a:p>
              <a:pPr eaLnBrk="1" hangingPunct="1"/>
              <a:r>
                <a:rPr lang="en-US" sz="1600" dirty="0"/>
                <a:t>BP</a:t>
              </a:r>
            </a:p>
          </p:txBody>
        </p:sp>
        <p:sp>
          <p:nvSpPr>
            <p:cNvPr id="14" name="AutoShape 58"/>
            <p:cNvSpPr>
              <a:spLocks noChangeArrowheads="1"/>
            </p:cNvSpPr>
            <p:nvPr/>
          </p:nvSpPr>
          <p:spPr bwMode="auto">
            <a:xfrm>
              <a:off x="5038436" y="4311442"/>
              <a:ext cx="182563" cy="182563"/>
            </a:xfrm>
            <a:prstGeom prst="diamond">
              <a:avLst/>
            </a:prstGeom>
            <a:noFill/>
            <a:ln w="9525">
              <a:noFill/>
              <a:miter lim="800000"/>
              <a:headEnd/>
              <a:tailEnd/>
            </a:ln>
          </p:spPr>
          <p:txBody>
            <a:bodyPr wrap="none" anchor="ctr"/>
            <a:lstStyle/>
            <a:p>
              <a:endParaRPr lang="en-US"/>
            </a:p>
          </p:txBody>
        </p:sp>
        <p:cxnSp>
          <p:nvCxnSpPr>
            <p:cNvPr id="15" name="AutoShape 59"/>
            <p:cNvCxnSpPr>
              <a:cxnSpLocks noChangeShapeType="1"/>
              <a:stCxn id="13" idx="1"/>
            </p:cNvCxnSpPr>
            <p:nvPr/>
          </p:nvCxnSpPr>
          <p:spPr bwMode="auto">
            <a:xfrm flipH="1">
              <a:off x="5220999" y="4478923"/>
              <a:ext cx="594459" cy="1"/>
            </a:xfrm>
            <a:prstGeom prst="straightConnector1">
              <a:avLst/>
            </a:prstGeom>
            <a:noFill/>
            <a:ln w="9525">
              <a:solidFill>
                <a:schemeClr val="tx1"/>
              </a:solidFill>
              <a:round/>
              <a:headEnd/>
              <a:tailEnd type="triangle" w="med" len="med"/>
            </a:ln>
          </p:spPr>
        </p:cxnSp>
        <p:cxnSp>
          <p:nvCxnSpPr>
            <p:cNvPr id="17" name="Straight Connector 16"/>
            <p:cNvCxnSpPr/>
            <p:nvPr/>
          </p:nvCxnSpPr>
          <p:spPr bwMode="auto">
            <a:xfrm>
              <a:off x="3906531" y="2688069"/>
              <a:ext cx="1280160" cy="0"/>
            </a:xfrm>
            <a:prstGeom prst="line">
              <a:avLst/>
            </a:prstGeom>
            <a:noFill/>
            <a:ln w="9525" cap="flat" cmpd="sng" algn="ctr">
              <a:solidFill>
                <a:schemeClr val="tx1"/>
              </a:solidFill>
              <a:prstDash val="solid"/>
              <a:round/>
              <a:headEnd type="none" w="med" len="med"/>
              <a:tailEnd type="none" w="med" len="med"/>
            </a:ln>
            <a:effectLst/>
          </p:spPr>
        </p:cxnSp>
        <p:sp>
          <p:nvSpPr>
            <p:cNvPr id="18" name="TextBox 17"/>
            <p:cNvSpPr txBox="1"/>
            <p:nvPr/>
          </p:nvSpPr>
          <p:spPr>
            <a:xfrm>
              <a:off x="2495605" y="3218872"/>
              <a:ext cx="1117614" cy="1077218"/>
            </a:xfrm>
            <a:prstGeom prst="rect">
              <a:avLst/>
            </a:prstGeom>
            <a:noFill/>
          </p:spPr>
          <p:txBody>
            <a:bodyPr wrap="none" rtlCol="0">
              <a:spAutoFit/>
            </a:bodyPr>
            <a:lstStyle/>
            <a:p>
              <a:r>
                <a:rPr lang="en-US" sz="1600" dirty="0"/>
                <a:t>runtime</a:t>
              </a:r>
            </a:p>
            <a:p>
              <a:r>
                <a:rPr lang="en-US" sz="1600" dirty="0"/>
                <a:t>stack</a:t>
              </a:r>
            </a:p>
            <a:p>
              <a:r>
                <a:rPr lang="en-US" sz="1600" dirty="0"/>
                <a:t>grows</a:t>
              </a:r>
            </a:p>
            <a:p>
              <a:r>
                <a:rPr lang="en-US" sz="1600" dirty="0"/>
                <a:t>downward</a:t>
              </a:r>
            </a:p>
          </p:txBody>
        </p:sp>
        <p:sp>
          <p:nvSpPr>
            <p:cNvPr id="19" name="TextBox 18"/>
            <p:cNvSpPr txBox="1"/>
            <p:nvPr/>
          </p:nvSpPr>
          <p:spPr>
            <a:xfrm>
              <a:off x="3906853" y="1505528"/>
              <a:ext cx="1279517" cy="1077218"/>
            </a:xfrm>
            <a:prstGeom prst="rect">
              <a:avLst/>
            </a:prstGeom>
            <a:noFill/>
          </p:spPr>
          <p:txBody>
            <a:bodyPr wrap="none" rtlCol="0">
              <a:spAutoFit/>
            </a:bodyPr>
            <a:lstStyle/>
            <a:p>
              <a:r>
                <a:rPr lang="en-US" sz="1600" dirty="0"/>
                <a:t>program</a:t>
              </a:r>
            </a:p>
            <a:p>
              <a:r>
                <a:rPr lang="en-US" sz="1600" dirty="0"/>
                <a:t>and</a:t>
              </a:r>
            </a:p>
            <a:p>
              <a:r>
                <a:rPr lang="en-US" sz="1600" dirty="0"/>
                <a:t>subprogram</a:t>
              </a:r>
            </a:p>
            <a:p>
              <a:r>
                <a:rPr lang="en-US" sz="1600" dirty="0"/>
                <a:t>instructions</a:t>
              </a:r>
            </a:p>
          </p:txBody>
        </p:sp>
        <p:sp>
          <p:nvSpPr>
            <p:cNvPr id="20" name="TextBox 19"/>
            <p:cNvSpPr txBox="1"/>
            <p:nvPr/>
          </p:nvSpPr>
          <p:spPr>
            <a:xfrm>
              <a:off x="3968571" y="2737283"/>
              <a:ext cx="1156086" cy="584775"/>
            </a:xfrm>
            <a:prstGeom prst="rect">
              <a:avLst/>
            </a:prstGeom>
            <a:noFill/>
          </p:spPr>
          <p:txBody>
            <a:bodyPr wrap="none" rtlCol="0">
              <a:spAutoFit/>
            </a:bodyPr>
            <a:lstStyle/>
            <a:p>
              <a:r>
                <a:rPr lang="en-US" sz="1600" dirty="0"/>
                <a:t>act. record</a:t>
              </a:r>
            </a:p>
            <a:p>
              <a:r>
                <a:rPr lang="en-US" sz="1600" dirty="0"/>
                <a:t>for main()</a:t>
              </a:r>
            </a:p>
          </p:txBody>
        </p:sp>
        <p:cxnSp>
          <p:nvCxnSpPr>
            <p:cNvPr id="21" name="Straight Connector 20"/>
            <p:cNvCxnSpPr/>
            <p:nvPr/>
          </p:nvCxnSpPr>
          <p:spPr bwMode="auto">
            <a:xfrm>
              <a:off x="3906531" y="3371272"/>
              <a:ext cx="1280160" cy="0"/>
            </a:xfrm>
            <a:prstGeom prst="line">
              <a:avLst/>
            </a:prstGeom>
            <a:noFill/>
            <a:ln w="9525" cap="flat" cmpd="sng" algn="ctr">
              <a:solidFill>
                <a:schemeClr val="tx1"/>
              </a:solidFill>
              <a:prstDash val="solid"/>
              <a:round/>
              <a:headEnd type="none" w="med" len="med"/>
              <a:tailEnd type="none" w="med" len="med"/>
            </a:ln>
            <a:effectLst/>
          </p:spPr>
        </p:cxnSp>
        <p:sp>
          <p:nvSpPr>
            <p:cNvPr id="22" name="TextBox 21"/>
            <p:cNvSpPr txBox="1"/>
            <p:nvPr/>
          </p:nvSpPr>
          <p:spPr>
            <a:xfrm>
              <a:off x="3968568" y="3412973"/>
              <a:ext cx="1156086" cy="830997"/>
            </a:xfrm>
            <a:prstGeom prst="rect">
              <a:avLst/>
            </a:prstGeom>
            <a:noFill/>
          </p:spPr>
          <p:txBody>
            <a:bodyPr wrap="none" rtlCol="0">
              <a:spAutoFit/>
            </a:bodyPr>
            <a:lstStyle/>
            <a:p>
              <a:r>
                <a:rPr lang="en-US" sz="1600" dirty="0"/>
                <a:t>act. record</a:t>
              </a:r>
            </a:p>
            <a:p>
              <a:r>
                <a:rPr lang="en-US" sz="1600" dirty="0"/>
                <a:t>for first</a:t>
              </a:r>
            </a:p>
            <a:p>
              <a:r>
                <a:rPr lang="en-US" sz="1600" dirty="0"/>
                <a:t>call to p()</a:t>
              </a:r>
            </a:p>
          </p:txBody>
        </p:sp>
        <p:sp>
          <p:nvSpPr>
            <p:cNvPr id="23" name="TextBox 22"/>
            <p:cNvSpPr txBox="1"/>
            <p:nvPr/>
          </p:nvSpPr>
          <p:spPr>
            <a:xfrm>
              <a:off x="3968568" y="4327374"/>
              <a:ext cx="1156086" cy="830997"/>
            </a:xfrm>
            <a:prstGeom prst="rect">
              <a:avLst/>
            </a:prstGeom>
            <a:noFill/>
          </p:spPr>
          <p:txBody>
            <a:bodyPr wrap="none" rtlCol="0">
              <a:spAutoFit/>
            </a:bodyPr>
            <a:lstStyle/>
            <a:p>
              <a:r>
                <a:rPr lang="en-US" sz="1600" dirty="0"/>
                <a:t>act. record</a:t>
              </a:r>
            </a:p>
            <a:p>
              <a:r>
                <a:rPr lang="en-US" sz="1600" dirty="0"/>
                <a:t>for second</a:t>
              </a:r>
            </a:p>
            <a:p>
              <a:r>
                <a:rPr lang="en-US" sz="1600" dirty="0"/>
                <a:t>call to p()</a:t>
              </a:r>
            </a:p>
          </p:txBody>
        </p:sp>
        <p:cxnSp>
          <p:nvCxnSpPr>
            <p:cNvPr id="24" name="Straight Connector 23"/>
            <p:cNvCxnSpPr/>
            <p:nvPr/>
          </p:nvCxnSpPr>
          <p:spPr bwMode="auto">
            <a:xfrm>
              <a:off x="3906531" y="4285672"/>
              <a:ext cx="1280160" cy="0"/>
            </a:xfrm>
            <a:prstGeom prst="line">
              <a:avLst/>
            </a:prstGeom>
            <a:noFill/>
            <a:ln w="9525" cap="flat" cmpd="sng" algn="ctr">
              <a:solidFill>
                <a:schemeClr val="tx1"/>
              </a:solidFill>
              <a:prstDash val="solid"/>
              <a:round/>
              <a:headEnd type="none" w="med" len="med"/>
              <a:tailEnd type="none" w="med" len="med"/>
            </a:ln>
            <a:effectLst/>
          </p:spPr>
        </p:cxnSp>
        <p:sp>
          <p:nvSpPr>
            <p:cNvPr id="25" name="Rectangle 57"/>
            <p:cNvSpPr>
              <a:spLocks noChangeArrowheads="1"/>
            </p:cNvSpPr>
            <p:nvPr/>
          </p:nvSpPr>
          <p:spPr bwMode="auto">
            <a:xfrm>
              <a:off x="5815458" y="5038436"/>
              <a:ext cx="457176" cy="338554"/>
            </a:xfrm>
            <a:prstGeom prst="rect">
              <a:avLst/>
            </a:prstGeom>
            <a:noFill/>
            <a:ln w="9525">
              <a:solidFill>
                <a:schemeClr val="tx1"/>
              </a:solidFill>
              <a:miter lim="800000"/>
              <a:headEnd/>
              <a:tailEnd/>
            </a:ln>
          </p:spPr>
          <p:txBody>
            <a:bodyPr wrap="none" anchor="ctr">
              <a:spAutoFit/>
            </a:bodyPr>
            <a:lstStyle/>
            <a:p>
              <a:pPr eaLnBrk="1" hangingPunct="1"/>
              <a:r>
                <a:rPr lang="en-US" sz="1600" dirty="0"/>
                <a:t>SP</a:t>
              </a:r>
            </a:p>
          </p:txBody>
        </p:sp>
        <p:sp>
          <p:nvSpPr>
            <p:cNvPr id="26" name="AutoShape 58"/>
            <p:cNvSpPr>
              <a:spLocks noChangeArrowheads="1"/>
            </p:cNvSpPr>
            <p:nvPr/>
          </p:nvSpPr>
          <p:spPr bwMode="auto">
            <a:xfrm>
              <a:off x="5038436" y="5116432"/>
              <a:ext cx="182563" cy="182563"/>
            </a:xfrm>
            <a:prstGeom prst="diamond">
              <a:avLst/>
            </a:prstGeom>
            <a:noFill/>
            <a:ln w="9525">
              <a:noFill/>
              <a:miter lim="800000"/>
              <a:headEnd/>
              <a:tailEnd/>
            </a:ln>
          </p:spPr>
          <p:txBody>
            <a:bodyPr wrap="none" anchor="ctr"/>
            <a:lstStyle/>
            <a:p>
              <a:endParaRPr lang="en-US"/>
            </a:p>
          </p:txBody>
        </p:sp>
        <p:cxnSp>
          <p:nvCxnSpPr>
            <p:cNvPr id="27" name="AutoShape 59"/>
            <p:cNvCxnSpPr>
              <a:cxnSpLocks noChangeShapeType="1"/>
              <a:stCxn id="25" idx="1"/>
              <a:endCxn id="26" idx="3"/>
            </p:cNvCxnSpPr>
            <p:nvPr/>
          </p:nvCxnSpPr>
          <p:spPr bwMode="auto">
            <a:xfrm flipH="1">
              <a:off x="5220999" y="5207713"/>
              <a:ext cx="594459" cy="1"/>
            </a:xfrm>
            <a:prstGeom prst="straightConnector1">
              <a:avLst/>
            </a:prstGeom>
            <a:noFill/>
            <a:ln w="9525">
              <a:solidFill>
                <a:schemeClr val="tx1"/>
              </a:solidFill>
              <a:round/>
              <a:headEnd/>
              <a:tailEnd type="triangle" w="med" len="med"/>
            </a:ln>
          </p:spPr>
        </p:cxnSp>
        <p:cxnSp>
          <p:nvCxnSpPr>
            <p:cNvPr id="28" name="Straight Connector 27"/>
            <p:cNvCxnSpPr/>
            <p:nvPr/>
          </p:nvCxnSpPr>
          <p:spPr bwMode="auto">
            <a:xfrm>
              <a:off x="3906531" y="5200072"/>
              <a:ext cx="1280160" cy="0"/>
            </a:xfrm>
            <a:prstGeom prst="line">
              <a:avLst/>
            </a:prstGeom>
            <a:noFill/>
            <a:ln w="9525" cap="flat" cmpd="sng" algn="ctr">
              <a:solidFill>
                <a:schemeClr val="tx1"/>
              </a:solidFill>
              <a:prstDash val="solid"/>
              <a:round/>
              <a:headEnd type="none" w="med" len="med"/>
              <a:tailEnd type="none" w="med" len="med"/>
            </a:ln>
            <a:effectLst/>
          </p:spPr>
        </p:cxnSp>
        <p:cxnSp>
          <p:nvCxnSpPr>
            <p:cNvPr id="30" name="Straight Arrow Connector 29"/>
            <p:cNvCxnSpPr/>
            <p:nvPr/>
          </p:nvCxnSpPr>
          <p:spPr bwMode="auto">
            <a:xfrm>
              <a:off x="3657600" y="2728769"/>
              <a:ext cx="0" cy="2318903"/>
            </a:xfrm>
            <a:prstGeom prst="straightConnector1">
              <a:avLst/>
            </a:prstGeom>
            <a:noFill/>
            <a:ln w="9525" cap="flat" cmpd="sng" algn="ctr">
              <a:solidFill>
                <a:schemeClr val="tx1"/>
              </a:solidFill>
              <a:prstDash val="solid"/>
              <a:round/>
              <a:headEnd type="none" w="med" len="med"/>
              <a:tailEnd type="triangle"/>
            </a:ln>
            <a:effectLst/>
          </p:spPr>
        </p:cxnSp>
        <p:sp>
          <p:nvSpPr>
            <p:cNvPr id="35" name="Rectangle 57"/>
            <p:cNvSpPr>
              <a:spLocks noChangeArrowheads="1"/>
            </p:cNvSpPr>
            <p:nvPr/>
          </p:nvSpPr>
          <p:spPr bwMode="auto">
            <a:xfrm>
              <a:off x="5809847" y="1999672"/>
              <a:ext cx="468398" cy="338554"/>
            </a:xfrm>
            <a:prstGeom prst="rect">
              <a:avLst/>
            </a:prstGeom>
            <a:noFill/>
            <a:ln w="9525">
              <a:solidFill>
                <a:schemeClr val="tx1"/>
              </a:solidFill>
              <a:miter lim="800000"/>
              <a:headEnd/>
              <a:tailEnd/>
            </a:ln>
          </p:spPr>
          <p:txBody>
            <a:bodyPr wrap="none" anchor="ctr">
              <a:spAutoFit/>
            </a:bodyPr>
            <a:lstStyle/>
            <a:p>
              <a:pPr eaLnBrk="1" hangingPunct="1"/>
              <a:r>
                <a:rPr lang="en-US" sz="1600" dirty="0"/>
                <a:t>PC</a:t>
              </a:r>
            </a:p>
          </p:txBody>
        </p:sp>
        <p:sp>
          <p:nvSpPr>
            <p:cNvPr id="36" name="AutoShape 58"/>
            <p:cNvSpPr>
              <a:spLocks noChangeArrowheads="1"/>
            </p:cNvSpPr>
            <p:nvPr/>
          </p:nvSpPr>
          <p:spPr bwMode="auto">
            <a:xfrm>
              <a:off x="5038436" y="2077668"/>
              <a:ext cx="182563" cy="182563"/>
            </a:xfrm>
            <a:prstGeom prst="diamond">
              <a:avLst/>
            </a:prstGeom>
            <a:noFill/>
            <a:ln w="9525">
              <a:noFill/>
              <a:miter lim="800000"/>
              <a:headEnd/>
              <a:tailEnd/>
            </a:ln>
          </p:spPr>
          <p:txBody>
            <a:bodyPr wrap="none" anchor="ctr"/>
            <a:lstStyle/>
            <a:p>
              <a:endParaRPr lang="en-US"/>
            </a:p>
          </p:txBody>
        </p:sp>
        <p:cxnSp>
          <p:nvCxnSpPr>
            <p:cNvPr id="37" name="AutoShape 59"/>
            <p:cNvCxnSpPr>
              <a:cxnSpLocks noChangeShapeType="1"/>
              <a:stCxn id="35" idx="1"/>
              <a:endCxn id="36" idx="3"/>
            </p:cNvCxnSpPr>
            <p:nvPr/>
          </p:nvCxnSpPr>
          <p:spPr bwMode="auto">
            <a:xfrm flipH="1">
              <a:off x="5220999" y="2168949"/>
              <a:ext cx="588848" cy="1"/>
            </a:xfrm>
            <a:prstGeom prst="straightConnector1">
              <a:avLst/>
            </a:prstGeom>
            <a:noFill/>
            <a:ln w="9525">
              <a:solidFill>
                <a:schemeClr val="tx1"/>
              </a:solidFill>
              <a:round/>
              <a:headEnd/>
              <a:tailEnd type="triangle" w="med" len="med"/>
            </a:ln>
          </p:spPr>
        </p:cxnSp>
      </p:grpSp>
    </p:spTree>
    <p:extLst>
      <p:ext uri="{BB962C8B-B14F-4D97-AF65-F5344CB8AC3E}">
        <p14:creationId xmlns:p14="http://schemas.microsoft.com/office/powerpoint/2010/main" val="32549512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3"/>
          <p:cNvSpPr>
            <a:spLocks noGrp="1"/>
          </p:cNvSpPr>
          <p:nvPr>
            <p:ph type="ftr" sz="quarter" idx="10"/>
          </p:nvPr>
        </p:nvSpPr>
        <p:spPr>
          <a:noFill/>
        </p:spPr>
        <p:txBody>
          <a:bodyPr/>
          <a:lstStyle/>
          <a:p>
            <a:r>
              <a:rPr lang="en-US"/>
              <a:t>©SoftMoore Consulting</a:t>
            </a:r>
          </a:p>
        </p:txBody>
      </p:sp>
      <p:sp>
        <p:nvSpPr>
          <p:cNvPr id="26627" name="Slide Number Placeholder 4"/>
          <p:cNvSpPr>
            <a:spLocks noGrp="1"/>
          </p:cNvSpPr>
          <p:nvPr>
            <p:ph type="sldNum" sz="quarter" idx="11"/>
          </p:nvPr>
        </p:nvSpPr>
        <p:spPr>
          <a:noFill/>
        </p:spPr>
        <p:txBody>
          <a:bodyPr/>
          <a:lstStyle/>
          <a:p>
            <a:r>
              <a:rPr lang="en-US"/>
              <a:t>Slide </a:t>
            </a:r>
            <a:fld id="{154D54A7-E3A3-4AB4-B634-C41F4F8CC1C7}" type="slidenum">
              <a:rPr lang="en-US" smtClean="0"/>
              <a:pPr/>
              <a:t>40</a:t>
            </a:fld>
            <a:endParaRPr lang="en-US"/>
          </a:p>
        </p:txBody>
      </p:sp>
      <p:sp>
        <p:nvSpPr>
          <p:cNvPr id="26628" name="Rectangle 2"/>
          <p:cNvSpPr>
            <a:spLocks noGrp="1" noChangeArrowheads="1"/>
          </p:cNvSpPr>
          <p:nvPr>
            <p:ph type="title"/>
          </p:nvPr>
        </p:nvSpPr>
        <p:spPr/>
        <p:txBody>
          <a:bodyPr/>
          <a:lstStyle/>
          <a:p>
            <a:r>
              <a:rPr lang="en-US" dirty="0"/>
              <a:t>Loading a Program</a:t>
            </a:r>
          </a:p>
        </p:txBody>
      </p:sp>
      <p:sp>
        <p:nvSpPr>
          <p:cNvPr id="26629" name="Rectangle 3"/>
          <p:cNvSpPr>
            <a:spLocks noGrp="1" noChangeArrowheads="1"/>
          </p:cNvSpPr>
          <p:nvPr>
            <p:ph type="body" idx="1"/>
          </p:nvPr>
        </p:nvSpPr>
        <p:spPr/>
        <p:txBody>
          <a:bodyPr/>
          <a:lstStyle/>
          <a:p>
            <a:r>
              <a:rPr lang="en-US" dirty="0"/>
              <a:t>The object code is loaded into the beginning of memory starting at address </a:t>
            </a:r>
            <a:r>
              <a:rPr lang="en-US" dirty="0">
                <a:latin typeface="Consolas" panose="020B0609020204030204" pitchFamily="49" charset="0"/>
              </a:rPr>
              <a:t>0</a:t>
            </a:r>
            <a:r>
              <a:rPr lang="en-US" dirty="0"/>
              <a:t>.</a:t>
            </a:r>
          </a:p>
          <a:p>
            <a:r>
              <a:rPr lang="en-US" dirty="0"/>
              <a:t>Register </a:t>
            </a:r>
            <a:r>
              <a:rPr lang="en-US" dirty="0">
                <a:latin typeface="Consolas" panose="020B0609020204030204" pitchFamily="49" charset="0"/>
              </a:rPr>
              <a:t>PC</a:t>
            </a:r>
            <a:r>
              <a:rPr lang="en-US" dirty="0"/>
              <a:t> is initialized to </a:t>
            </a:r>
            <a:r>
              <a:rPr lang="en-US" dirty="0">
                <a:latin typeface="Consolas" panose="020B0609020204030204" pitchFamily="49" charset="0"/>
              </a:rPr>
              <a:t>0</a:t>
            </a:r>
            <a:r>
              <a:rPr lang="en-US" dirty="0"/>
              <a:t>, the address of the first instruction.</a:t>
            </a:r>
          </a:p>
          <a:p>
            <a:r>
              <a:rPr lang="en-US" dirty="0"/>
              <a:t>Register </a:t>
            </a:r>
            <a:r>
              <a:rPr lang="en-US" dirty="0">
                <a:latin typeface="Consolas" panose="020B0609020204030204" pitchFamily="49" charset="0"/>
              </a:rPr>
              <a:t>SB</a:t>
            </a:r>
            <a:r>
              <a:rPr lang="en-US" dirty="0"/>
              <a:t> is initialized to the address following the last instruction (i.e., the first free byte in memory).</a:t>
            </a:r>
          </a:p>
          <a:p>
            <a:r>
              <a:rPr lang="en-US" dirty="0"/>
              <a:t>Register </a:t>
            </a:r>
            <a:r>
              <a:rPr lang="en-US" dirty="0">
                <a:latin typeface="Consolas" panose="020B0609020204030204" pitchFamily="49" charset="0"/>
              </a:rPr>
              <a:t>BP</a:t>
            </a:r>
            <a:r>
              <a:rPr lang="en-US" dirty="0"/>
              <a:t> is initialized to the address of the byte following the last instruction (i.e., the same as </a:t>
            </a:r>
            <a:r>
              <a:rPr lang="en-US" dirty="0">
                <a:latin typeface="Consolas" panose="020B0609020204030204" pitchFamily="49" charset="0"/>
              </a:rPr>
              <a:t>SB</a:t>
            </a:r>
            <a:r>
              <a:rPr lang="en-US" dirty="0"/>
              <a:t>).</a:t>
            </a:r>
          </a:p>
          <a:p>
            <a:r>
              <a:rPr lang="en-US" dirty="0"/>
              <a:t>Register </a:t>
            </a:r>
            <a:r>
              <a:rPr lang="en-US" dirty="0">
                <a:latin typeface="Consolas" panose="020B0609020204030204" pitchFamily="49" charset="0"/>
              </a:rPr>
              <a:t>SP</a:t>
            </a:r>
            <a:r>
              <a:rPr lang="en-US" dirty="0"/>
              <a:t> is initialized to </a:t>
            </a:r>
            <a:r>
              <a:rPr lang="en-US" dirty="0">
                <a:latin typeface="Consolas" panose="020B0609020204030204" pitchFamily="49" charset="0"/>
              </a:rPr>
              <a:t>BP</a:t>
            </a:r>
            <a:r>
              <a:rPr lang="en-US" dirty="0"/>
              <a:t> – 1 since the run-time stack is empty.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Discussion of Parameters</a:t>
            </a:r>
          </a:p>
        </p:txBody>
      </p:sp>
      <p:sp>
        <p:nvSpPr>
          <p:cNvPr id="3" name="Content Placeholder 2"/>
          <p:cNvSpPr>
            <a:spLocks noGrp="1"/>
          </p:cNvSpPr>
          <p:nvPr>
            <p:ph idx="1"/>
          </p:nvPr>
        </p:nvSpPr>
        <p:spPr/>
        <p:txBody>
          <a:bodyPr/>
          <a:lstStyle/>
          <a:p>
            <a:r>
              <a:rPr lang="en-US" dirty="0"/>
              <a:t>Functions can have only value parameters, but procedures can have both variable (</a:t>
            </a:r>
            <a:r>
              <a:rPr lang="en-US" sz="2300" dirty="0">
                <a:latin typeface="Consolas" panose="020B0609020204030204" pitchFamily="49" charset="0"/>
              </a:rPr>
              <a:t>var</a:t>
            </a:r>
            <a:r>
              <a:rPr lang="en-US" dirty="0"/>
              <a:t>) and value parameters.</a:t>
            </a:r>
          </a:p>
          <a:p>
            <a:r>
              <a:rPr lang="en-US" dirty="0"/>
              <a:t>The code to handle the passing of these two kinds of parameters as part of a procedure call is somewhat analogous to how you handle an assignment statement of the form “</a:t>
            </a:r>
            <a:r>
              <a:rPr lang="en-US" sz="2300" dirty="0">
                <a:latin typeface="Consolas" pitchFamily="49" charset="0"/>
                <a:cs typeface="Consolas" pitchFamily="49" charset="0"/>
              </a:rPr>
              <a:t>x := y</a:t>
            </a:r>
            <a:r>
              <a:rPr lang="en-US" dirty="0"/>
              <a:t>”, where you generate different code for the left and right sides.</a:t>
            </a:r>
          </a:p>
          <a:p>
            <a:pPr lvl="1"/>
            <a:r>
              <a:rPr lang="en-US" dirty="0"/>
              <a:t>Left side: generate code to leave the </a:t>
            </a:r>
            <a:r>
              <a:rPr lang="en-US" b="1" dirty="0"/>
              <a:t>address</a:t>
            </a:r>
            <a:r>
              <a:rPr lang="en-US" dirty="0"/>
              <a:t> on the stack.</a:t>
            </a:r>
          </a:p>
          <a:p>
            <a:pPr lvl="1"/>
            <a:r>
              <a:rPr lang="en-US" dirty="0"/>
              <a:t>Right side: generate code to leave the </a:t>
            </a:r>
            <a:r>
              <a:rPr lang="en-US" b="1" dirty="0"/>
              <a:t>value</a:t>
            </a:r>
            <a:r>
              <a:rPr lang="en-US" dirty="0"/>
              <a:t> on the stack.</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4E55CFDC-59FD-439A-9888-9166DC8A4008}" type="slidenum">
              <a:rPr lang="en-US" smtClean="0"/>
              <a:pPr>
                <a:defRPr/>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Discussion of Parameters</a:t>
            </a:r>
            <a:br>
              <a:rPr lang="en-US" dirty="0"/>
            </a:br>
            <a:r>
              <a:rPr lang="en-US" sz="2400" dirty="0"/>
              <a:t>(continued)</a:t>
            </a:r>
            <a:endParaRPr lang="en-US" sz="2800" dirty="0"/>
          </a:p>
        </p:txBody>
      </p:sp>
      <p:sp>
        <p:nvSpPr>
          <p:cNvPr id="3" name="Content Placeholder 2"/>
          <p:cNvSpPr>
            <a:spLocks noGrp="1"/>
          </p:cNvSpPr>
          <p:nvPr>
            <p:ph idx="1"/>
          </p:nvPr>
        </p:nvSpPr>
        <p:spPr/>
        <p:txBody>
          <a:bodyPr/>
          <a:lstStyle/>
          <a:p>
            <a:r>
              <a:rPr lang="en-US" dirty="0"/>
              <a:t>Analogy for parameters</a:t>
            </a:r>
          </a:p>
          <a:p>
            <a:pPr lvl="1"/>
            <a:r>
              <a:rPr lang="en-US" dirty="0"/>
              <a:t>Variable (</a:t>
            </a:r>
            <a:r>
              <a:rPr lang="en-US" dirty="0">
                <a:latin typeface="Consolas" panose="020B0609020204030204" pitchFamily="49" charset="0"/>
              </a:rPr>
              <a:t>var</a:t>
            </a:r>
            <a:r>
              <a:rPr lang="en-US" dirty="0"/>
              <a:t>) parameters: Generate code similar to the way you handle the left side of an assignment statement.</a:t>
            </a:r>
          </a:p>
          <a:p>
            <a:pPr lvl="1"/>
            <a:r>
              <a:rPr lang="en-US" dirty="0"/>
              <a:t>Value parameters: Generate code similar to the way you handle the right side of the assignment statement.</a:t>
            </a:r>
          </a:p>
          <a:p>
            <a:r>
              <a:rPr lang="en-US" dirty="0"/>
              <a:t>When parsing the code for actual parameters, by default we always call </a:t>
            </a:r>
            <a:r>
              <a:rPr lang="en-US" sz="2300" dirty="0" err="1">
                <a:latin typeface="Consolas" pitchFamily="49" charset="0"/>
                <a:cs typeface="Consolas" pitchFamily="49" charset="0"/>
              </a:rPr>
              <a:t>parseExpression</a:t>
            </a:r>
            <a:r>
              <a:rPr lang="en-US" sz="2300" dirty="0">
                <a:latin typeface="Consolas" pitchFamily="49" charset="0"/>
                <a:cs typeface="Consolas" pitchFamily="49" charset="0"/>
              </a:rPr>
              <a:t>()</a:t>
            </a:r>
            <a:r>
              <a:rPr lang="en-US" dirty="0"/>
              <a:t>.</a:t>
            </a:r>
          </a:p>
          <a:p>
            <a:pPr lvl="1"/>
            <a:r>
              <a:rPr lang="en-US" dirty="0"/>
              <a:t>generates code to leave the value of the expression on the stack</a:t>
            </a:r>
          </a:p>
          <a:p>
            <a:pPr lvl="1"/>
            <a:r>
              <a:rPr lang="en-US" dirty="0"/>
              <a:t>correct for a value parameter but not for a variable parameter</a:t>
            </a:r>
          </a:p>
          <a:p>
            <a:r>
              <a:rPr lang="en-US" dirty="0"/>
              <a:t>Call </a:t>
            </a:r>
            <a:r>
              <a:rPr lang="en-US" sz="2300" dirty="0" err="1">
                <a:latin typeface="Consolas" panose="020B0609020204030204" pitchFamily="49" charset="0"/>
              </a:rPr>
              <a:t>setUseAsExpression</a:t>
            </a:r>
            <a:r>
              <a:rPr lang="en-US" sz="2300" dirty="0">
                <a:latin typeface="Consolas" panose="020B0609020204030204" pitchFamily="49" charset="0"/>
              </a:rPr>
              <a:t>(false)</a:t>
            </a:r>
            <a:r>
              <a:rPr lang="en-US" dirty="0"/>
              <a:t> for the variable to ensure that code will be generated to leave the variable’s address on the top of the run-time stack.</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a:t>Slide </a:t>
            </a:r>
            <a:fld id="{4E55CFDC-59FD-439A-9888-9166DC8A4008}" type="slidenum">
              <a:rPr lang="en-US" smtClean="0"/>
              <a:pPr>
                <a:defRPr/>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Checking </a:t>
            </a:r>
            <a:r>
              <a:rPr lang="en-US" dirty="0">
                <a:latin typeface="Consolas" pitchFamily="49" charset="0"/>
                <a:cs typeface="Consolas" pitchFamily="49" charset="0"/>
              </a:rPr>
              <a:t>Variable</a:t>
            </a:r>
            <a:r>
              <a:rPr lang="en-US" dirty="0">
                <a:cs typeface="Consolas" pitchFamily="49" charset="0"/>
              </a:rPr>
              <a:t> Parameters</a:t>
            </a:r>
            <a:endParaRPr lang="en-US" sz="2400" dirty="0"/>
          </a:p>
        </p:txBody>
      </p:sp>
      <p:sp>
        <p:nvSpPr>
          <p:cNvPr id="3" name="Content Placeholder 2"/>
          <p:cNvSpPr>
            <a:spLocks noGrp="1"/>
          </p:cNvSpPr>
          <p:nvPr>
            <p:ph idx="1"/>
          </p:nvPr>
        </p:nvSpPr>
        <p:spPr>
          <a:xfrm>
            <a:off x="458787" y="1363663"/>
            <a:ext cx="8229600" cy="4935537"/>
          </a:xfrm>
        </p:spPr>
        <p:txBody>
          <a:bodyPr tIns="91440"/>
          <a:lstStyle/>
          <a:p>
            <a:pPr marL="0" indent="0">
              <a:spcBef>
                <a:spcPts val="200"/>
              </a:spcBef>
              <a:buNone/>
            </a:pPr>
            <a:endParaRPr lang="en-US" sz="1800" dirty="0">
              <a:latin typeface="Consolas" pitchFamily="49" charset="0"/>
              <a:cs typeface="Consolas" pitchFamily="49" charset="0"/>
            </a:endParaRPr>
          </a:p>
          <a:p>
            <a:pPr marL="0" indent="0">
              <a:spcBef>
                <a:spcPts val="200"/>
              </a:spcBef>
              <a:buNone/>
            </a:pPr>
            <a:endParaRPr lang="en-US" sz="1800" dirty="0">
              <a:latin typeface="Consolas" pitchFamily="49" charset="0"/>
              <a:cs typeface="Consolas" pitchFamily="49" charset="0"/>
            </a:endParaRPr>
          </a:p>
          <a:p>
            <a:pPr marL="0" indent="0">
              <a:spcBef>
                <a:spcPts val="200"/>
              </a:spcBef>
              <a:buNone/>
            </a:pPr>
            <a:r>
              <a:rPr lang="en-US" sz="1800" dirty="0">
                <a:latin typeface="Consolas" pitchFamily="49" charset="0"/>
                <a:cs typeface="Consolas" pitchFamily="49" charset="0"/>
              </a:rPr>
              <a:t>for (int i = 0; i &lt; </a:t>
            </a:r>
            <a:r>
              <a:rPr lang="en-US" sz="1800" dirty="0" err="1">
                <a:latin typeface="Consolas" pitchFamily="49" charset="0"/>
                <a:cs typeface="Consolas" pitchFamily="49" charset="0"/>
              </a:rPr>
              <a:t>actualParams.size</a:t>
            </a:r>
            <a:r>
              <a:rPr lang="en-US" sz="1800" dirty="0">
                <a:latin typeface="Consolas" pitchFamily="49" charset="0"/>
                <a:cs typeface="Consolas" pitchFamily="49" charset="0"/>
              </a:rPr>
              <a:t>(); ++i)</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    var </a:t>
            </a:r>
            <a:r>
              <a:rPr lang="en-US" sz="1800" dirty="0" err="1">
                <a:latin typeface="Consolas" pitchFamily="49" charset="0"/>
                <a:cs typeface="Consolas" pitchFamily="49" charset="0"/>
              </a:rPr>
              <a:t>actualParam</a:t>
            </a:r>
            <a:r>
              <a:rPr lang="en-US" sz="1800" dirty="0">
                <a:latin typeface="Consolas" pitchFamily="49" charset="0"/>
                <a:cs typeface="Consolas" pitchFamily="49" charset="0"/>
              </a:rPr>
              <a:t> = </a:t>
            </a:r>
            <a:r>
              <a:rPr lang="en-US" sz="1800" dirty="0" err="1">
                <a:latin typeface="Consolas" pitchFamily="49" charset="0"/>
                <a:cs typeface="Consolas" pitchFamily="49" charset="0"/>
              </a:rPr>
              <a:t>actualParams.get</a:t>
            </a:r>
            <a:r>
              <a:rPr lang="en-US" sz="1800" dirty="0">
                <a:latin typeface="Consolas" pitchFamily="49" charset="0"/>
                <a:cs typeface="Consolas" pitchFamily="49" charset="0"/>
              </a:rPr>
              <a:t>(i);</a:t>
            </a:r>
          </a:p>
          <a:p>
            <a:pPr marL="0" indent="0">
              <a:spcBef>
                <a:spcPts val="200"/>
              </a:spcBef>
              <a:buNone/>
            </a:pPr>
            <a:r>
              <a:rPr lang="en-US" sz="1800" dirty="0">
                <a:latin typeface="Consolas" pitchFamily="49" charset="0"/>
                <a:cs typeface="Consolas" pitchFamily="49" charset="0"/>
              </a:rPr>
              <a:t>    var </a:t>
            </a:r>
            <a:r>
              <a:rPr lang="en-US" sz="1800" dirty="0" err="1">
                <a:latin typeface="Consolas" pitchFamily="49" charset="0"/>
                <a:cs typeface="Consolas" pitchFamily="49" charset="0"/>
              </a:rPr>
              <a:t>paramDecl</a:t>
            </a:r>
            <a:r>
              <a:rPr lang="en-US" sz="1800" dirty="0">
                <a:latin typeface="Consolas" pitchFamily="49" charset="0"/>
                <a:cs typeface="Consolas" pitchFamily="49" charset="0"/>
              </a:rPr>
              <a:t>   = </a:t>
            </a:r>
            <a:r>
              <a:rPr lang="en-US" sz="1800" dirty="0" err="1">
                <a:latin typeface="Consolas" pitchFamily="49" charset="0"/>
                <a:cs typeface="Consolas" pitchFamily="49" charset="0"/>
              </a:rPr>
              <a:t>paramDecls.get</a:t>
            </a:r>
            <a:r>
              <a:rPr lang="en-US" sz="1800" dirty="0">
                <a:latin typeface="Consolas" pitchFamily="49" charset="0"/>
                <a:cs typeface="Consolas" pitchFamily="49" charset="0"/>
              </a:rPr>
              <a:t>(i);</a:t>
            </a:r>
          </a:p>
          <a:p>
            <a:pPr marL="0" indent="0">
              <a:spcBef>
                <a:spcPts val="200"/>
              </a:spcBef>
              <a:buNone/>
            </a:pPr>
            <a:endParaRPr lang="en-US" sz="1800" dirty="0">
              <a:latin typeface="Consolas" pitchFamily="49" charset="0"/>
              <a:cs typeface="Consolas" pitchFamily="49" charset="0"/>
            </a:endParaRPr>
          </a:p>
          <a:p>
            <a:pPr marL="0" indent="0">
              <a:spcBef>
                <a:spcPts val="200"/>
              </a:spcBef>
              <a:buNone/>
            </a:pPr>
            <a:r>
              <a:rPr lang="en-US" sz="1800" dirty="0">
                <a:latin typeface="Consolas" pitchFamily="49" charset="0"/>
                <a:cs typeface="Consolas" pitchFamily="49" charset="0"/>
              </a:rPr>
              <a:t>    ...  // check that types match</a:t>
            </a:r>
          </a:p>
          <a:p>
            <a:pPr marL="0" indent="0">
              <a:spcBef>
                <a:spcPts val="200"/>
              </a:spcBef>
              <a:buNone/>
            </a:pPr>
            <a:endParaRPr lang="en-US" sz="1800" dirty="0">
              <a:latin typeface="Consolas" pitchFamily="49" charset="0"/>
              <a:cs typeface="Consolas" pitchFamily="49" charset="0"/>
            </a:endParaRPr>
          </a:p>
          <a:p>
            <a:pPr marL="0" indent="0">
              <a:spcBef>
                <a:spcPts val="200"/>
              </a:spcBef>
              <a:buNone/>
            </a:pPr>
            <a:r>
              <a:rPr lang="en-US" sz="1800" dirty="0">
                <a:latin typeface="Consolas" pitchFamily="49" charset="0"/>
                <a:cs typeface="Consolas" pitchFamily="49" charset="0"/>
              </a:rPr>
              <a:t>    // For var parameters, check types are equal and</a:t>
            </a:r>
          </a:p>
          <a:p>
            <a:pPr marL="0" indent="0">
              <a:spcBef>
                <a:spcPts val="200"/>
              </a:spcBef>
              <a:buNone/>
            </a:pPr>
            <a:r>
              <a:rPr lang="en-US" sz="1800" dirty="0">
                <a:latin typeface="Consolas" pitchFamily="49" charset="0"/>
                <a:cs typeface="Consolas" pitchFamily="49" charset="0"/>
              </a:rPr>
              <a:t>    // that only variables are passed. </a:t>
            </a:r>
          </a:p>
          <a:p>
            <a:pPr marL="0" indent="0">
              <a:spcBef>
                <a:spcPts val="200"/>
              </a:spcBef>
              <a:buNone/>
            </a:pPr>
            <a:r>
              <a:rPr lang="en-US" sz="1800" dirty="0">
                <a:latin typeface="Consolas" pitchFamily="49" charset="0"/>
                <a:cs typeface="Consolas" pitchFamily="49" charset="0"/>
              </a:rPr>
              <a:t>    </a:t>
            </a:r>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4E55CFDC-59FD-439A-9888-9166DC8A4008}" type="slidenum">
              <a:rPr lang="en-US" smtClean="0"/>
              <a:pPr/>
              <a:t>43</a:t>
            </a:fld>
            <a:endParaRPr lang="en-US"/>
          </a:p>
        </p:txBody>
      </p:sp>
      <p:sp>
        <p:nvSpPr>
          <p:cNvPr id="6" name="TextBox 5"/>
          <p:cNvSpPr txBox="1"/>
          <p:nvPr/>
        </p:nvSpPr>
        <p:spPr>
          <a:xfrm>
            <a:off x="807989" y="1363663"/>
            <a:ext cx="7528023" cy="430887"/>
          </a:xfrm>
          <a:prstGeom prst="rect">
            <a:avLst/>
          </a:prstGeom>
          <a:noFill/>
          <a:ln>
            <a:solidFill>
              <a:schemeClr val="tx1"/>
            </a:solidFill>
          </a:ln>
        </p:spPr>
        <p:txBody>
          <a:bodyPr wrap="none" rtlCol="0">
            <a:spAutoFit/>
          </a:bodyPr>
          <a:lstStyle/>
          <a:p>
            <a:r>
              <a:rPr lang="en-US" sz="2200" dirty="0">
                <a:latin typeface="+mn-lt"/>
                <a:cs typeface="Consolas" pitchFamily="49" charset="0"/>
              </a:rPr>
              <a:t>(in method </a:t>
            </a:r>
            <a:r>
              <a:rPr lang="en-US" sz="2200" dirty="0">
                <a:latin typeface="Consolas" panose="020B0609020204030204" pitchFamily="49" charset="0"/>
                <a:cs typeface="Consolas" pitchFamily="49" charset="0"/>
              </a:rPr>
              <a:t>checkConstraints()</a:t>
            </a:r>
            <a:r>
              <a:rPr lang="en-US" sz="2200" dirty="0">
                <a:latin typeface="+mn-lt"/>
                <a:cs typeface="Consolas" pitchFamily="49" charset="0"/>
              </a:rPr>
              <a:t> of </a:t>
            </a:r>
            <a:r>
              <a:rPr lang="en-US" sz="2200" dirty="0">
                <a:latin typeface="Consolas" panose="020B0609020204030204" pitchFamily="49" charset="0"/>
                <a:cs typeface="Consolas" pitchFamily="49" charset="0"/>
              </a:rPr>
              <a:t>ProcedureCallStmt</a:t>
            </a:r>
            <a:r>
              <a:rPr lang="en-US" sz="2200" dirty="0">
                <a:latin typeface="+mn-lt"/>
                <a:cs typeface="Consolas" pitchFamily="49" charset="0"/>
              </a:rPr>
              <a:t>)</a:t>
            </a:r>
          </a:p>
        </p:txBody>
      </p:sp>
      <p:sp>
        <p:nvSpPr>
          <p:cNvPr id="7" name="TextBox 6">
            <a:extLst>
              <a:ext uri="{FF2B5EF4-FFF2-40B4-BE49-F238E27FC236}">
                <a16:creationId xmlns:a16="http://schemas.microsoft.com/office/drawing/2014/main" id="{21951CA7-B3A8-98C7-D032-8C998A72A0D2}"/>
              </a:ext>
            </a:extLst>
          </p:cNvPr>
          <p:cNvSpPr txBox="1"/>
          <p:nvPr/>
        </p:nvSpPr>
        <p:spPr>
          <a:xfrm>
            <a:off x="3222913" y="5929868"/>
            <a:ext cx="2698175" cy="369332"/>
          </a:xfrm>
          <a:prstGeom prst="rect">
            <a:avLst/>
          </a:prstGeom>
          <a:noFill/>
        </p:spPr>
        <p:txBody>
          <a:bodyPr wrap="none" rtlCol="0">
            <a:spAutoFit/>
          </a:bodyPr>
          <a:lstStyle/>
          <a:p>
            <a:r>
              <a:rPr lang="en-US" sz="1800" dirty="0"/>
              <a:t>(continued on next slide)</a:t>
            </a:r>
          </a:p>
        </p:txBody>
      </p:sp>
    </p:spTree>
    <p:extLst>
      <p:ext uri="{BB962C8B-B14F-4D97-AF65-F5344CB8AC3E}">
        <p14:creationId xmlns:p14="http://schemas.microsoft.com/office/powerpoint/2010/main" val="28163949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Checking </a:t>
            </a:r>
            <a:r>
              <a:rPr lang="en-US" dirty="0">
                <a:latin typeface="Consolas" pitchFamily="49" charset="0"/>
                <a:cs typeface="Consolas" pitchFamily="49" charset="0"/>
              </a:rPr>
              <a:t>Variable</a:t>
            </a:r>
            <a:r>
              <a:rPr lang="en-US" dirty="0">
                <a:cs typeface="Consolas" pitchFamily="49" charset="0"/>
              </a:rPr>
              <a:t> Parameters</a:t>
            </a:r>
            <a:br>
              <a:rPr lang="en-US" dirty="0"/>
            </a:br>
            <a:r>
              <a:rPr lang="en-US" sz="2400" dirty="0"/>
              <a:t>(continued)</a:t>
            </a:r>
          </a:p>
        </p:txBody>
      </p:sp>
      <p:sp>
        <p:nvSpPr>
          <p:cNvPr id="3" name="Content Placeholder 2"/>
          <p:cNvSpPr>
            <a:spLocks noGrp="1"/>
          </p:cNvSpPr>
          <p:nvPr>
            <p:ph idx="1"/>
          </p:nvPr>
        </p:nvSpPr>
        <p:spPr>
          <a:xfrm>
            <a:off x="411480" y="1363663"/>
            <a:ext cx="8351520" cy="4935537"/>
          </a:xfrm>
        </p:spPr>
        <p:txBody>
          <a:bodyPr tIns="91440"/>
          <a:lstStyle/>
          <a:p>
            <a:pPr marL="0" indent="0">
              <a:spcBef>
                <a:spcPts val="200"/>
              </a:spcBef>
              <a:buNone/>
            </a:pPr>
            <a:r>
              <a:rPr lang="en-US" sz="1800" dirty="0">
                <a:latin typeface="Consolas" pitchFamily="49" charset="0"/>
                <a:cs typeface="Consolas" pitchFamily="49" charset="0"/>
              </a:rPr>
              <a:t>    if (</a:t>
            </a:r>
            <a:r>
              <a:rPr lang="en-US" sz="1800" dirty="0" err="1">
                <a:latin typeface="Consolas" pitchFamily="49" charset="0"/>
                <a:cs typeface="Consolas" pitchFamily="49" charset="0"/>
              </a:rPr>
              <a:t>paramDecl.isVarParam</a:t>
            </a:r>
            <a:r>
              <a:rPr lang="en-US" sz="1800" dirty="0">
                <a:latin typeface="Consolas" pitchFamily="49" charset="0"/>
                <a:cs typeface="Consolas" pitchFamily="49" charset="0"/>
              </a:rPr>
              <a:t>())</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        if (</a:t>
            </a:r>
            <a:r>
              <a:rPr lang="en-US" sz="1800" dirty="0" err="1">
                <a:latin typeface="Consolas" pitchFamily="49" charset="0"/>
                <a:cs typeface="Consolas" pitchFamily="49" charset="0"/>
              </a:rPr>
              <a:t>paramDecl.type</a:t>
            </a:r>
            <a:r>
              <a:rPr lang="en-US" sz="1800" dirty="0">
                <a:latin typeface="Consolas" pitchFamily="49" charset="0"/>
                <a:cs typeface="Consolas" pitchFamily="49" charset="0"/>
              </a:rPr>
              <a:t>() != </a:t>
            </a:r>
            <a:r>
              <a:rPr lang="en-US" sz="1800" dirty="0" err="1">
                <a:latin typeface="Consolas" pitchFamily="49" charset="0"/>
                <a:cs typeface="Consolas" pitchFamily="49" charset="0"/>
              </a:rPr>
              <a:t>actualParam.type</a:t>
            </a:r>
            <a:r>
              <a:rPr lang="en-US" sz="1800" dirty="0">
                <a:latin typeface="Consolas" pitchFamily="49" charset="0"/>
                <a:cs typeface="Consolas" pitchFamily="49" charset="0"/>
              </a:rPr>
              <a:t>())</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            var </a:t>
            </a:r>
            <a:r>
              <a:rPr lang="en-US" sz="1800" dirty="0" err="1">
                <a:latin typeface="Consolas" pitchFamily="49" charset="0"/>
                <a:cs typeface="Consolas" pitchFamily="49" charset="0"/>
              </a:rPr>
              <a:t>errorMsg</a:t>
            </a:r>
            <a:r>
              <a:rPr lang="en-US" sz="1800" dirty="0">
                <a:latin typeface="Consolas" pitchFamily="49" charset="0"/>
                <a:cs typeface="Consolas" pitchFamily="49" charset="0"/>
              </a:rPr>
              <a:t> = "Variable parameter types must ...";</a:t>
            </a:r>
          </a:p>
          <a:p>
            <a:pPr marL="0" indent="0">
              <a:spcBef>
                <a:spcPts val="200"/>
              </a:spcBef>
              <a:buNone/>
            </a:pPr>
            <a:r>
              <a:rPr lang="en-US" sz="1800" dirty="0">
                <a:latin typeface="Consolas" pitchFamily="49" charset="0"/>
                <a:cs typeface="Consolas" pitchFamily="49" charset="0"/>
              </a:rPr>
              <a:t>            throw error(</a:t>
            </a:r>
            <a:r>
              <a:rPr lang="en-US" sz="1800" dirty="0" err="1">
                <a:latin typeface="Consolas" pitchFamily="49" charset="0"/>
                <a:cs typeface="Consolas" pitchFamily="49" charset="0"/>
              </a:rPr>
              <a:t>actualParam.position</a:t>
            </a:r>
            <a:r>
              <a:rPr lang="en-US" sz="1800" dirty="0">
                <a:latin typeface="Consolas" pitchFamily="49" charset="0"/>
                <a:cs typeface="Consolas" pitchFamily="49" charset="0"/>
              </a:rPr>
              <a:t>(), </a:t>
            </a:r>
            <a:r>
              <a:rPr lang="en-US" sz="1800" dirty="0" err="1">
                <a:latin typeface="Consolas" pitchFamily="49" charset="0"/>
                <a:cs typeface="Consolas" pitchFamily="49" charset="0"/>
              </a:rPr>
              <a:t>errorMsg</a:t>
            </a:r>
            <a:r>
              <a:rPr lang="en-US" sz="1800" dirty="0">
                <a:latin typeface="Consolas" pitchFamily="49" charset="0"/>
                <a:cs typeface="Consolas" pitchFamily="49" charset="0"/>
              </a:rPr>
              <a:t>);</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endParaRPr lang="en-US" sz="1800" dirty="0">
              <a:latin typeface="Consolas" pitchFamily="49" charset="0"/>
              <a:cs typeface="Consolas" pitchFamily="49" charset="0"/>
            </a:endParaRPr>
          </a:p>
          <a:p>
            <a:pPr marL="0" indent="0">
              <a:spcBef>
                <a:spcPts val="200"/>
              </a:spcBef>
              <a:buNone/>
            </a:pPr>
            <a:r>
              <a:rPr lang="en-US" sz="1800" dirty="0">
                <a:latin typeface="Consolas" pitchFamily="49" charset="0"/>
                <a:cs typeface="Consolas" pitchFamily="49" charset="0"/>
              </a:rPr>
              <a:t>        if (</a:t>
            </a:r>
            <a:r>
              <a:rPr lang="en-US" sz="1800" dirty="0" err="1">
                <a:latin typeface="Consolas" pitchFamily="49" charset="0"/>
                <a:cs typeface="Consolas" pitchFamily="49" charset="0"/>
              </a:rPr>
              <a:t>actualParam</a:t>
            </a:r>
            <a:r>
              <a:rPr lang="en-US" sz="1800" dirty="0">
                <a:latin typeface="Consolas" pitchFamily="49" charset="0"/>
                <a:cs typeface="Consolas" pitchFamily="49" charset="0"/>
              </a:rPr>
              <a:t> </a:t>
            </a:r>
            <a:r>
              <a:rPr lang="en-US" sz="1800" dirty="0" err="1">
                <a:latin typeface="Consolas" pitchFamily="49" charset="0"/>
                <a:cs typeface="Consolas" pitchFamily="49" charset="0"/>
              </a:rPr>
              <a:t>instanceof</a:t>
            </a:r>
            <a:r>
              <a:rPr lang="en-US" sz="1800" dirty="0">
                <a:latin typeface="Consolas" pitchFamily="49" charset="0"/>
                <a:cs typeface="Consolas" pitchFamily="49" charset="0"/>
              </a:rPr>
              <a:t> Variable variable)</a:t>
            </a:r>
          </a:p>
          <a:p>
            <a:pPr marL="0" indent="0">
              <a:spcBef>
                <a:spcPts val="200"/>
              </a:spcBef>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variable.setUseAsExpression</a:t>
            </a:r>
            <a:r>
              <a:rPr lang="en-US" sz="1800" dirty="0">
                <a:latin typeface="Consolas" pitchFamily="49" charset="0"/>
                <a:cs typeface="Consolas" pitchFamily="49" charset="0"/>
              </a:rPr>
              <a:t>(false);</a:t>
            </a:r>
          </a:p>
          <a:p>
            <a:pPr marL="0" indent="0">
              <a:spcBef>
                <a:spcPts val="200"/>
              </a:spcBef>
              <a:buNone/>
            </a:pPr>
            <a:r>
              <a:rPr lang="en-US" sz="1800" dirty="0">
                <a:latin typeface="Consolas" pitchFamily="49" charset="0"/>
                <a:cs typeface="Consolas" pitchFamily="49" charset="0"/>
              </a:rPr>
              <a:t>        else</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            var </a:t>
            </a:r>
            <a:r>
              <a:rPr lang="en-US" sz="1800" dirty="0" err="1">
                <a:latin typeface="Consolas" pitchFamily="49" charset="0"/>
                <a:cs typeface="Consolas" pitchFamily="49" charset="0"/>
              </a:rPr>
              <a:t>errorMsg</a:t>
            </a:r>
            <a:r>
              <a:rPr lang="en-US" sz="1800" dirty="0">
                <a:latin typeface="Consolas" pitchFamily="49" charset="0"/>
                <a:cs typeface="Consolas" pitchFamily="49" charset="0"/>
              </a:rPr>
              <a:t> = "Expression for a variable ...";</a:t>
            </a:r>
          </a:p>
          <a:p>
            <a:pPr marL="0" indent="0">
              <a:spcBef>
                <a:spcPts val="200"/>
              </a:spcBef>
              <a:buNone/>
            </a:pPr>
            <a:r>
              <a:rPr lang="en-US" sz="1800" dirty="0">
                <a:latin typeface="Consolas" pitchFamily="49" charset="0"/>
                <a:cs typeface="Consolas" pitchFamily="49" charset="0"/>
              </a:rPr>
              <a:t>            throw error(</a:t>
            </a:r>
            <a:r>
              <a:rPr lang="en-US" sz="1800" dirty="0" err="1">
                <a:latin typeface="Consolas" pitchFamily="49" charset="0"/>
                <a:cs typeface="Consolas" pitchFamily="49" charset="0"/>
              </a:rPr>
              <a:t>actualParam.position</a:t>
            </a:r>
            <a:r>
              <a:rPr lang="en-US" sz="1800" dirty="0">
                <a:latin typeface="Consolas" pitchFamily="49" charset="0"/>
                <a:cs typeface="Consolas" pitchFamily="49" charset="0"/>
              </a:rPr>
              <a:t>(), </a:t>
            </a:r>
            <a:r>
              <a:rPr lang="en-US" sz="1800" dirty="0" err="1">
                <a:latin typeface="Consolas" pitchFamily="49" charset="0"/>
                <a:cs typeface="Consolas" pitchFamily="49" charset="0"/>
              </a:rPr>
              <a:t>errorMsg</a:t>
            </a:r>
            <a:r>
              <a:rPr lang="en-US" sz="1800" dirty="0">
                <a:latin typeface="Consolas" pitchFamily="49" charset="0"/>
                <a:cs typeface="Consolas" pitchFamily="49" charset="0"/>
              </a:rPr>
              <a:t>);</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endParaRPr lang="en-US" sz="1800" dirty="0">
              <a:latin typeface="Consolas" pitchFamily="49" charset="0"/>
              <a:cs typeface="Consolas" pitchFamily="49" charset="0"/>
            </a:endParaRPr>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4E55CFDC-59FD-439A-9888-9166DC8A4008}" type="slidenum">
              <a:rPr lang="en-US" smtClean="0"/>
              <a:pPr/>
              <a:t>44</a:t>
            </a:fld>
            <a:endParaRPr lang="en-US"/>
          </a:p>
        </p:txBody>
      </p:sp>
    </p:spTree>
    <p:extLst>
      <p:ext uri="{BB962C8B-B14F-4D97-AF65-F5344CB8AC3E}">
        <p14:creationId xmlns:p14="http://schemas.microsoft.com/office/powerpoint/2010/main" val="2985120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3"/>
          <p:cNvSpPr>
            <a:spLocks noGrp="1"/>
          </p:cNvSpPr>
          <p:nvPr>
            <p:ph type="ftr" sz="quarter" idx="10"/>
          </p:nvPr>
        </p:nvSpPr>
        <p:spPr>
          <a:noFill/>
        </p:spPr>
        <p:txBody>
          <a:bodyPr/>
          <a:lstStyle/>
          <a:p>
            <a:r>
              <a:rPr lang="en-US"/>
              <a:t>©SoftMoore Consulting</a:t>
            </a:r>
          </a:p>
        </p:txBody>
      </p:sp>
      <p:sp>
        <p:nvSpPr>
          <p:cNvPr id="27651" name="Slide Number Placeholder 4"/>
          <p:cNvSpPr>
            <a:spLocks noGrp="1"/>
          </p:cNvSpPr>
          <p:nvPr>
            <p:ph type="sldNum" sz="quarter" idx="11"/>
          </p:nvPr>
        </p:nvSpPr>
        <p:spPr>
          <a:noFill/>
        </p:spPr>
        <p:txBody>
          <a:bodyPr/>
          <a:lstStyle/>
          <a:p>
            <a:r>
              <a:rPr lang="en-US"/>
              <a:t>Slide </a:t>
            </a:r>
            <a:fld id="{09AA6CE4-25CF-4B09-B6A3-A61FFFB27230}" type="slidenum">
              <a:rPr lang="en-US" smtClean="0"/>
              <a:pPr/>
              <a:t>45</a:t>
            </a:fld>
            <a:endParaRPr lang="en-US"/>
          </a:p>
        </p:txBody>
      </p:sp>
      <p:sp>
        <p:nvSpPr>
          <p:cNvPr id="27652" name="Rectangle 2"/>
          <p:cNvSpPr>
            <a:spLocks noGrp="1" noChangeArrowheads="1"/>
          </p:cNvSpPr>
          <p:nvPr>
            <p:ph type="title"/>
          </p:nvPr>
        </p:nvSpPr>
        <p:spPr/>
        <p:txBody>
          <a:bodyPr/>
          <a:lstStyle/>
          <a:p>
            <a:r>
              <a:rPr lang="en-US" dirty="0"/>
              <a:t>Calling a Subprogram</a:t>
            </a:r>
          </a:p>
        </p:txBody>
      </p:sp>
      <p:sp>
        <p:nvSpPr>
          <p:cNvPr id="27653" name="Rectangle 3"/>
          <p:cNvSpPr>
            <a:spLocks noGrp="1" noChangeArrowheads="1"/>
          </p:cNvSpPr>
          <p:nvPr>
            <p:ph type="body" idx="1"/>
          </p:nvPr>
        </p:nvSpPr>
        <p:spPr/>
        <p:txBody>
          <a:bodyPr/>
          <a:lstStyle/>
          <a:p>
            <a:pPr>
              <a:buFontTx/>
              <a:buNone/>
            </a:pPr>
            <a:r>
              <a:rPr lang="en-US" dirty="0"/>
              <a:t>When a subprogram is called</a:t>
            </a:r>
          </a:p>
          <a:p>
            <a:r>
              <a:rPr lang="en-US" dirty="0"/>
              <a:t>For a function, space is allocated on the stack for the return value.</a:t>
            </a:r>
          </a:p>
          <a:p>
            <a:r>
              <a:rPr lang="en-US" dirty="0"/>
              <a:t>The actual parameters are pushed onto the stack.</a:t>
            </a:r>
          </a:p>
          <a:p>
            <a:pPr lvl="1"/>
            <a:r>
              <a:rPr lang="en-US" dirty="0"/>
              <a:t>expression values for value parameters</a:t>
            </a:r>
          </a:p>
          <a:p>
            <a:pPr lvl="1"/>
            <a:r>
              <a:rPr lang="en-US" dirty="0"/>
              <a:t>addresses for variable parameters</a:t>
            </a:r>
          </a:p>
          <a:p>
            <a:r>
              <a:rPr lang="en-US" dirty="0"/>
              <a:t>The </a:t>
            </a:r>
            <a:r>
              <a:rPr lang="en-US" sz="2300" dirty="0">
                <a:latin typeface="Consolas" pitchFamily="49" charset="0"/>
                <a:cs typeface="Consolas" pitchFamily="49" charset="0"/>
              </a:rPr>
              <a:t>CALL</a:t>
            </a:r>
            <a:r>
              <a:rPr lang="en-US" dirty="0"/>
              <a:t> instruction pushes the context part onto the stack.</a:t>
            </a:r>
          </a:p>
          <a:p>
            <a:r>
              <a:rPr lang="en-US" dirty="0"/>
              <a:t>The </a:t>
            </a:r>
            <a:r>
              <a:rPr lang="en-US" sz="2300" dirty="0">
                <a:latin typeface="Consolas" pitchFamily="49" charset="0"/>
                <a:cs typeface="Consolas" pitchFamily="49" charset="0"/>
              </a:rPr>
              <a:t>PROC</a:t>
            </a:r>
            <a:r>
              <a:rPr lang="en-US" dirty="0"/>
              <a:t> instruction of the called subprogram allocates space on the stack for the subprogram’s local variables.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onsolas" pitchFamily="49" charset="0"/>
                <a:cs typeface="Consolas" pitchFamily="49" charset="0"/>
              </a:rPr>
              <a:t>PROC</a:t>
            </a:r>
            <a:r>
              <a:rPr lang="en-US" dirty="0"/>
              <a:t> Instruction versus </a:t>
            </a:r>
            <a:r>
              <a:rPr lang="en-US" dirty="0">
                <a:latin typeface="Consolas" pitchFamily="49" charset="0"/>
                <a:cs typeface="Consolas" pitchFamily="49" charset="0"/>
              </a:rPr>
              <a:t>ALLOC</a:t>
            </a:r>
            <a:r>
              <a:rPr lang="en-US" dirty="0"/>
              <a:t> Instruction</a:t>
            </a:r>
          </a:p>
        </p:txBody>
      </p:sp>
      <p:sp>
        <p:nvSpPr>
          <p:cNvPr id="3" name="Content Placeholder 2"/>
          <p:cNvSpPr>
            <a:spLocks noGrp="1"/>
          </p:cNvSpPr>
          <p:nvPr>
            <p:ph idx="1"/>
          </p:nvPr>
        </p:nvSpPr>
        <p:spPr/>
        <p:txBody>
          <a:bodyPr/>
          <a:lstStyle/>
          <a:p>
            <a:r>
              <a:rPr lang="en-US" dirty="0"/>
              <a:t>For the CVM, the </a:t>
            </a:r>
            <a:r>
              <a:rPr lang="en-US" sz="2300" dirty="0">
                <a:latin typeface="Consolas" panose="020B0609020204030204" pitchFamily="49" charset="0"/>
              </a:rPr>
              <a:t>PROC</a:t>
            </a:r>
            <a:r>
              <a:rPr lang="en-US" dirty="0"/>
              <a:t> instruction and the </a:t>
            </a:r>
            <a:r>
              <a:rPr lang="en-US" sz="2300" dirty="0">
                <a:latin typeface="Consolas" panose="020B0609020204030204" pitchFamily="49" charset="0"/>
              </a:rPr>
              <a:t>ALLOC</a:t>
            </a:r>
            <a:r>
              <a:rPr lang="en-US" dirty="0"/>
              <a:t> instruction are equivalent and can be used interchangeably.</a:t>
            </a:r>
          </a:p>
          <a:p>
            <a:r>
              <a:rPr lang="en-US" dirty="0"/>
              <a:t>Both instructions simply modify the stack pointer </a:t>
            </a:r>
            <a:r>
              <a:rPr lang="en-US" dirty="0">
                <a:latin typeface="Consolas" panose="020B0609020204030204" pitchFamily="49" charset="0"/>
              </a:rPr>
              <a:t>SP</a:t>
            </a:r>
            <a:r>
              <a:rPr lang="en-US" dirty="0"/>
              <a:t> to allocate space on the run-time stack; e.g., for a function return value or a subprogram’s local variable.</a:t>
            </a:r>
          </a:p>
          <a:p>
            <a:endParaRPr lang="en-US" dirty="0"/>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4E55CFDC-59FD-439A-9888-9166DC8A4008}" type="slidenum">
              <a:rPr lang="en-US" smtClean="0"/>
              <a:pPr>
                <a:defRPr/>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3"/>
          <p:cNvSpPr>
            <a:spLocks noGrp="1"/>
          </p:cNvSpPr>
          <p:nvPr>
            <p:ph type="ftr" sz="quarter" idx="10"/>
          </p:nvPr>
        </p:nvSpPr>
        <p:spPr>
          <a:noFill/>
        </p:spPr>
        <p:txBody>
          <a:bodyPr/>
          <a:lstStyle/>
          <a:p>
            <a:r>
              <a:rPr lang="en-US"/>
              <a:t>©SoftMoore Consulting</a:t>
            </a:r>
          </a:p>
        </p:txBody>
      </p:sp>
      <p:sp>
        <p:nvSpPr>
          <p:cNvPr id="28675" name="Slide Number Placeholder 4"/>
          <p:cNvSpPr>
            <a:spLocks noGrp="1"/>
          </p:cNvSpPr>
          <p:nvPr>
            <p:ph type="sldNum" sz="quarter" idx="11"/>
          </p:nvPr>
        </p:nvSpPr>
        <p:spPr>
          <a:noFill/>
        </p:spPr>
        <p:txBody>
          <a:bodyPr/>
          <a:lstStyle/>
          <a:p>
            <a:r>
              <a:rPr lang="en-US"/>
              <a:t>Slide </a:t>
            </a:r>
            <a:fld id="{AF88D94C-23BA-4549-9510-4C5AF057383A}" type="slidenum">
              <a:rPr lang="en-US" smtClean="0"/>
              <a:pPr/>
              <a:t>47</a:t>
            </a:fld>
            <a:endParaRPr lang="en-US"/>
          </a:p>
        </p:txBody>
      </p:sp>
      <p:sp>
        <p:nvSpPr>
          <p:cNvPr id="28676" name="Rectangle 2"/>
          <p:cNvSpPr>
            <a:spLocks noGrp="1" noChangeArrowheads="1"/>
          </p:cNvSpPr>
          <p:nvPr>
            <p:ph type="title"/>
          </p:nvPr>
        </p:nvSpPr>
        <p:spPr/>
        <p:txBody>
          <a:bodyPr/>
          <a:lstStyle/>
          <a:p>
            <a:r>
              <a:rPr lang="en-US" dirty="0"/>
              <a:t>Return Instruction</a:t>
            </a:r>
          </a:p>
        </p:txBody>
      </p:sp>
      <p:sp>
        <p:nvSpPr>
          <p:cNvPr id="28677" name="Rectangle 3"/>
          <p:cNvSpPr>
            <a:spLocks noGrp="1" noChangeArrowheads="1"/>
          </p:cNvSpPr>
          <p:nvPr>
            <p:ph type="body" idx="1"/>
          </p:nvPr>
        </p:nvSpPr>
        <p:spPr/>
        <p:txBody>
          <a:bodyPr/>
          <a:lstStyle/>
          <a:p>
            <a:r>
              <a:rPr lang="en-US" dirty="0"/>
              <a:t>The CVM return instruction indicates the number of bytes used by the subprogram parameters so that they can be removed from the stack</a:t>
            </a:r>
          </a:p>
          <a:p>
            <a:r>
              <a:rPr lang="en-US" dirty="0"/>
              <a:t>Example</a:t>
            </a:r>
          </a:p>
          <a:p>
            <a:pPr lvl="1">
              <a:buNone/>
            </a:pPr>
            <a:r>
              <a:rPr lang="en-US" dirty="0">
                <a:latin typeface="Consolas" panose="020B0609020204030204" pitchFamily="49" charset="0"/>
                <a:cs typeface="Consolas" pitchFamily="49" charset="0"/>
              </a:rPr>
              <a:t>ret 8   // </a:t>
            </a:r>
            <a:r>
              <a:rPr lang="en-US" dirty="0">
                <a:latin typeface="Consolas" panose="020B0609020204030204" pitchFamily="49" charset="0"/>
              </a:rPr>
              <a:t>removes 8 bytes from the stack;</a:t>
            </a:r>
          </a:p>
          <a:p>
            <a:pPr lvl="1">
              <a:spcBef>
                <a:spcPts val="200"/>
              </a:spcBef>
              <a:buNone/>
            </a:pPr>
            <a:r>
              <a:rPr lang="en-US" dirty="0">
                <a:latin typeface="Consolas" panose="020B0609020204030204" pitchFamily="49" charset="0"/>
              </a:rPr>
              <a:t>        // does not return 8 to the caller</a:t>
            </a:r>
            <a:endParaRPr lang="en-US" dirty="0">
              <a:latin typeface="Consolas" panose="020B0609020204030204" pitchFamily="49" charset="0"/>
              <a:cs typeface="Consolas" pitchFamily="49" charset="0"/>
            </a:endParaRPr>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3"/>
          <p:cNvSpPr>
            <a:spLocks noGrp="1"/>
          </p:cNvSpPr>
          <p:nvPr>
            <p:ph type="ftr" sz="quarter" idx="10"/>
          </p:nvPr>
        </p:nvSpPr>
        <p:spPr>
          <a:noFill/>
        </p:spPr>
        <p:txBody>
          <a:bodyPr/>
          <a:lstStyle/>
          <a:p>
            <a:r>
              <a:rPr lang="en-US"/>
              <a:t>©SoftMoore Consulting</a:t>
            </a:r>
          </a:p>
        </p:txBody>
      </p:sp>
      <p:sp>
        <p:nvSpPr>
          <p:cNvPr id="28675" name="Slide Number Placeholder 4"/>
          <p:cNvSpPr>
            <a:spLocks noGrp="1"/>
          </p:cNvSpPr>
          <p:nvPr>
            <p:ph type="sldNum" sz="quarter" idx="11"/>
          </p:nvPr>
        </p:nvSpPr>
        <p:spPr>
          <a:noFill/>
        </p:spPr>
        <p:txBody>
          <a:bodyPr/>
          <a:lstStyle/>
          <a:p>
            <a:r>
              <a:rPr lang="en-US"/>
              <a:t>Slide </a:t>
            </a:r>
            <a:fld id="{AF88D94C-23BA-4549-9510-4C5AF057383A}" type="slidenum">
              <a:rPr lang="en-US" smtClean="0"/>
              <a:pPr/>
              <a:t>48</a:t>
            </a:fld>
            <a:endParaRPr lang="en-US"/>
          </a:p>
        </p:txBody>
      </p:sp>
      <p:sp>
        <p:nvSpPr>
          <p:cNvPr id="28676" name="Rectangle 2"/>
          <p:cNvSpPr>
            <a:spLocks noGrp="1" noChangeArrowheads="1"/>
          </p:cNvSpPr>
          <p:nvPr>
            <p:ph type="title"/>
          </p:nvPr>
        </p:nvSpPr>
        <p:spPr/>
        <p:txBody>
          <a:bodyPr/>
          <a:lstStyle/>
          <a:p>
            <a:r>
              <a:rPr lang="en-US" dirty="0"/>
              <a:t>Returning from a Subprogram</a:t>
            </a:r>
          </a:p>
        </p:txBody>
      </p:sp>
      <p:sp>
        <p:nvSpPr>
          <p:cNvPr id="28677" name="Rectangle 3"/>
          <p:cNvSpPr>
            <a:spLocks noGrp="1" noChangeArrowheads="1"/>
          </p:cNvSpPr>
          <p:nvPr>
            <p:ph type="body" idx="1"/>
          </p:nvPr>
        </p:nvSpPr>
        <p:spPr/>
        <p:txBody>
          <a:bodyPr/>
          <a:lstStyle/>
          <a:p>
            <a:pPr>
              <a:buNone/>
            </a:pPr>
            <a:r>
              <a:rPr lang="en-US" dirty="0"/>
              <a:t>When a return instruction is executed</a:t>
            </a:r>
          </a:p>
          <a:p>
            <a:r>
              <a:rPr lang="en-US" dirty="0">
                <a:latin typeface="Consolas" panose="020B0609020204030204" pitchFamily="49" charset="0"/>
              </a:rPr>
              <a:t>BP</a:t>
            </a:r>
            <a:r>
              <a:rPr lang="en-US" dirty="0"/>
              <a:t> is set to the dynamic link.</a:t>
            </a:r>
          </a:p>
          <a:p>
            <a:pPr lvl="1"/>
            <a:r>
              <a:rPr lang="en-US" dirty="0"/>
              <a:t>restores </a:t>
            </a:r>
            <a:r>
              <a:rPr lang="en-US" dirty="0">
                <a:latin typeface="Consolas" panose="020B0609020204030204" pitchFamily="49" charset="0"/>
              </a:rPr>
              <a:t>BP</a:t>
            </a:r>
            <a:r>
              <a:rPr lang="en-US" dirty="0"/>
              <a:t> to the caller’s activation record</a:t>
            </a:r>
          </a:p>
          <a:p>
            <a:r>
              <a:rPr lang="en-US" dirty="0">
                <a:latin typeface="Consolas" panose="020B0609020204030204" pitchFamily="49" charset="0"/>
              </a:rPr>
              <a:t>PC</a:t>
            </a:r>
            <a:r>
              <a:rPr lang="en-US" dirty="0"/>
              <a:t> is set to the return address.</a:t>
            </a:r>
          </a:p>
          <a:p>
            <a:pPr lvl="1"/>
            <a:r>
              <a:rPr lang="en-US" dirty="0"/>
              <a:t>restores </a:t>
            </a:r>
            <a:r>
              <a:rPr lang="en-US" dirty="0">
                <a:latin typeface="Consolas" panose="020B0609020204030204" pitchFamily="49" charset="0"/>
              </a:rPr>
              <a:t>PC</a:t>
            </a:r>
            <a:r>
              <a:rPr lang="en-US" dirty="0"/>
              <a:t> to the instruction after the call</a:t>
            </a:r>
          </a:p>
          <a:p>
            <a:r>
              <a:rPr lang="en-US" dirty="0">
                <a:latin typeface="Consolas" panose="020B0609020204030204" pitchFamily="49" charset="0"/>
              </a:rPr>
              <a:t>SP</a:t>
            </a:r>
            <a:r>
              <a:rPr lang="en-US" dirty="0"/>
              <a:t> is set so as to restore the stack to its state before the call instruction was executed.</a:t>
            </a:r>
          </a:p>
          <a:p>
            <a:pPr lvl="1"/>
            <a:r>
              <a:rPr lang="en-US" dirty="0"/>
              <a:t>For procedures, </a:t>
            </a:r>
            <a:r>
              <a:rPr lang="en-US" dirty="0">
                <a:latin typeface="Consolas" panose="020B0609020204030204" pitchFamily="49" charset="0"/>
              </a:rPr>
              <a:t>SP</a:t>
            </a:r>
            <a:r>
              <a:rPr lang="en-US" dirty="0"/>
              <a:t> is set to the memory address before the activation record.</a:t>
            </a:r>
          </a:p>
          <a:p>
            <a:pPr lvl="1"/>
            <a:r>
              <a:rPr lang="en-US" dirty="0"/>
              <a:t>For functions, </a:t>
            </a:r>
            <a:r>
              <a:rPr lang="en-US" dirty="0">
                <a:latin typeface="Consolas" panose="020B0609020204030204" pitchFamily="49" charset="0"/>
              </a:rPr>
              <a:t>SP</a:t>
            </a:r>
            <a:r>
              <a:rPr lang="en-US" dirty="0"/>
              <a:t> is set to the memory address of the last byte of the return value.  The return value remains on the stack.</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6305C-BCF2-A2E6-A40C-91724A253772}"/>
              </a:ext>
            </a:extLst>
          </p:cNvPr>
          <p:cNvSpPr>
            <a:spLocks noGrp="1"/>
          </p:cNvSpPr>
          <p:nvPr>
            <p:ph type="title"/>
          </p:nvPr>
        </p:nvSpPr>
        <p:spPr/>
        <p:txBody>
          <a:bodyPr/>
          <a:lstStyle/>
          <a:p>
            <a:r>
              <a:rPr lang="en-US" dirty="0"/>
              <a:t>Calling Conventions for CPRL on the CVM</a:t>
            </a:r>
          </a:p>
        </p:txBody>
      </p:sp>
      <p:sp>
        <p:nvSpPr>
          <p:cNvPr id="3" name="Content Placeholder 2">
            <a:extLst>
              <a:ext uri="{FF2B5EF4-FFF2-40B4-BE49-F238E27FC236}">
                <a16:creationId xmlns:a16="http://schemas.microsoft.com/office/drawing/2014/main" id="{E3B8AB94-145C-2CA6-8DB3-0CBA61B3E045}"/>
              </a:ext>
            </a:extLst>
          </p:cNvPr>
          <p:cNvSpPr>
            <a:spLocks noGrp="1"/>
          </p:cNvSpPr>
          <p:nvPr>
            <p:ph idx="1"/>
          </p:nvPr>
        </p:nvSpPr>
        <p:spPr/>
        <p:txBody>
          <a:bodyPr/>
          <a:lstStyle/>
          <a:p>
            <a:r>
              <a:rPr lang="en-US" dirty="0"/>
              <a:t>Calling subprogram reserves space on the run-time stack for a function return value.</a:t>
            </a:r>
          </a:p>
          <a:p>
            <a:r>
              <a:rPr lang="en-US" dirty="0"/>
              <a:t>Calling subprogram loads (pushes) the actual parameters onto the stack in the specified order.</a:t>
            </a:r>
          </a:p>
          <a:p>
            <a:r>
              <a:rPr lang="en-US" dirty="0"/>
              <a:t>Calling subprogram then executes a </a:t>
            </a:r>
            <a:r>
              <a:rPr lang="en-US" sz="2300" dirty="0">
                <a:latin typeface="Consolas" panose="020B0609020204030204" pitchFamily="49" charset="0"/>
              </a:rPr>
              <a:t>CALL</a:t>
            </a:r>
            <a:r>
              <a:rPr lang="en-US" dirty="0"/>
              <a:t> instruction.</a:t>
            </a:r>
          </a:p>
          <a:p>
            <a:pPr lvl="1"/>
            <a:r>
              <a:rPr lang="en-US" dirty="0"/>
              <a:t>pushes the context part onto the run-time stack</a:t>
            </a:r>
          </a:p>
          <a:p>
            <a:r>
              <a:rPr lang="en-US" dirty="0"/>
              <a:t>Called subprogram reserves space on the stack for local variables.</a:t>
            </a:r>
          </a:p>
          <a:p>
            <a:r>
              <a:rPr lang="en-US" dirty="0"/>
              <a:t>Called subprogram (function) puts the return value in the space previously allocated by the calling subprogram.</a:t>
            </a:r>
          </a:p>
        </p:txBody>
      </p:sp>
      <p:sp>
        <p:nvSpPr>
          <p:cNvPr id="4" name="Footer Placeholder 3">
            <a:extLst>
              <a:ext uri="{FF2B5EF4-FFF2-40B4-BE49-F238E27FC236}">
                <a16:creationId xmlns:a16="http://schemas.microsoft.com/office/drawing/2014/main" id="{2C9B261C-CFA4-8275-D46E-6B49D570293C}"/>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4F967E82-CA32-0898-B4EA-C49F1D0A1582}"/>
              </a:ext>
            </a:extLst>
          </p:cNvPr>
          <p:cNvSpPr>
            <a:spLocks noGrp="1"/>
          </p:cNvSpPr>
          <p:nvPr>
            <p:ph type="sldNum" sz="quarter" idx="11"/>
          </p:nvPr>
        </p:nvSpPr>
        <p:spPr/>
        <p:txBody>
          <a:bodyPr/>
          <a:lstStyle/>
          <a:p>
            <a:pPr>
              <a:defRPr/>
            </a:pPr>
            <a:r>
              <a:rPr lang="en-US"/>
              <a:t>Slide </a:t>
            </a:r>
            <a:fld id="{4E55CFDC-59FD-439A-9888-9166DC8A4008}" type="slidenum">
              <a:rPr lang="en-US" smtClean="0"/>
              <a:pPr>
                <a:defRPr/>
              </a:pPr>
              <a:t>49</a:t>
            </a:fld>
            <a:endParaRPr lang="en-US"/>
          </a:p>
        </p:txBody>
      </p:sp>
    </p:spTree>
    <p:extLst>
      <p:ext uri="{BB962C8B-B14F-4D97-AF65-F5344CB8AC3E}">
        <p14:creationId xmlns:p14="http://schemas.microsoft.com/office/powerpoint/2010/main" val="20767840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6305C-BCF2-A2E6-A40C-91724A253772}"/>
              </a:ext>
            </a:extLst>
          </p:cNvPr>
          <p:cNvSpPr>
            <a:spLocks noGrp="1"/>
          </p:cNvSpPr>
          <p:nvPr>
            <p:ph type="title"/>
          </p:nvPr>
        </p:nvSpPr>
        <p:spPr/>
        <p:txBody>
          <a:bodyPr/>
          <a:lstStyle/>
          <a:p>
            <a:r>
              <a:rPr lang="en-US" dirty="0"/>
              <a:t>Calling Conventions for CPRL on the CVM</a:t>
            </a:r>
            <a:br>
              <a:rPr lang="en-US" dirty="0"/>
            </a:br>
            <a:r>
              <a:rPr lang="en-US" sz="2400" dirty="0"/>
              <a:t>(continued)</a:t>
            </a:r>
          </a:p>
        </p:txBody>
      </p:sp>
      <p:sp>
        <p:nvSpPr>
          <p:cNvPr id="3" name="Content Placeholder 2">
            <a:extLst>
              <a:ext uri="{FF2B5EF4-FFF2-40B4-BE49-F238E27FC236}">
                <a16:creationId xmlns:a16="http://schemas.microsoft.com/office/drawing/2014/main" id="{E3B8AB94-145C-2CA6-8DB3-0CBA61B3E045}"/>
              </a:ext>
            </a:extLst>
          </p:cNvPr>
          <p:cNvSpPr>
            <a:spLocks noGrp="1"/>
          </p:cNvSpPr>
          <p:nvPr>
            <p:ph idx="1"/>
          </p:nvPr>
        </p:nvSpPr>
        <p:spPr/>
        <p:txBody>
          <a:bodyPr/>
          <a:lstStyle/>
          <a:p>
            <a:r>
              <a:rPr lang="en-US" dirty="0"/>
              <a:t>Called subprogram executes a </a:t>
            </a:r>
            <a:r>
              <a:rPr lang="en-US" sz="2300" dirty="0">
                <a:latin typeface="Consolas" panose="020B0609020204030204" pitchFamily="49" charset="0"/>
              </a:rPr>
              <a:t>RET n</a:t>
            </a:r>
            <a:r>
              <a:rPr lang="en-US" dirty="0"/>
              <a:t> instruction.</a:t>
            </a:r>
          </a:p>
          <a:p>
            <a:pPr lvl="1"/>
            <a:r>
              <a:rPr lang="en-US" dirty="0"/>
              <a:t>n is number of bytes allocated for subprogram’s actual parameters</a:t>
            </a:r>
          </a:p>
        </p:txBody>
      </p:sp>
      <p:sp>
        <p:nvSpPr>
          <p:cNvPr id="4" name="Footer Placeholder 3">
            <a:extLst>
              <a:ext uri="{FF2B5EF4-FFF2-40B4-BE49-F238E27FC236}">
                <a16:creationId xmlns:a16="http://schemas.microsoft.com/office/drawing/2014/main" id="{2C9B261C-CFA4-8275-D46E-6B49D570293C}"/>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4F967E82-CA32-0898-B4EA-C49F1D0A1582}"/>
              </a:ext>
            </a:extLst>
          </p:cNvPr>
          <p:cNvSpPr>
            <a:spLocks noGrp="1"/>
          </p:cNvSpPr>
          <p:nvPr>
            <p:ph type="sldNum" sz="quarter" idx="11"/>
          </p:nvPr>
        </p:nvSpPr>
        <p:spPr/>
        <p:txBody>
          <a:bodyPr/>
          <a:lstStyle/>
          <a:p>
            <a:pPr>
              <a:defRPr/>
            </a:pPr>
            <a:r>
              <a:rPr lang="en-US"/>
              <a:t>Slide </a:t>
            </a:r>
            <a:fld id="{4E55CFDC-59FD-439A-9888-9166DC8A4008}" type="slidenum">
              <a:rPr lang="en-US" smtClean="0"/>
              <a:pPr>
                <a:defRPr/>
              </a:pPr>
              <a:t>50</a:t>
            </a:fld>
            <a:endParaRPr lang="en-US"/>
          </a:p>
        </p:txBody>
      </p:sp>
    </p:spTree>
    <p:extLst>
      <p:ext uri="{BB962C8B-B14F-4D97-AF65-F5344CB8AC3E}">
        <p14:creationId xmlns:p14="http://schemas.microsoft.com/office/powerpoint/2010/main" val="8719585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83E88-7F59-81BD-0E1F-F35B716D2541}"/>
              </a:ext>
            </a:extLst>
          </p:cNvPr>
          <p:cNvSpPr>
            <a:spLocks noGrp="1"/>
          </p:cNvSpPr>
          <p:nvPr>
            <p:ph type="title"/>
          </p:nvPr>
        </p:nvSpPr>
        <p:spPr/>
        <p:txBody>
          <a:bodyPr/>
          <a:lstStyle/>
          <a:p>
            <a:r>
              <a:rPr lang="en-US" dirty="0"/>
              <a:t>Computing Relative Addresses</a:t>
            </a:r>
          </a:p>
        </p:txBody>
      </p:sp>
      <p:sp>
        <p:nvSpPr>
          <p:cNvPr id="3" name="Content Placeholder 2">
            <a:extLst>
              <a:ext uri="{FF2B5EF4-FFF2-40B4-BE49-F238E27FC236}">
                <a16:creationId xmlns:a16="http://schemas.microsoft.com/office/drawing/2014/main" id="{5F8F92EE-6904-72EC-0AF5-78859D4CB5BB}"/>
              </a:ext>
            </a:extLst>
          </p:cNvPr>
          <p:cNvSpPr>
            <a:spLocks noGrp="1"/>
          </p:cNvSpPr>
          <p:nvPr>
            <p:ph idx="1"/>
          </p:nvPr>
        </p:nvSpPr>
        <p:spPr/>
        <p:txBody>
          <a:bodyPr/>
          <a:lstStyle/>
          <a:p>
            <a:r>
              <a:rPr lang="en-US" dirty="0"/>
              <a:t>Similar to what we did with global variables, we need to compute the relative address (offset) for each variable plus the total number of bytes of all variables for each subprogram.</a:t>
            </a:r>
          </a:p>
          <a:p>
            <a:r>
              <a:rPr lang="en-US" dirty="0"/>
              <a:t>In addition, for subprograms, we will need to compute the relative address for each parameter.</a:t>
            </a:r>
          </a:p>
          <a:p>
            <a:r>
              <a:rPr lang="en-US" dirty="0"/>
              <a:t>Minor difference: starting relative address for the first variable is the number of bytes in the context part of an activation record (</a:t>
            </a:r>
            <a:r>
              <a:rPr lang="en-US" sz="2300" dirty="0">
                <a:latin typeface="Consolas" panose="020B0609020204030204" pitchFamily="49" charset="0"/>
              </a:rPr>
              <a:t>8</a:t>
            </a:r>
            <a:r>
              <a:rPr lang="en-US" dirty="0"/>
              <a:t> for CPRL activation records), not </a:t>
            </a:r>
            <a:r>
              <a:rPr lang="en-US" sz="2300" dirty="0">
                <a:latin typeface="Consolas" panose="020B0609020204030204" pitchFamily="49" charset="0"/>
              </a:rPr>
              <a:t>0</a:t>
            </a:r>
            <a:r>
              <a:rPr lang="en-US" dirty="0"/>
              <a:t> as it was for program-level variables.</a:t>
            </a:r>
          </a:p>
        </p:txBody>
      </p:sp>
      <p:sp>
        <p:nvSpPr>
          <p:cNvPr id="4" name="Footer Placeholder 3">
            <a:extLst>
              <a:ext uri="{FF2B5EF4-FFF2-40B4-BE49-F238E27FC236}">
                <a16:creationId xmlns:a16="http://schemas.microsoft.com/office/drawing/2014/main" id="{026AB69C-CA12-6FC1-5D53-CE5FFA9B466F}"/>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60582888-6019-CF68-CF13-706B05FA00E4}"/>
              </a:ext>
            </a:extLst>
          </p:cNvPr>
          <p:cNvSpPr>
            <a:spLocks noGrp="1"/>
          </p:cNvSpPr>
          <p:nvPr>
            <p:ph type="sldNum" sz="quarter" idx="11"/>
          </p:nvPr>
        </p:nvSpPr>
        <p:spPr/>
        <p:txBody>
          <a:bodyPr/>
          <a:lstStyle/>
          <a:p>
            <a:pPr>
              <a:defRPr/>
            </a:pPr>
            <a:r>
              <a:rPr lang="en-US"/>
              <a:t>Slide </a:t>
            </a:r>
            <a:fld id="{4E55CFDC-59FD-439A-9888-9166DC8A4008}" type="slidenum">
              <a:rPr lang="en-US" smtClean="0"/>
              <a:pPr>
                <a:defRPr/>
              </a:pPr>
              <a:t>51</a:t>
            </a:fld>
            <a:endParaRPr lang="en-US"/>
          </a:p>
        </p:txBody>
      </p:sp>
    </p:spTree>
    <p:extLst>
      <p:ext uri="{BB962C8B-B14F-4D97-AF65-F5344CB8AC3E}">
        <p14:creationId xmlns:p14="http://schemas.microsoft.com/office/powerpoint/2010/main" val="13613322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83E88-7F59-81BD-0E1F-F35B716D2541}"/>
              </a:ext>
            </a:extLst>
          </p:cNvPr>
          <p:cNvSpPr>
            <a:spLocks noGrp="1"/>
          </p:cNvSpPr>
          <p:nvPr>
            <p:ph type="title"/>
          </p:nvPr>
        </p:nvSpPr>
        <p:spPr/>
        <p:txBody>
          <a:bodyPr/>
          <a:lstStyle/>
          <a:p>
            <a:r>
              <a:rPr lang="en-US" dirty="0"/>
              <a:t>Computing Relative Addresses</a:t>
            </a:r>
          </a:p>
        </p:txBody>
      </p:sp>
      <p:sp>
        <p:nvSpPr>
          <p:cNvPr id="3" name="Content Placeholder 2">
            <a:extLst>
              <a:ext uri="{FF2B5EF4-FFF2-40B4-BE49-F238E27FC236}">
                <a16:creationId xmlns:a16="http://schemas.microsoft.com/office/drawing/2014/main" id="{5F8F92EE-6904-72EC-0AF5-78859D4CB5BB}"/>
              </a:ext>
            </a:extLst>
          </p:cNvPr>
          <p:cNvSpPr>
            <a:spLocks noGrp="1"/>
          </p:cNvSpPr>
          <p:nvPr>
            <p:ph idx="1"/>
          </p:nvPr>
        </p:nvSpPr>
        <p:spPr/>
        <p:txBody>
          <a:bodyPr/>
          <a:lstStyle/>
          <a:p>
            <a:r>
              <a:rPr lang="en-US" dirty="0"/>
              <a:t>Relative addresses for parameters are negative numbers since parameters are above </a:t>
            </a:r>
            <a:r>
              <a:rPr lang="en-US" sz="2300" dirty="0">
                <a:latin typeface="Consolas" panose="020B0609020204030204" pitchFamily="49" charset="0"/>
              </a:rPr>
              <a:t>BP</a:t>
            </a:r>
            <a:r>
              <a:rPr lang="en-US" dirty="0"/>
              <a:t> in the stack.</a:t>
            </a:r>
          </a:p>
          <a:p>
            <a:r>
              <a:rPr lang="en-US" sz="2400" dirty="0"/>
              <a:t>Method </a:t>
            </a:r>
            <a:r>
              <a:rPr lang="en-US" sz="2300" dirty="0" err="1">
                <a:latin typeface="Consolas" panose="020B0609020204030204" pitchFamily="49" charset="0"/>
              </a:rPr>
              <a:t>setRelativeAddresses</a:t>
            </a:r>
            <a:r>
              <a:rPr lang="en-US" sz="2300" dirty="0">
                <a:latin typeface="Consolas" panose="020B0609020204030204" pitchFamily="49" charset="0"/>
              </a:rPr>
              <a:t>()</a:t>
            </a:r>
            <a:r>
              <a:rPr lang="en-US" sz="2400" dirty="0"/>
              <a:t> in the AST class </a:t>
            </a:r>
            <a:r>
              <a:rPr lang="en-US" sz="2300" dirty="0">
                <a:latin typeface="Consolas" panose="020B0609020204030204" pitchFamily="49" charset="0"/>
              </a:rPr>
              <a:t>SubprogramDecl</a:t>
            </a:r>
            <a:r>
              <a:rPr lang="en-US" sz="2400" dirty="0"/>
              <a:t> is used to compute the relative addresses of a subprogram’s local variables and parameters.  </a:t>
            </a:r>
          </a:p>
        </p:txBody>
      </p:sp>
      <p:sp>
        <p:nvSpPr>
          <p:cNvPr id="4" name="Footer Placeholder 3">
            <a:extLst>
              <a:ext uri="{FF2B5EF4-FFF2-40B4-BE49-F238E27FC236}">
                <a16:creationId xmlns:a16="http://schemas.microsoft.com/office/drawing/2014/main" id="{026AB69C-CA12-6FC1-5D53-CE5FFA9B466F}"/>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60582888-6019-CF68-CF13-706B05FA00E4}"/>
              </a:ext>
            </a:extLst>
          </p:cNvPr>
          <p:cNvSpPr>
            <a:spLocks noGrp="1"/>
          </p:cNvSpPr>
          <p:nvPr>
            <p:ph type="sldNum" sz="quarter" idx="11"/>
          </p:nvPr>
        </p:nvSpPr>
        <p:spPr/>
        <p:txBody>
          <a:bodyPr/>
          <a:lstStyle/>
          <a:p>
            <a:pPr>
              <a:defRPr/>
            </a:pPr>
            <a:r>
              <a:rPr lang="en-US"/>
              <a:t>Slide </a:t>
            </a:r>
            <a:fld id="{4E55CFDC-59FD-439A-9888-9166DC8A4008}" type="slidenum">
              <a:rPr lang="en-US" smtClean="0"/>
              <a:pPr>
                <a:defRPr/>
              </a:pPr>
              <a:t>52</a:t>
            </a:fld>
            <a:endParaRPr lang="en-US"/>
          </a:p>
        </p:txBody>
      </p:sp>
    </p:spTree>
    <p:extLst>
      <p:ext uri="{BB962C8B-B14F-4D97-AF65-F5344CB8AC3E}">
        <p14:creationId xmlns:p14="http://schemas.microsoft.com/office/powerpoint/2010/main" val="40666143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50B6C-30A0-8EB5-46D2-FB0305F0B474}"/>
              </a:ext>
            </a:extLst>
          </p:cNvPr>
          <p:cNvSpPr>
            <a:spLocks noGrp="1"/>
          </p:cNvSpPr>
          <p:nvPr>
            <p:ph type="title"/>
          </p:nvPr>
        </p:nvSpPr>
        <p:spPr/>
        <p:txBody>
          <a:bodyPr/>
          <a:lstStyle/>
          <a:p>
            <a:r>
              <a:rPr lang="en-US" dirty="0"/>
              <a:t>Relative Address of a Function</a:t>
            </a:r>
          </a:p>
        </p:txBody>
      </p:sp>
      <p:sp>
        <p:nvSpPr>
          <p:cNvPr id="3" name="Content Placeholder 2">
            <a:extLst>
              <a:ext uri="{FF2B5EF4-FFF2-40B4-BE49-F238E27FC236}">
                <a16:creationId xmlns:a16="http://schemas.microsoft.com/office/drawing/2014/main" id="{E788432B-920F-42A4-72AA-5C7C161A475D}"/>
              </a:ext>
            </a:extLst>
          </p:cNvPr>
          <p:cNvSpPr>
            <a:spLocks noGrp="1"/>
          </p:cNvSpPr>
          <p:nvPr>
            <p:ph idx="1"/>
          </p:nvPr>
        </p:nvSpPr>
        <p:spPr>
          <a:xfrm>
            <a:off x="458788" y="1363663"/>
            <a:ext cx="8321040" cy="4935537"/>
          </a:xfrm>
        </p:spPr>
        <p:txBody>
          <a:bodyPr/>
          <a:lstStyle/>
          <a:p>
            <a:r>
              <a:rPr lang="en-US" dirty="0"/>
              <a:t>The relative address of a function is simply the relative address of the return value within the activation record.</a:t>
            </a:r>
          </a:p>
          <a:p>
            <a:r>
              <a:rPr lang="en-US" dirty="0"/>
              <a:t>Since the space for the return value is allocated before any parameters are pushed onto the stack, the return value is “above” all parameters.</a:t>
            </a:r>
          </a:p>
          <a:p>
            <a:r>
              <a:rPr lang="en-US" dirty="0"/>
              <a:t>Computing the relative address for a function</a:t>
            </a:r>
          </a:p>
          <a:p>
            <a:pPr marL="457200" lvl="1" indent="0">
              <a:buNone/>
            </a:pPr>
            <a:r>
              <a:rPr lang="en-US" sz="1800" dirty="0">
                <a:latin typeface="Consolas" panose="020B0609020204030204" pitchFamily="49" charset="0"/>
              </a:rPr>
              <a:t>/**</a:t>
            </a:r>
          </a:p>
          <a:p>
            <a:pPr marL="457200" lvl="1" indent="0">
              <a:spcBef>
                <a:spcPts val="100"/>
              </a:spcBef>
              <a:buNone/>
            </a:pPr>
            <a:r>
              <a:rPr lang="en-US" sz="1800" dirty="0">
                <a:latin typeface="Consolas" panose="020B0609020204030204" pitchFamily="49" charset="0"/>
              </a:rPr>
              <a:t> * Returns the relative address of the function return value.</a:t>
            </a:r>
          </a:p>
          <a:p>
            <a:pPr marL="457200" lvl="1" indent="0">
              <a:spcBef>
                <a:spcPts val="100"/>
              </a:spcBef>
              <a:buNone/>
            </a:pPr>
            <a:r>
              <a:rPr lang="en-US" sz="1800" dirty="0">
                <a:latin typeface="Consolas" panose="020B0609020204030204" pitchFamily="49" charset="0"/>
              </a:rPr>
              <a:t> */</a:t>
            </a:r>
          </a:p>
          <a:p>
            <a:pPr marL="457200" lvl="1" indent="0">
              <a:spcBef>
                <a:spcPts val="100"/>
              </a:spcBef>
              <a:buNone/>
            </a:pPr>
            <a:r>
              <a:rPr lang="en-US" sz="1800" dirty="0">
                <a:latin typeface="Consolas" panose="020B0609020204030204" pitchFamily="49" charset="0"/>
              </a:rPr>
              <a:t>public int </a:t>
            </a:r>
            <a:r>
              <a:rPr lang="en-US" sz="1800" dirty="0" err="1">
                <a:latin typeface="Consolas" panose="020B0609020204030204" pitchFamily="49" charset="0"/>
              </a:rPr>
              <a:t>relAddr</a:t>
            </a:r>
            <a:r>
              <a:rPr lang="en-US" sz="1800" dirty="0">
                <a:latin typeface="Consolas" panose="020B0609020204030204" pitchFamily="49" charset="0"/>
              </a:rPr>
              <a:t>()</a:t>
            </a:r>
          </a:p>
          <a:p>
            <a:pPr marL="457200" lvl="1" indent="0">
              <a:spcBef>
                <a:spcPts val="100"/>
              </a:spcBef>
              <a:buNone/>
            </a:pPr>
            <a:r>
              <a:rPr lang="en-US" sz="1800" dirty="0">
                <a:latin typeface="Consolas" panose="020B0609020204030204" pitchFamily="49" charset="0"/>
              </a:rPr>
              <a:t>  {</a:t>
            </a:r>
          </a:p>
          <a:p>
            <a:pPr marL="457200" lvl="1" indent="0">
              <a:spcBef>
                <a:spcPts val="100"/>
              </a:spcBef>
              <a:buNone/>
            </a:pPr>
            <a:r>
              <a:rPr lang="en-US" sz="1800" dirty="0">
                <a:latin typeface="Consolas" panose="020B0609020204030204" pitchFamily="49" charset="0"/>
              </a:rPr>
              <a:t>    return -type().size() - </a:t>
            </a:r>
            <a:r>
              <a:rPr lang="en-US" sz="1800" dirty="0" err="1">
                <a:latin typeface="Consolas" panose="020B0609020204030204" pitchFamily="49" charset="0"/>
              </a:rPr>
              <a:t>paramLength</a:t>
            </a:r>
            <a:r>
              <a:rPr lang="en-US" sz="1800" dirty="0">
                <a:latin typeface="Consolas" panose="020B0609020204030204" pitchFamily="49" charset="0"/>
              </a:rPr>
              <a:t>();</a:t>
            </a:r>
          </a:p>
          <a:p>
            <a:pPr marL="457200" lvl="1" indent="0">
              <a:spcBef>
                <a:spcPts val="100"/>
              </a:spcBef>
              <a:buNone/>
            </a:pPr>
            <a:r>
              <a:rPr lang="en-US" sz="1800" dirty="0">
                <a:latin typeface="Consolas" panose="020B0609020204030204" pitchFamily="49" charset="0"/>
              </a:rPr>
              <a:t>  }</a:t>
            </a:r>
            <a:endParaRPr lang="en-US" dirty="0"/>
          </a:p>
        </p:txBody>
      </p:sp>
      <p:sp>
        <p:nvSpPr>
          <p:cNvPr id="4" name="Footer Placeholder 3">
            <a:extLst>
              <a:ext uri="{FF2B5EF4-FFF2-40B4-BE49-F238E27FC236}">
                <a16:creationId xmlns:a16="http://schemas.microsoft.com/office/drawing/2014/main" id="{C8273E28-F5E3-6C29-E287-3882F9288234}"/>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E3747908-A111-7D7A-649E-EAE1A6C3725A}"/>
              </a:ext>
            </a:extLst>
          </p:cNvPr>
          <p:cNvSpPr>
            <a:spLocks noGrp="1"/>
          </p:cNvSpPr>
          <p:nvPr>
            <p:ph type="sldNum" sz="quarter" idx="11"/>
          </p:nvPr>
        </p:nvSpPr>
        <p:spPr/>
        <p:txBody>
          <a:bodyPr/>
          <a:lstStyle/>
          <a:p>
            <a:pPr>
              <a:defRPr/>
            </a:pPr>
            <a:r>
              <a:rPr lang="en-US"/>
              <a:t>Slide </a:t>
            </a:r>
            <a:fld id="{4E55CFDC-59FD-439A-9888-9166DC8A4008}" type="slidenum">
              <a:rPr lang="en-US" smtClean="0"/>
              <a:pPr>
                <a:defRPr/>
              </a:pPr>
              <a:t>53</a:t>
            </a:fld>
            <a:endParaRPr lang="en-US"/>
          </a:p>
        </p:txBody>
      </p:sp>
    </p:spTree>
    <p:extLst>
      <p:ext uri="{BB962C8B-B14F-4D97-AF65-F5344CB8AC3E}">
        <p14:creationId xmlns:p14="http://schemas.microsoft.com/office/powerpoint/2010/main" val="34350616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Referencing Local Variables and Parameters</a:t>
            </a:r>
          </a:p>
        </p:txBody>
      </p:sp>
      <p:sp>
        <p:nvSpPr>
          <p:cNvPr id="3" name="Content Placeholder 2"/>
          <p:cNvSpPr>
            <a:spLocks noGrp="1"/>
          </p:cNvSpPr>
          <p:nvPr>
            <p:ph idx="1"/>
          </p:nvPr>
        </p:nvSpPr>
        <p:spPr/>
        <p:txBody>
          <a:bodyPr/>
          <a:lstStyle/>
          <a:p>
            <a:pPr marL="0" indent="0">
              <a:buNone/>
            </a:pPr>
            <a:r>
              <a:rPr lang="en-US" sz="2300" dirty="0"/>
              <a:t>The </a:t>
            </a:r>
            <a:r>
              <a:rPr lang="en-US" sz="2300" dirty="0">
                <a:latin typeface="Consolas" panose="020B0609020204030204" pitchFamily="49" charset="0"/>
              </a:rPr>
              <a:t>LDLADDR</a:t>
            </a:r>
            <a:r>
              <a:rPr lang="en-US" sz="2300" dirty="0"/>
              <a:t> (load local address) instruction is used to reference variables local to the subprogram and the subprogram parameters. </a:t>
            </a:r>
          </a:p>
          <a:p>
            <a:r>
              <a:rPr lang="en-US" sz="2300" dirty="0"/>
              <a:t>Computes the absolute address of a local variable from its relative address with respect to </a:t>
            </a:r>
            <a:r>
              <a:rPr lang="en-US" sz="2300" dirty="0">
                <a:latin typeface="Consolas" panose="020B0609020204030204" pitchFamily="49" charset="0"/>
              </a:rPr>
              <a:t>BP</a:t>
            </a:r>
            <a:r>
              <a:rPr lang="en-US" sz="2300" dirty="0"/>
              <a:t> and pushes the absolute address onto the run-time stack</a:t>
            </a:r>
          </a:p>
          <a:p>
            <a:r>
              <a:rPr lang="en-US" sz="2300" dirty="0"/>
              <a:t>Its use with subprograms is similar to the use of </a:t>
            </a:r>
            <a:r>
              <a:rPr lang="en-US" sz="2300" dirty="0">
                <a:latin typeface="Consolas" panose="020B0609020204030204" pitchFamily="49" charset="0"/>
              </a:rPr>
              <a:t>LDGADDR</a:t>
            </a:r>
            <a:r>
              <a:rPr lang="en-US" sz="2300" dirty="0"/>
              <a:t> for global variables except that the relative address of the first local variable is </a:t>
            </a:r>
            <a:r>
              <a:rPr lang="en-US" sz="2300" dirty="0">
                <a:latin typeface="Consolas" panose="020B0609020204030204" pitchFamily="49" charset="0"/>
              </a:rPr>
              <a:t>8</a:t>
            </a:r>
            <a:r>
              <a:rPr lang="en-US" sz="2300" dirty="0"/>
              <a:t> instead of </a:t>
            </a:r>
            <a:r>
              <a:rPr lang="en-US" sz="2300" dirty="0">
                <a:latin typeface="Consolas" panose="020B0609020204030204" pitchFamily="49" charset="0"/>
              </a:rPr>
              <a:t>0</a:t>
            </a:r>
            <a:r>
              <a:rPr lang="en-US" sz="2300" dirty="0"/>
              <a:t> since there are </a:t>
            </a:r>
            <a:r>
              <a:rPr lang="en-US" sz="2300" dirty="0">
                <a:latin typeface="Consolas" panose="020B0609020204030204" pitchFamily="49" charset="0"/>
              </a:rPr>
              <a:t>8</a:t>
            </a:r>
            <a:r>
              <a:rPr lang="en-US" sz="2300" dirty="0"/>
              <a:t> bytes in the context part of the activation record.</a:t>
            </a:r>
          </a:p>
          <a:p>
            <a:r>
              <a:rPr lang="en-US" sz="2300" dirty="0"/>
              <a:t>Relative addresses for parameters are negative numbers since parameters are “above” </a:t>
            </a:r>
            <a:r>
              <a:rPr lang="en-US" sz="2300" dirty="0">
                <a:latin typeface="Consolas" panose="020B0609020204030204" pitchFamily="49" charset="0"/>
              </a:rPr>
              <a:t>BP</a:t>
            </a:r>
            <a:r>
              <a:rPr lang="en-US" sz="2300" dirty="0"/>
              <a:t> in the stack.</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4E55CFDC-59FD-439A-9888-9166DC8A4008}" type="slidenum">
              <a:rPr lang="en-US" smtClean="0"/>
              <a:pPr>
                <a:defRPr/>
              </a:pPr>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Referencing Global Variables</a:t>
            </a:r>
          </a:p>
        </p:txBody>
      </p:sp>
      <p:sp>
        <p:nvSpPr>
          <p:cNvPr id="3" name="Content Placeholder 2"/>
          <p:cNvSpPr>
            <a:spLocks noGrp="1"/>
          </p:cNvSpPr>
          <p:nvPr>
            <p:ph idx="1"/>
          </p:nvPr>
        </p:nvSpPr>
        <p:spPr>
          <a:xfrm>
            <a:off x="458787" y="1363663"/>
            <a:ext cx="8229600" cy="4935537"/>
          </a:xfrm>
        </p:spPr>
        <p:txBody>
          <a:bodyPr/>
          <a:lstStyle/>
          <a:p>
            <a:pPr marL="0" indent="0">
              <a:buNone/>
            </a:pPr>
            <a:r>
              <a:rPr lang="en-US" dirty="0"/>
              <a:t>The </a:t>
            </a:r>
            <a:r>
              <a:rPr lang="en-US" sz="2300" dirty="0">
                <a:latin typeface="Consolas" panose="020B0609020204030204" pitchFamily="49" charset="0"/>
              </a:rPr>
              <a:t>LDGADDR</a:t>
            </a:r>
            <a:r>
              <a:rPr lang="en-US" dirty="0"/>
              <a:t> instruction is used within a subprogram to reference global variables; i.e., variables declared at the program level.</a:t>
            </a:r>
          </a:p>
          <a:p>
            <a:r>
              <a:rPr lang="en-US" dirty="0"/>
              <a:t>Computes the absolute address of a global variable from its relative address with respect to </a:t>
            </a:r>
            <a:r>
              <a:rPr lang="en-US" sz="2300" dirty="0">
                <a:latin typeface="Consolas" panose="020B0609020204030204" pitchFamily="49" charset="0"/>
              </a:rPr>
              <a:t>SB</a:t>
            </a:r>
            <a:r>
              <a:rPr lang="en-US" dirty="0"/>
              <a:t> and pushes the absolute address onto the stack.</a:t>
            </a:r>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4E55CFDC-59FD-439A-9888-9166DC8A4008}" type="slidenum">
              <a:rPr lang="en-US" smtClean="0"/>
              <a:pPr/>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3"/>
          <p:cNvSpPr>
            <a:spLocks noGrp="1"/>
          </p:cNvSpPr>
          <p:nvPr>
            <p:ph type="ftr" sz="quarter" idx="10"/>
          </p:nvPr>
        </p:nvSpPr>
        <p:spPr>
          <a:noFill/>
        </p:spPr>
        <p:txBody>
          <a:bodyPr/>
          <a:lstStyle/>
          <a:p>
            <a:r>
              <a:rPr lang="en-US"/>
              <a:t>©SoftMoore Consulting</a:t>
            </a:r>
          </a:p>
        </p:txBody>
      </p:sp>
      <p:sp>
        <p:nvSpPr>
          <p:cNvPr id="24579" name="Slide Number Placeholder 4"/>
          <p:cNvSpPr>
            <a:spLocks noGrp="1"/>
          </p:cNvSpPr>
          <p:nvPr>
            <p:ph type="sldNum" sz="quarter" idx="11"/>
          </p:nvPr>
        </p:nvSpPr>
        <p:spPr>
          <a:noFill/>
        </p:spPr>
        <p:txBody>
          <a:bodyPr/>
          <a:lstStyle/>
          <a:p>
            <a:r>
              <a:rPr lang="en-US"/>
              <a:t>Slide </a:t>
            </a:r>
            <a:fld id="{7A7BFCB5-5701-44DE-9B82-7D4D47D5F106}" type="slidenum">
              <a:rPr lang="en-US" smtClean="0"/>
              <a:pPr/>
              <a:t>56</a:t>
            </a:fld>
            <a:endParaRPr lang="en-US"/>
          </a:p>
        </p:txBody>
      </p:sp>
      <p:sp>
        <p:nvSpPr>
          <p:cNvPr id="24580" name="Rectangle 2"/>
          <p:cNvSpPr>
            <a:spLocks noGrp="1" noChangeArrowheads="1"/>
          </p:cNvSpPr>
          <p:nvPr>
            <p:ph type="title"/>
          </p:nvPr>
        </p:nvSpPr>
        <p:spPr/>
        <p:txBody>
          <a:bodyPr/>
          <a:lstStyle/>
          <a:p>
            <a:r>
              <a:rPr lang="en-US" dirty="0"/>
              <a:t>Example: Activation Record</a:t>
            </a:r>
          </a:p>
        </p:txBody>
      </p:sp>
      <p:sp>
        <p:nvSpPr>
          <p:cNvPr id="24581" name="Rectangle 3"/>
          <p:cNvSpPr>
            <a:spLocks noGrp="1" noChangeArrowheads="1"/>
          </p:cNvSpPr>
          <p:nvPr>
            <p:ph type="body" idx="1"/>
          </p:nvPr>
        </p:nvSpPr>
        <p:spPr/>
        <p:txBody>
          <a:bodyPr tIns="91440"/>
          <a:lstStyle/>
          <a:p>
            <a:pPr marL="274320" indent="0">
              <a:spcBef>
                <a:spcPts val="100"/>
              </a:spcBef>
              <a:buFontTx/>
              <a:buNone/>
            </a:pPr>
            <a:r>
              <a:rPr lang="en-US" sz="1800" dirty="0">
                <a:latin typeface="Consolas" pitchFamily="49" charset="0"/>
              </a:rPr>
              <a:t>proc main()</a:t>
            </a:r>
          </a:p>
          <a:p>
            <a:pPr marL="274320" indent="0">
              <a:spcBef>
                <a:spcPts val="100"/>
              </a:spcBef>
              <a:buFontTx/>
              <a:buNone/>
            </a:pPr>
            <a:r>
              <a:rPr lang="en-US" sz="1800" dirty="0">
                <a:latin typeface="Consolas" pitchFamily="49" charset="0"/>
              </a:rPr>
              <a:t>  {</a:t>
            </a:r>
          </a:p>
          <a:p>
            <a:pPr marL="274320" indent="0">
              <a:spcBef>
                <a:spcPts val="100"/>
              </a:spcBef>
              <a:buFontTx/>
              <a:buNone/>
            </a:pPr>
            <a:r>
              <a:rPr lang="en-US" sz="1800" dirty="0">
                <a:latin typeface="Consolas" pitchFamily="49" charset="0"/>
              </a:rPr>
              <a:t>    var n : Integer := 5;</a:t>
            </a:r>
          </a:p>
          <a:p>
            <a:pPr marL="274320" indent="0">
              <a:spcBef>
                <a:spcPts val="100"/>
              </a:spcBef>
              <a:buFontTx/>
              <a:buNone/>
            </a:pPr>
            <a:r>
              <a:rPr lang="en-US" sz="1800" dirty="0">
                <a:latin typeface="Consolas" pitchFamily="49" charset="0"/>
              </a:rPr>
              <a:t>    </a:t>
            </a:r>
            <a:r>
              <a:rPr lang="en-US" sz="1800" dirty="0" err="1">
                <a:latin typeface="Consolas" pitchFamily="49" charset="0"/>
              </a:rPr>
              <a:t>writeln</a:t>
            </a:r>
            <a:r>
              <a:rPr lang="en-US" sz="1800" dirty="0">
                <a:latin typeface="Consolas" pitchFamily="49" charset="0"/>
              </a:rPr>
              <a:t> "max = ", max(n, 10);</a:t>
            </a:r>
          </a:p>
          <a:p>
            <a:pPr marL="274320" indent="0">
              <a:spcBef>
                <a:spcPts val="100"/>
              </a:spcBef>
              <a:buFontTx/>
              <a:buNone/>
            </a:pPr>
            <a:r>
              <a:rPr lang="en-US" sz="1800" dirty="0">
                <a:latin typeface="Consolas" pitchFamily="49" charset="0"/>
              </a:rPr>
              <a:t>  }</a:t>
            </a:r>
          </a:p>
          <a:p>
            <a:pPr marL="274320" indent="0">
              <a:spcBef>
                <a:spcPts val="100"/>
              </a:spcBef>
              <a:buFontTx/>
              <a:buNone/>
            </a:pPr>
            <a:endParaRPr lang="en-US" sz="1800" dirty="0">
              <a:latin typeface="Consolas" pitchFamily="49" charset="0"/>
            </a:endParaRPr>
          </a:p>
          <a:p>
            <a:pPr marL="274320" indent="0">
              <a:spcBef>
                <a:spcPts val="100"/>
              </a:spcBef>
              <a:buFontTx/>
              <a:buNone/>
            </a:pPr>
            <a:r>
              <a:rPr lang="en-US" sz="1800" dirty="0">
                <a:latin typeface="Consolas" pitchFamily="49" charset="0"/>
              </a:rPr>
              <a:t>fun max(x : Integer, y : Integer) : Integer</a:t>
            </a:r>
          </a:p>
          <a:p>
            <a:pPr marL="274320" indent="0">
              <a:spcBef>
                <a:spcPts val="100"/>
              </a:spcBef>
              <a:buFontTx/>
              <a:buNone/>
            </a:pPr>
            <a:r>
              <a:rPr lang="en-US" sz="1800" dirty="0">
                <a:latin typeface="Consolas" pitchFamily="49" charset="0"/>
              </a:rPr>
              <a:t>  {</a:t>
            </a:r>
          </a:p>
          <a:p>
            <a:pPr marL="274320" indent="0">
              <a:spcBef>
                <a:spcPts val="100"/>
              </a:spcBef>
              <a:buFontTx/>
              <a:buNone/>
            </a:pPr>
            <a:r>
              <a:rPr lang="en-US" sz="1800" dirty="0">
                <a:latin typeface="Consolas" pitchFamily="49" charset="0"/>
              </a:rPr>
              <a:t>    var result : Integer;</a:t>
            </a:r>
          </a:p>
          <a:p>
            <a:pPr marL="274320" indent="0">
              <a:spcBef>
                <a:spcPts val="100"/>
              </a:spcBef>
              <a:buFontTx/>
              <a:buNone/>
            </a:pPr>
            <a:r>
              <a:rPr lang="en-US" sz="1800" dirty="0">
                <a:latin typeface="Consolas" pitchFamily="49" charset="0"/>
              </a:rPr>
              <a:t>    if x &gt;= y then</a:t>
            </a:r>
          </a:p>
          <a:p>
            <a:pPr marL="274320" indent="0">
              <a:spcBef>
                <a:spcPts val="100"/>
              </a:spcBef>
              <a:buFontTx/>
              <a:buNone/>
            </a:pPr>
            <a:r>
              <a:rPr lang="en-US" sz="1800" dirty="0">
                <a:latin typeface="Consolas" pitchFamily="49" charset="0"/>
              </a:rPr>
              <a:t>        result := x;</a:t>
            </a:r>
          </a:p>
          <a:p>
            <a:pPr marL="274320" indent="0">
              <a:spcBef>
                <a:spcPts val="100"/>
              </a:spcBef>
              <a:buFontTx/>
              <a:buNone/>
            </a:pPr>
            <a:r>
              <a:rPr lang="en-US" sz="1800" dirty="0">
                <a:latin typeface="Consolas" pitchFamily="49" charset="0"/>
              </a:rPr>
              <a:t>    else</a:t>
            </a:r>
          </a:p>
          <a:p>
            <a:pPr marL="274320" indent="0">
              <a:spcBef>
                <a:spcPts val="100"/>
              </a:spcBef>
              <a:buFontTx/>
              <a:buNone/>
            </a:pPr>
            <a:r>
              <a:rPr lang="en-US" sz="1800" dirty="0">
                <a:latin typeface="Consolas" pitchFamily="49" charset="0"/>
              </a:rPr>
              <a:t>        result := y;</a:t>
            </a:r>
          </a:p>
          <a:p>
            <a:pPr marL="274320" indent="0">
              <a:spcBef>
                <a:spcPts val="100"/>
              </a:spcBef>
              <a:buFontTx/>
              <a:buNone/>
            </a:pPr>
            <a:r>
              <a:rPr lang="en-US" sz="1800" dirty="0">
                <a:latin typeface="Consolas" pitchFamily="49" charset="0"/>
              </a:rPr>
              <a:t>    return result;</a:t>
            </a:r>
          </a:p>
          <a:p>
            <a:pPr marL="274320" indent="0">
              <a:spcBef>
                <a:spcPts val="100"/>
              </a:spcBef>
              <a:buFontTx/>
              <a:buNone/>
            </a:pPr>
            <a:r>
              <a:rPr lang="en-US" sz="1800" dirty="0">
                <a:latin typeface="Consolas" pitchFamily="49" charset="0"/>
              </a:rPr>
              <a:t>  }</a:t>
            </a:r>
          </a:p>
        </p:txBody>
      </p:sp>
    </p:spTree>
    <p:extLst>
      <p:ext uri="{BB962C8B-B14F-4D97-AF65-F5344CB8AC3E}">
        <p14:creationId xmlns:p14="http://schemas.microsoft.com/office/powerpoint/2010/main" val="20344937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2"/>
          <p:cNvSpPr>
            <a:spLocks noGrp="1"/>
          </p:cNvSpPr>
          <p:nvPr>
            <p:ph type="ftr" sz="quarter" idx="10"/>
          </p:nvPr>
        </p:nvSpPr>
        <p:spPr>
          <a:noFill/>
        </p:spPr>
        <p:txBody>
          <a:bodyPr/>
          <a:lstStyle/>
          <a:p>
            <a:r>
              <a:rPr lang="en-US"/>
              <a:t>©SoftMoore Consulting</a:t>
            </a:r>
          </a:p>
        </p:txBody>
      </p:sp>
      <p:sp>
        <p:nvSpPr>
          <p:cNvPr id="25603" name="Slide Number Placeholder 3"/>
          <p:cNvSpPr>
            <a:spLocks noGrp="1"/>
          </p:cNvSpPr>
          <p:nvPr>
            <p:ph type="sldNum" sz="quarter" idx="11"/>
          </p:nvPr>
        </p:nvSpPr>
        <p:spPr>
          <a:noFill/>
        </p:spPr>
        <p:txBody>
          <a:bodyPr/>
          <a:lstStyle/>
          <a:p>
            <a:r>
              <a:rPr lang="en-US"/>
              <a:t>Slide </a:t>
            </a:r>
            <a:fld id="{7402C915-0DFC-47EF-80DE-4DAB7CB87AF4}" type="slidenum">
              <a:rPr lang="en-US" smtClean="0"/>
              <a:pPr/>
              <a:t>57</a:t>
            </a:fld>
            <a:endParaRPr lang="en-US"/>
          </a:p>
        </p:txBody>
      </p:sp>
      <p:sp>
        <p:nvSpPr>
          <p:cNvPr id="25604" name="Rectangle 2"/>
          <p:cNvSpPr>
            <a:spLocks noGrp="1" noChangeArrowheads="1"/>
          </p:cNvSpPr>
          <p:nvPr>
            <p:ph type="title"/>
          </p:nvPr>
        </p:nvSpPr>
        <p:spPr/>
        <p:txBody>
          <a:bodyPr/>
          <a:lstStyle/>
          <a:p>
            <a:r>
              <a:rPr lang="en-US" dirty="0"/>
              <a:t>Activation Record for Function </a:t>
            </a:r>
            <a:r>
              <a:rPr lang="en-US" dirty="0">
                <a:latin typeface="Consolas" panose="020B0609020204030204" pitchFamily="49" charset="0"/>
              </a:rPr>
              <a:t>max()</a:t>
            </a:r>
          </a:p>
        </p:txBody>
      </p:sp>
      <p:grpSp>
        <p:nvGrpSpPr>
          <p:cNvPr id="3" name="Group 2">
            <a:extLst>
              <a:ext uri="{FF2B5EF4-FFF2-40B4-BE49-F238E27FC236}">
                <a16:creationId xmlns:a16="http://schemas.microsoft.com/office/drawing/2014/main" id="{A1417D12-EDB0-37ED-C40D-824EDD220657}"/>
              </a:ext>
            </a:extLst>
          </p:cNvPr>
          <p:cNvGrpSpPr/>
          <p:nvPr/>
        </p:nvGrpSpPr>
        <p:grpSpPr>
          <a:xfrm>
            <a:off x="1371600" y="1143000"/>
            <a:ext cx="5833595" cy="5222577"/>
            <a:chOff x="2915258" y="469012"/>
            <a:chExt cx="5833595" cy="5222577"/>
          </a:xfrm>
        </p:grpSpPr>
        <p:sp>
          <p:nvSpPr>
            <p:cNvPr id="5" name="Rectangle 4">
              <a:extLst>
                <a:ext uri="{FF2B5EF4-FFF2-40B4-BE49-F238E27FC236}">
                  <a16:creationId xmlns:a16="http://schemas.microsoft.com/office/drawing/2014/main" id="{21694D25-2AE2-F561-EFFF-D58BEBC8E26E}"/>
                </a:ext>
              </a:extLst>
            </p:cNvPr>
            <p:cNvSpPr>
              <a:spLocks noChangeArrowheads="1"/>
            </p:cNvSpPr>
            <p:nvPr/>
          </p:nvSpPr>
          <p:spPr bwMode="auto">
            <a:xfrm>
              <a:off x="4448989" y="602673"/>
              <a:ext cx="1096962" cy="5064475"/>
            </a:xfrm>
            <a:prstGeom prst="rect">
              <a:avLst/>
            </a:prstGeom>
            <a:noFill/>
            <a:ln w="9525">
              <a:solidFill>
                <a:schemeClr val="tx1"/>
              </a:solidFill>
              <a:miter lim="800000"/>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effectLst/>
                <a:uLnTx/>
                <a:uFillTx/>
                <a:latin typeface="Arial" charset="0"/>
              </a:endParaRPr>
            </a:p>
          </p:txBody>
        </p:sp>
        <p:sp>
          <p:nvSpPr>
            <p:cNvPr id="6" name="Line 5">
              <a:extLst>
                <a:ext uri="{FF2B5EF4-FFF2-40B4-BE49-F238E27FC236}">
                  <a16:creationId xmlns:a16="http://schemas.microsoft.com/office/drawing/2014/main" id="{DAD4860C-2EAB-23EF-DA06-D780E3299702}"/>
                </a:ext>
              </a:extLst>
            </p:cNvPr>
            <p:cNvSpPr>
              <a:spLocks noChangeShapeType="1"/>
            </p:cNvSpPr>
            <p:nvPr/>
          </p:nvSpPr>
          <p:spPr bwMode="auto">
            <a:xfrm>
              <a:off x="4448989" y="1638379"/>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7" name="Line 6">
              <a:extLst>
                <a:ext uri="{FF2B5EF4-FFF2-40B4-BE49-F238E27FC236}">
                  <a16:creationId xmlns:a16="http://schemas.microsoft.com/office/drawing/2014/main" id="{39D93791-DF3C-5E76-5048-1D8323B072B6}"/>
                </a:ext>
              </a:extLst>
            </p:cNvPr>
            <p:cNvSpPr>
              <a:spLocks noChangeShapeType="1"/>
            </p:cNvSpPr>
            <p:nvPr/>
          </p:nvSpPr>
          <p:spPr bwMode="auto">
            <a:xfrm>
              <a:off x="4448989" y="1805812"/>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8" name="Line 7">
              <a:extLst>
                <a:ext uri="{FF2B5EF4-FFF2-40B4-BE49-F238E27FC236}">
                  <a16:creationId xmlns:a16="http://schemas.microsoft.com/office/drawing/2014/main" id="{5102B367-9E55-F338-6BD3-FFBCE9E750C3}"/>
                </a:ext>
              </a:extLst>
            </p:cNvPr>
            <p:cNvSpPr>
              <a:spLocks noChangeShapeType="1"/>
            </p:cNvSpPr>
            <p:nvPr/>
          </p:nvSpPr>
          <p:spPr bwMode="auto">
            <a:xfrm>
              <a:off x="4448989" y="1470946"/>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9" name="Line 8">
              <a:extLst>
                <a:ext uri="{FF2B5EF4-FFF2-40B4-BE49-F238E27FC236}">
                  <a16:creationId xmlns:a16="http://schemas.microsoft.com/office/drawing/2014/main" id="{94060ED1-193F-DA7E-D780-4446577B58AD}"/>
                </a:ext>
              </a:extLst>
            </p:cNvPr>
            <p:cNvSpPr>
              <a:spLocks noChangeShapeType="1"/>
            </p:cNvSpPr>
            <p:nvPr/>
          </p:nvSpPr>
          <p:spPr bwMode="auto">
            <a:xfrm>
              <a:off x="4448989" y="1973245"/>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10" name="Line 9">
              <a:extLst>
                <a:ext uri="{FF2B5EF4-FFF2-40B4-BE49-F238E27FC236}">
                  <a16:creationId xmlns:a16="http://schemas.microsoft.com/office/drawing/2014/main" id="{3897D3A1-5C78-CE4D-0403-6A9A4E3A2822}"/>
                </a:ext>
              </a:extLst>
            </p:cNvPr>
            <p:cNvSpPr>
              <a:spLocks noChangeShapeType="1"/>
            </p:cNvSpPr>
            <p:nvPr/>
          </p:nvSpPr>
          <p:spPr bwMode="auto">
            <a:xfrm>
              <a:off x="4448989" y="2140678"/>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11" name="Line 10">
              <a:extLst>
                <a:ext uri="{FF2B5EF4-FFF2-40B4-BE49-F238E27FC236}">
                  <a16:creationId xmlns:a16="http://schemas.microsoft.com/office/drawing/2014/main" id="{6704E9FC-0FEF-E73B-ADBA-CFC1FE336CBC}"/>
                </a:ext>
              </a:extLst>
            </p:cNvPr>
            <p:cNvSpPr>
              <a:spLocks noChangeShapeType="1"/>
            </p:cNvSpPr>
            <p:nvPr/>
          </p:nvSpPr>
          <p:spPr bwMode="auto">
            <a:xfrm>
              <a:off x="4448989" y="2308111"/>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12" name="Line 11">
              <a:extLst>
                <a:ext uri="{FF2B5EF4-FFF2-40B4-BE49-F238E27FC236}">
                  <a16:creationId xmlns:a16="http://schemas.microsoft.com/office/drawing/2014/main" id="{41DA95F4-CCA6-D9D8-D506-73E286BE7BE4}"/>
                </a:ext>
              </a:extLst>
            </p:cNvPr>
            <p:cNvSpPr>
              <a:spLocks noChangeShapeType="1"/>
            </p:cNvSpPr>
            <p:nvPr/>
          </p:nvSpPr>
          <p:spPr bwMode="auto">
            <a:xfrm>
              <a:off x="4448989" y="2475544"/>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13" name="Line 12">
              <a:extLst>
                <a:ext uri="{FF2B5EF4-FFF2-40B4-BE49-F238E27FC236}">
                  <a16:creationId xmlns:a16="http://schemas.microsoft.com/office/drawing/2014/main" id="{6DCF3424-AAA5-BFCC-835E-810FF03264B1}"/>
                </a:ext>
              </a:extLst>
            </p:cNvPr>
            <p:cNvSpPr>
              <a:spLocks noChangeShapeType="1"/>
            </p:cNvSpPr>
            <p:nvPr/>
          </p:nvSpPr>
          <p:spPr bwMode="auto">
            <a:xfrm>
              <a:off x="4448989" y="2642977"/>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14" name="Line 13">
              <a:extLst>
                <a:ext uri="{FF2B5EF4-FFF2-40B4-BE49-F238E27FC236}">
                  <a16:creationId xmlns:a16="http://schemas.microsoft.com/office/drawing/2014/main" id="{B59A0BF3-D7B2-B73A-45D4-B9EF5EEE6441}"/>
                </a:ext>
              </a:extLst>
            </p:cNvPr>
            <p:cNvSpPr>
              <a:spLocks noChangeShapeType="1"/>
            </p:cNvSpPr>
            <p:nvPr/>
          </p:nvSpPr>
          <p:spPr bwMode="auto">
            <a:xfrm>
              <a:off x="4448989" y="2810410"/>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15" name="Line 14">
              <a:extLst>
                <a:ext uri="{FF2B5EF4-FFF2-40B4-BE49-F238E27FC236}">
                  <a16:creationId xmlns:a16="http://schemas.microsoft.com/office/drawing/2014/main" id="{E8C5FCBD-7E0B-3AAC-D216-001C806254C9}"/>
                </a:ext>
              </a:extLst>
            </p:cNvPr>
            <p:cNvSpPr>
              <a:spLocks noChangeShapeType="1"/>
            </p:cNvSpPr>
            <p:nvPr/>
          </p:nvSpPr>
          <p:spPr bwMode="auto">
            <a:xfrm>
              <a:off x="4448989" y="2977843"/>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16" name="Line 15">
              <a:extLst>
                <a:ext uri="{FF2B5EF4-FFF2-40B4-BE49-F238E27FC236}">
                  <a16:creationId xmlns:a16="http://schemas.microsoft.com/office/drawing/2014/main" id="{FBEA5277-C951-0950-DD9A-B44C4349299D}"/>
                </a:ext>
              </a:extLst>
            </p:cNvPr>
            <p:cNvSpPr>
              <a:spLocks noChangeShapeType="1"/>
            </p:cNvSpPr>
            <p:nvPr/>
          </p:nvSpPr>
          <p:spPr bwMode="auto">
            <a:xfrm>
              <a:off x="4448989" y="3145276"/>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17" name="Line 16">
              <a:extLst>
                <a:ext uri="{FF2B5EF4-FFF2-40B4-BE49-F238E27FC236}">
                  <a16:creationId xmlns:a16="http://schemas.microsoft.com/office/drawing/2014/main" id="{CA3D61D7-EE4D-84EC-77F4-ED5A35BD6D0E}"/>
                </a:ext>
              </a:extLst>
            </p:cNvPr>
            <p:cNvSpPr>
              <a:spLocks noChangeShapeType="1"/>
            </p:cNvSpPr>
            <p:nvPr/>
          </p:nvSpPr>
          <p:spPr bwMode="auto">
            <a:xfrm>
              <a:off x="4448989" y="3312709"/>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18" name="Line 17">
              <a:extLst>
                <a:ext uri="{FF2B5EF4-FFF2-40B4-BE49-F238E27FC236}">
                  <a16:creationId xmlns:a16="http://schemas.microsoft.com/office/drawing/2014/main" id="{539E9033-BF0D-414A-AEC5-ADF013B6E678}"/>
                </a:ext>
              </a:extLst>
            </p:cNvPr>
            <p:cNvSpPr>
              <a:spLocks noChangeShapeType="1"/>
            </p:cNvSpPr>
            <p:nvPr/>
          </p:nvSpPr>
          <p:spPr bwMode="auto">
            <a:xfrm>
              <a:off x="4448989" y="3480142"/>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19" name="Line 18">
              <a:extLst>
                <a:ext uri="{FF2B5EF4-FFF2-40B4-BE49-F238E27FC236}">
                  <a16:creationId xmlns:a16="http://schemas.microsoft.com/office/drawing/2014/main" id="{320B1637-D8CB-DB31-ABF1-E665A69E2381}"/>
                </a:ext>
              </a:extLst>
            </p:cNvPr>
            <p:cNvSpPr>
              <a:spLocks noChangeShapeType="1"/>
            </p:cNvSpPr>
            <p:nvPr/>
          </p:nvSpPr>
          <p:spPr bwMode="auto">
            <a:xfrm>
              <a:off x="4448989" y="3647575"/>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20" name="Line 19">
              <a:extLst>
                <a:ext uri="{FF2B5EF4-FFF2-40B4-BE49-F238E27FC236}">
                  <a16:creationId xmlns:a16="http://schemas.microsoft.com/office/drawing/2014/main" id="{97927AF1-DC0B-0142-BE29-816D4CF3869E}"/>
                </a:ext>
              </a:extLst>
            </p:cNvPr>
            <p:cNvSpPr>
              <a:spLocks noChangeShapeType="1"/>
            </p:cNvSpPr>
            <p:nvPr/>
          </p:nvSpPr>
          <p:spPr bwMode="auto">
            <a:xfrm>
              <a:off x="4448989" y="3815008"/>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21" name="Line 20">
              <a:extLst>
                <a:ext uri="{FF2B5EF4-FFF2-40B4-BE49-F238E27FC236}">
                  <a16:creationId xmlns:a16="http://schemas.microsoft.com/office/drawing/2014/main" id="{2F674F5A-2561-C867-D3E9-0C336BC5F4EB}"/>
                </a:ext>
              </a:extLst>
            </p:cNvPr>
            <p:cNvSpPr>
              <a:spLocks noChangeShapeType="1"/>
            </p:cNvSpPr>
            <p:nvPr/>
          </p:nvSpPr>
          <p:spPr bwMode="auto">
            <a:xfrm>
              <a:off x="4448989" y="3982441"/>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22" name="Line 21">
              <a:extLst>
                <a:ext uri="{FF2B5EF4-FFF2-40B4-BE49-F238E27FC236}">
                  <a16:creationId xmlns:a16="http://schemas.microsoft.com/office/drawing/2014/main" id="{FA13AE8D-404C-F532-DB66-6C551DA229A0}"/>
                </a:ext>
              </a:extLst>
            </p:cNvPr>
            <p:cNvSpPr>
              <a:spLocks noChangeShapeType="1"/>
            </p:cNvSpPr>
            <p:nvPr/>
          </p:nvSpPr>
          <p:spPr bwMode="auto">
            <a:xfrm>
              <a:off x="4448989" y="4149874"/>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23" name="Line 22">
              <a:extLst>
                <a:ext uri="{FF2B5EF4-FFF2-40B4-BE49-F238E27FC236}">
                  <a16:creationId xmlns:a16="http://schemas.microsoft.com/office/drawing/2014/main" id="{465071D8-5C5C-8475-AF92-2833A528CDAC}"/>
                </a:ext>
              </a:extLst>
            </p:cNvPr>
            <p:cNvSpPr>
              <a:spLocks noChangeShapeType="1"/>
            </p:cNvSpPr>
            <p:nvPr/>
          </p:nvSpPr>
          <p:spPr bwMode="auto">
            <a:xfrm>
              <a:off x="4448989" y="4317307"/>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24" name="Line 23">
              <a:extLst>
                <a:ext uri="{FF2B5EF4-FFF2-40B4-BE49-F238E27FC236}">
                  <a16:creationId xmlns:a16="http://schemas.microsoft.com/office/drawing/2014/main" id="{D444FA26-490F-076D-7F71-6E5BFCFAFF4A}"/>
                </a:ext>
              </a:extLst>
            </p:cNvPr>
            <p:cNvSpPr>
              <a:spLocks noChangeShapeType="1"/>
            </p:cNvSpPr>
            <p:nvPr/>
          </p:nvSpPr>
          <p:spPr bwMode="auto">
            <a:xfrm>
              <a:off x="4448989" y="4484740"/>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25" name="Line 24">
              <a:extLst>
                <a:ext uri="{FF2B5EF4-FFF2-40B4-BE49-F238E27FC236}">
                  <a16:creationId xmlns:a16="http://schemas.microsoft.com/office/drawing/2014/main" id="{A0B31CF5-BA9B-3935-09E3-116DA72C93FD}"/>
                </a:ext>
              </a:extLst>
            </p:cNvPr>
            <p:cNvSpPr>
              <a:spLocks noChangeShapeType="1"/>
            </p:cNvSpPr>
            <p:nvPr/>
          </p:nvSpPr>
          <p:spPr bwMode="auto">
            <a:xfrm>
              <a:off x="4448989" y="4652173"/>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26" name="Line 25">
              <a:extLst>
                <a:ext uri="{FF2B5EF4-FFF2-40B4-BE49-F238E27FC236}">
                  <a16:creationId xmlns:a16="http://schemas.microsoft.com/office/drawing/2014/main" id="{BC30BC5E-F03E-109C-3194-F38425F8ECD3}"/>
                </a:ext>
              </a:extLst>
            </p:cNvPr>
            <p:cNvSpPr>
              <a:spLocks noChangeShapeType="1"/>
            </p:cNvSpPr>
            <p:nvPr/>
          </p:nvSpPr>
          <p:spPr bwMode="auto">
            <a:xfrm>
              <a:off x="4448989" y="4819606"/>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27" name="Line 26">
              <a:extLst>
                <a:ext uri="{FF2B5EF4-FFF2-40B4-BE49-F238E27FC236}">
                  <a16:creationId xmlns:a16="http://schemas.microsoft.com/office/drawing/2014/main" id="{F8886BE9-301D-FBD2-D06D-4D20D60C2BDD}"/>
                </a:ext>
              </a:extLst>
            </p:cNvPr>
            <p:cNvSpPr>
              <a:spLocks noChangeShapeType="1"/>
            </p:cNvSpPr>
            <p:nvPr/>
          </p:nvSpPr>
          <p:spPr bwMode="auto">
            <a:xfrm>
              <a:off x="4448989" y="4987039"/>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28" name="Line 27">
              <a:extLst>
                <a:ext uri="{FF2B5EF4-FFF2-40B4-BE49-F238E27FC236}">
                  <a16:creationId xmlns:a16="http://schemas.microsoft.com/office/drawing/2014/main" id="{F38C6518-52A2-A6A6-8F3A-7FD95DC2B20C}"/>
                </a:ext>
              </a:extLst>
            </p:cNvPr>
            <p:cNvSpPr>
              <a:spLocks noChangeShapeType="1"/>
            </p:cNvSpPr>
            <p:nvPr/>
          </p:nvSpPr>
          <p:spPr bwMode="auto">
            <a:xfrm>
              <a:off x="4448989" y="5154472"/>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29" name="Line 28">
              <a:extLst>
                <a:ext uri="{FF2B5EF4-FFF2-40B4-BE49-F238E27FC236}">
                  <a16:creationId xmlns:a16="http://schemas.microsoft.com/office/drawing/2014/main" id="{1AE767A3-3DCF-07F0-D8DD-228578E795E2}"/>
                </a:ext>
              </a:extLst>
            </p:cNvPr>
            <p:cNvSpPr>
              <a:spLocks noChangeShapeType="1"/>
            </p:cNvSpPr>
            <p:nvPr/>
          </p:nvSpPr>
          <p:spPr bwMode="auto">
            <a:xfrm>
              <a:off x="4448989" y="5321905"/>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30" name="Line 29">
              <a:extLst>
                <a:ext uri="{FF2B5EF4-FFF2-40B4-BE49-F238E27FC236}">
                  <a16:creationId xmlns:a16="http://schemas.microsoft.com/office/drawing/2014/main" id="{8B978C43-3027-0EF4-DB29-1FA360AEC57F}"/>
                </a:ext>
              </a:extLst>
            </p:cNvPr>
            <p:cNvSpPr>
              <a:spLocks noChangeShapeType="1"/>
            </p:cNvSpPr>
            <p:nvPr/>
          </p:nvSpPr>
          <p:spPr bwMode="auto">
            <a:xfrm>
              <a:off x="4448989" y="5489348"/>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31" name="AutoShape 32">
              <a:extLst>
                <a:ext uri="{FF2B5EF4-FFF2-40B4-BE49-F238E27FC236}">
                  <a16:creationId xmlns:a16="http://schemas.microsoft.com/office/drawing/2014/main" id="{B949C194-C260-CD98-CAD1-0ABCBB464B9E}"/>
                </a:ext>
              </a:extLst>
            </p:cNvPr>
            <p:cNvSpPr>
              <a:spLocks/>
            </p:cNvSpPr>
            <p:nvPr/>
          </p:nvSpPr>
          <p:spPr bwMode="auto">
            <a:xfrm>
              <a:off x="5637483" y="2885848"/>
              <a:ext cx="92075" cy="593725"/>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32" name="AutoShape 33">
              <a:extLst>
                <a:ext uri="{FF2B5EF4-FFF2-40B4-BE49-F238E27FC236}">
                  <a16:creationId xmlns:a16="http://schemas.microsoft.com/office/drawing/2014/main" id="{05950A43-15A4-0390-A644-B7B5C59842E6}"/>
                </a:ext>
              </a:extLst>
            </p:cNvPr>
            <p:cNvSpPr>
              <a:spLocks/>
            </p:cNvSpPr>
            <p:nvPr/>
          </p:nvSpPr>
          <p:spPr bwMode="auto">
            <a:xfrm>
              <a:off x="5635896" y="3534933"/>
              <a:ext cx="92075" cy="593725"/>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33" name="AutoShape 30">
              <a:extLst>
                <a:ext uri="{FF2B5EF4-FFF2-40B4-BE49-F238E27FC236}">
                  <a16:creationId xmlns:a16="http://schemas.microsoft.com/office/drawing/2014/main" id="{7F52B183-778A-0BB2-8C38-88E4631F9921}"/>
                </a:ext>
              </a:extLst>
            </p:cNvPr>
            <p:cNvSpPr>
              <a:spLocks/>
            </p:cNvSpPr>
            <p:nvPr/>
          </p:nvSpPr>
          <p:spPr bwMode="auto">
            <a:xfrm>
              <a:off x="5637483" y="1503302"/>
              <a:ext cx="92075" cy="593725"/>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34" name="Text Box 36">
              <a:extLst>
                <a:ext uri="{FF2B5EF4-FFF2-40B4-BE49-F238E27FC236}">
                  <a16:creationId xmlns:a16="http://schemas.microsoft.com/office/drawing/2014/main" id="{C092FF90-03E4-0304-9C16-92BB96B08F26}"/>
                </a:ext>
              </a:extLst>
            </p:cNvPr>
            <p:cNvSpPr txBox="1">
              <a:spLocks noChangeArrowheads="1"/>
            </p:cNvSpPr>
            <p:nvPr/>
          </p:nvSpPr>
          <p:spPr bwMode="auto">
            <a:xfrm>
              <a:off x="5769031" y="1630566"/>
              <a:ext cx="288542" cy="339196"/>
            </a:xfrm>
            <a:prstGeom prst="rect">
              <a:avLst/>
            </a:prstGeom>
            <a:noFill/>
            <a:ln w="9525">
              <a:no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600" kern="0" dirty="0">
                  <a:latin typeface="Arial" charset="0"/>
                </a:rPr>
                <a:t>x</a:t>
              </a:r>
              <a:endParaRPr kumimoji="0" lang="en-US" sz="1600" b="0" i="0" u="none" strike="noStrike" kern="0" cap="none" spc="0" normalizeH="0" baseline="0" noProof="0" dirty="0">
                <a:ln>
                  <a:noFill/>
                </a:ln>
                <a:effectLst/>
                <a:uLnTx/>
                <a:uFillTx/>
                <a:latin typeface="Arial" charset="0"/>
              </a:endParaRPr>
            </a:p>
          </p:txBody>
        </p:sp>
        <p:sp>
          <p:nvSpPr>
            <p:cNvPr id="35" name="AutoShape 31">
              <a:extLst>
                <a:ext uri="{FF2B5EF4-FFF2-40B4-BE49-F238E27FC236}">
                  <a16:creationId xmlns:a16="http://schemas.microsoft.com/office/drawing/2014/main" id="{868A9F50-8B83-C41F-1DED-9B5A0E208C1A}"/>
                </a:ext>
              </a:extLst>
            </p:cNvPr>
            <p:cNvSpPr>
              <a:spLocks/>
            </p:cNvSpPr>
            <p:nvPr/>
          </p:nvSpPr>
          <p:spPr bwMode="auto">
            <a:xfrm>
              <a:off x="5637483" y="2179983"/>
              <a:ext cx="92075" cy="593725"/>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36" name="Text Box 37">
              <a:extLst>
                <a:ext uri="{FF2B5EF4-FFF2-40B4-BE49-F238E27FC236}">
                  <a16:creationId xmlns:a16="http://schemas.microsoft.com/office/drawing/2014/main" id="{850C0AD0-2D0E-BDC8-9A8B-D6F27BFE42F5}"/>
                </a:ext>
              </a:extLst>
            </p:cNvPr>
            <p:cNvSpPr txBox="1">
              <a:spLocks noChangeArrowheads="1"/>
            </p:cNvSpPr>
            <p:nvPr/>
          </p:nvSpPr>
          <p:spPr bwMode="auto">
            <a:xfrm>
              <a:off x="5769031" y="2307247"/>
              <a:ext cx="288542" cy="339196"/>
            </a:xfrm>
            <a:prstGeom prst="rect">
              <a:avLst/>
            </a:prstGeom>
            <a:noFill/>
            <a:ln w="9525">
              <a:no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600" kern="0" dirty="0">
                  <a:latin typeface="Arial" charset="0"/>
                </a:rPr>
                <a:t>y</a:t>
              </a:r>
              <a:endParaRPr kumimoji="0" lang="en-US" sz="1600" b="0" i="0" u="none" strike="noStrike" kern="0" cap="none" spc="0" normalizeH="0" baseline="0" noProof="0" dirty="0">
                <a:ln>
                  <a:noFill/>
                </a:ln>
                <a:effectLst/>
                <a:uLnTx/>
                <a:uFillTx/>
                <a:latin typeface="Arial" charset="0"/>
              </a:endParaRPr>
            </a:p>
          </p:txBody>
        </p:sp>
        <p:sp>
          <p:nvSpPr>
            <p:cNvPr id="37" name="Text Box 39">
              <a:extLst>
                <a:ext uri="{FF2B5EF4-FFF2-40B4-BE49-F238E27FC236}">
                  <a16:creationId xmlns:a16="http://schemas.microsoft.com/office/drawing/2014/main" id="{732C3C51-8F1D-66B9-A1C2-E3104D15C10C}"/>
                </a:ext>
              </a:extLst>
            </p:cNvPr>
            <p:cNvSpPr txBox="1">
              <a:spLocks noChangeArrowheads="1"/>
            </p:cNvSpPr>
            <p:nvPr/>
          </p:nvSpPr>
          <p:spPr bwMode="auto">
            <a:xfrm>
              <a:off x="4540270" y="1535838"/>
              <a:ext cx="914400" cy="549275"/>
            </a:xfrm>
            <a:prstGeom prst="rect">
              <a:avLst/>
            </a:prstGeom>
            <a:solidFill>
              <a:srgbClr val="FFFFFF"/>
            </a:solidFill>
            <a:ln w="9525">
              <a:noFill/>
              <a:miter lim="800000"/>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600" kern="0" dirty="0">
                  <a:latin typeface="Arial" charset="0"/>
                </a:rPr>
                <a:t>5</a:t>
              </a:r>
              <a:endParaRPr kumimoji="0" lang="en-US" sz="1600" b="0" i="0" u="none" strike="noStrike" kern="0" cap="none" spc="0" normalizeH="0" baseline="0" noProof="0" dirty="0">
                <a:ln>
                  <a:noFill/>
                </a:ln>
                <a:effectLst/>
                <a:uLnTx/>
                <a:uFillTx/>
                <a:latin typeface="Arial" charset="0"/>
              </a:endParaRPr>
            </a:p>
          </p:txBody>
        </p:sp>
        <p:sp>
          <p:nvSpPr>
            <p:cNvPr id="38" name="Text Box 40">
              <a:extLst>
                <a:ext uri="{FF2B5EF4-FFF2-40B4-BE49-F238E27FC236}">
                  <a16:creationId xmlns:a16="http://schemas.microsoft.com/office/drawing/2014/main" id="{8F635B74-0E85-0110-6545-1224AD425D77}"/>
                </a:ext>
              </a:extLst>
            </p:cNvPr>
            <p:cNvSpPr txBox="1">
              <a:spLocks noChangeArrowheads="1"/>
            </p:cNvSpPr>
            <p:nvPr/>
          </p:nvSpPr>
          <p:spPr bwMode="auto">
            <a:xfrm>
              <a:off x="4540270" y="3523605"/>
              <a:ext cx="914400" cy="594360"/>
            </a:xfrm>
            <a:prstGeom prst="rect">
              <a:avLst/>
            </a:prstGeom>
            <a:solidFill>
              <a:srgbClr val="FFFFFF"/>
            </a:solidFill>
            <a:ln w="9525">
              <a:noFill/>
              <a:miter lim="800000"/>
              <a:headEnd/>
              <a:tailEnd/>
            </a:ln>
          </p:spPr>
          <p:txBody>
            <a:bodyPr wrap="none" lIns="92075" tIns="46038" rIns="92075" bIns="46038"/>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return</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address</a:t>
              </a:r>
            </a:p>
          </p:txBody>
        </p:sp>
        <p:sp>
          <p:nvSpPr>
            <p:cNvPr id="39" name="AutoShape 34">
              <a:extLst>
                <a:ext uri="{FF2B5EF4-FFF2-40B4-BE49-F238E27FC236}">
                  <a16:creationId xmlns:a16="http://schemas.microsoft.com/office/drawing/2014/main" id="{94272F89-D0B5-5859-D888-15C44F10EB14}"/>
                </a:ext>
              </a:extLst>
            </p:cNvPr>
            <p:cNvSpPr>
              <a:spLocks/>
            </p:cNvSpPr>
            <p:nvPr/>
          </p:nvSpPr>
          <p:spPr bwMode="auto">
            <a:xfrm>
              <a:off x="5635896" y="4188652"/>
              <a:ext cx="92075" cy="593725"/>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40" name="Text Box 41">
              <a:extLst>
                <a:ext uri="{FF2B5EF4-FFF2-40B4-BE49-F238E27FC236}">
                  <a16:creationId xmlns:a16="http://schemas.microsoft.com/office/drawing/2014/main" id="{AAD336AD-80D5-536D-E520-AA0EC6D8A41C}"/>
                </a:ext>
              </a:extLst>
            </p:cNvPr>
            <p:cNvSpPr txBox="1">
              <a:spLocks noChangeArrowheads="1"/>
            </p:cNvSpPr>
            <p:nvPr/>
          </p:nvSpPr>
          <p:spPr bwMode="auto">
            <a:xfrm>
              <a:off x="5769031" y="4301955"/>
              <a:ext cx="687689" cy="339196"/>
            </a:xfrm>
            <a:prstGeom prst="rect">
              <a:avLst/>
            </a:prstGeom>
            <a:noFill/>
            <a:ln w="9525">
              <a:no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600" kern="0" dirty="0">
                  <a:latin typeface="Arial" charset="0"/>
                </a:rPr>
                <a:t>result</a:t>
              </a:r>
              <a:endParaRPr kumimoji="0" lang="en-US" sz="1600" b="0" i="0" u="none" strike="noStrike" kern="0" cap="none" spc="0" normalizeH="0" baseline="0" noProof="0" dirty="0">
                <a:ln>
                  <a:noFill/>
                </a:ln>
                <a:effectLst/>
                <a:uLnTx/>
                <a:uFillTx/>
                <a:latin typeface="Arial" charset="0"/>
              </a:endParaRPr>
            </a:p>
          </p:txBody>
        </p:sp>
        <p:sp>
          <p:nvSpPr>
            <p:cNvPr id="41" name="Text Box 42">
              <a:extLst>
                <a:ext uri="{FF2B5EF4-FFF2-40B4-BE49-F238E27FC236}">
                  <a16:creationId xmlns:a16="http://schemas.microsoft.com/office/drawing/2014/main" id="{2D79D525-FAF9-C7CC-7D57-E14F68E31F65}"/>
                </a:ext>
              </a:extLst>
            </p:cNvPr>
            <p:cNvSpPr txBox="1">
              <a:spLocks noChangeArrowheads="1"/>
            </p:cNvSpPr>
            <p:nvPr/>
          </p:nvSpPr>
          <p:spPr bwMode="auto">
            <a:xfrm>
              <a:off x="4020492" y="1387415"/>
              <a:ext cx="368691" cy="339196"/>
            </a:xfrm>
            <a:prstGeom prst="rect">
              <a:avLst/>
            </a:prstGeom>
            <a:noFill/>
            <a:ln w="9525">
              <a:no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-8</a:t>
              </a:r>
            </a:p>
          </p:txBody>
        </p:sp>
        <p:sp>
          <p:nvSpPr>
            <p:cNvPr id="42" name="Text Box 43">
              <a:extLst>
                <a:ext uri="{FF2B5EF4-FFF2-40B4-BE49-F238E27FC236}">
                  <a16:creationId xmlns:a16="http://schemas.microsoft.com/office/drawing/2014/main" id="{1FDD21AC-7D4B-B519-FB7F-D7F776F582EE}"/>
                </a:ext>
              </a:extLst>
            </p:cNvPr>
            <p:cNvSpPr txBox="1">
              <a:spLocks noChangeArrowheads="1"/>
            </p:cNvSpPr>
            <p:nvPr/>
          </p:nvSpPr>
          <p:spPr bwMode="auto">
            <a:xfrm>
              <a:off x="4020492" y="2062711"/>
              <a:ext cx="368691" cy="339196"/>
            </a:xfrm>
            <a:prstGeom prst="rect">
              <a:avLst/>
            </a:prstGeom>
            <a:noFill/>
            <a:ln w="9525">
              <a:no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-4</a:t>
              </a:r>
            </a:p>
          </p:txBody>
        </p:sp>
        <p:sp>
          <p:nvSpPr>
            <p:cNvPr id="43" name="Text Box 44">
              <a:extLst>
                <a:ext uri="{FF2B5EF4-FFF2-40B4-BE49-F238E27FC236}">
                  <a16:creationId xmlns:a16="http://schemas.microsoft.com/office/drawing/2014/main" id="{0EDFBA2C-7374-0B58-ABB9-A96474B19D17}"/>
                </a:ext>
              </a:extLst>
            </p:cNvPr>
            <p:cNvSpPr txBox="1">
              <a:spLocks noChangeArrowheads="1"/>
            </p:cNvSpPr>
            <p:nvPr/>
          </p:nvSpPr>
          <p:spPr bwMode="auto">
            <a:xfrm>
              <a:off x="4089421" y="2737805"/>
              <a:ext cx="299762" cy="339196"/>
            </a:xfrm>
            <a:prstGeom prst="rect">
              <a:avLst/>
            </a:prstGeom>
            <a:noFill/>
            <a:ln w="9525">
              <a:no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0</a:t>
              </a:r>
            </a:p>
          </p:txBody>
        </p:sp>
        <p:sp>
          <p:nvSpPr>
            <p:cNvPr id="44" name="Text Box 45">
              <a:extLst>
                <a:ext uri="{FF2B5EF4-FFF2-40B4-BE49-F238E27FC236}">
                  <a16:creationId xmlns:a16="http://schemas.microsoft.com/office/drawing/2014/main" id="{D262EF06-B9FD-D0A5-5197-CA9BCDE3C288}"/>
                </a:ext>
              </a:extLst>
            </p:cNvPr>
            <p:cNvSpPr txBox="1">
              <a:spLocks noChangeArrowheads="1"/>
            </p:cNvSpPr>
            <p:nvPr/>
          </p:nvSpPr>
          <p:spPr bwMode="auto">
            <a:xfrm>
              <a:off x="4089421" y="3411311"/>
              <a:ext cx="299762" cy="339196"/>
            </a:xfrm>
            <a:prstGeom prst="rect">
              <a:avLst/>
            </a:prstGeom>
            <a:noFill/>
            <a:ln w="9525">
              <a:no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4</a:t>
              </a:r>
            </a:p>
          </p:txBody>
        </p:sp>
        <p:sp>
          <p:nvSpPr>
            <p:cNvPr id="45" name="Text Box 46">
              <a:extLst>
                <a:ext uri="{FF2B5EF4-FFF2-40B4-BE49-F238E27FC236}">
                  <a16:creationId xmlns:a16="http://schemas.microsoft.com/office/drawing/2014/main" id="{F18EDAD5-02BA-71D8-5F10-6EB2BAC041DA}"/>
                </a:ext>
              </a:extLst>
            </p:cNvPr>
            <p:cNvSpPr txBox="1">
              <a:spLocks noChangeArrowheads="1"/>
            </p:cNvSpPr>
            <p:nvPr/>
          </p:nvSpPr>
          <p:spPr bwMode="auto">
            <a:xfrm>
              <a:off x="4089421" y="4076473"/>
              <a:ext cx="299762" cy="339196"/>
            </a:xfrm>
            <a:prstGeom prst="rect">
              <a:avLst/>
            </a:prstGeom>
            <a:noFill/>
            <a:ln w="9525">
              <a:no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8</a:t>
              </a:r>
            </a:p>
          </p:txBody>
        </p:sp>
        <p:sp>
          <p:nvSpPr>
            <p:cNvPr id="46" name="Text Box 47">
              <a:extLst>
                <a:ext uri="{FF2B5EF4-FFF2-40B4-BE49-F238E27FC236}">
                  <a16:creationId xmlns:a16="http://schemas.microsoft.com/office/drawing/2014/main" id="{6C9A89BF-99E4-9FF1-E35B-40C49330D142}"/>
                </a:ext>
              </a:extLst>
            </p:cNvPr>
            <p:cNvSpPr txBox="1">
              <a:spLocks noChangeArrowheads="1"/>
            </p:cNvSpPr>
            <p:nvPr/>
          </p:nvSpPr>
          <p:spPr bwMode="auto">
            <a:xfrm>
              <a:off x="3975608" y="4732314"/>
              <a:ext cx="413575" cy="339196"/>
            </a:xfrm>
            <a:prstGeom prst="rect">
              <a:avLst/>
            </a:prstGeom>
            <a:noFill/>
            <a:ln w="9525">
              <a:no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12</a:t>
              </a:r>
            </a:p>
          </p:txBody>
        </p:sp>
        <p:sp>
          <p:nvSpPr>
            <p:cNvPr id="47" name="Text Box 48">
              <a:extLst>
                <a:ext uri="{FF2B5EF4-FFF2-40B4-BE49-F238E27FC236}">
                  <a16:creationId xmlns:a16="http://schemas.microsoft.com/office/drawing/2014/main" id="{050CA009-E1CF-94EF-54D0-86FA790A4B62}"/>
                </a:ext>
              </a:extLst>
            </p:cNvPr>
            <p:cNvSpPr txBox="1">
              <a:spLocks noChangeArrowheads="1"/>
            </p:cNvSpPr>
            <p:nvPr/>
          </p:nvSpPr>
          <p:spPr bwMode="auto">
            <a:xfrm>
              <a:off x="2915258" y="2444523"/>
              <a:ext cx="915314" cy="831639"/>
            </a:xfrm>
            <a:prstGeom prst="rect">
              <a:avLst/>
            </a:prstGeom>
            <a:noFill/>
            <a:ln w="9525">
              <a:no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address</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relative</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to BP</a:t>
              </a:r>
            </a:p>
          </p:txBody>
        </p:sp>
        <p:sp>
          <p:nvSpPr>
            <p:cNvPr id="48" name="AutoShape 50">
              <a:extLst>
                <a:ext uri="{FF2B5EF4-FFF2-40B4-BE49-F238E27FC236}">
                  <a16:creationId xmlns:a16="http://schemas.microsoft.com/office/drawing/2014/main" id="{AC7669D1-7E4D-AC48-B79C-740E288209FD}"/>
                </a:ext>
              </a:extLst>
            </p:cNvPr>
            <p:cNvSpPr>
              <a:spLocks/>
            </p:cNvSpPr>
            <p:nvPr/>
          </p:nvSpPr>
          <p:spPr bwMode="auto">
            <a:xfrm>
              <a:off x="6790601" y="1523164"/>
              <a:ext cx="92075" cy="1279525"/>
            </a:xfrm>
            <a:prstGeom prst="rightBrace">
              <a:avLst>
                <a:gd name="adj1" fmla="val 115805"/>
                <a:gd name="adj2" fmla="val 50000"/>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49" name="AutoShape 51">
              <a:extLst>
                <a:ext uri="{FF2B5EF4-FFF2-40B4-BE49-F238E27FC236}">
                  <a16:creationId xmlns:a16="http://schemas.microsoft.com/office/drawing/2014/main" id="{FAA7B7FA-A405-B7FB-9771-E3066415765D}"/>
                </a:ext>
              </a:extLst>
            </p:cNvPr>
            <p:cNvSpPr>
              <a:spLocks/>
            </p:cNvSpPr>
            <p:nvPr/>
          </p:nvSpPr>
          <p:spPr bwMode="auto">
            <a:xfrm>
              <a:off x="6790601" y="4192885"/>
              <a:ext cx="92075" cy="593725"/>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50" name="AutoShape 52">
              <a:extLst>
                <a:ext uri="{FF2B5EF4-FFF2-40B4-BE49-F238E27FC236}">
                  <a16:creationId xmlns:a16="http://schemas.microsoft.com/office/drawing/2014/main" id="{61213E9A-B60D-964D-EEBD-CB6D2EBE8654}"/>
                </a:ext>
              </a:extLst>
            </p:cNvPr>
            <p:cNvSpPr>
              <a:spLocks/>
            </p:cNvSpPr>
            <p:nvPr/>
          </p:nvSpPr>
          <p:spPr bwMode="auto">
            <a:xfrm>
              <a:off x="6790601" y="2865633"/>
              <a:ext cx="92075" cy="1279525"/>
            </a:xfrm>
            <a:prstGeom prst="rightBrace">
              <a:avLst>
                <a:gd name="adj1" fmla="val 173643"/>
                <a:gd name="adj2" fmla="val 50000"/>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51" name="Text Box 53">
              <a:extLst>
                <a:ext uri="{FF2B5EF4-FFF2-40B4-BE49-F238E27FC236}">
                  <a16:creationId xmlns:a16="http://schemas.microsoft.com/office/drawing/2014/main" id="{B8545F3F-98CE-A1F7-C11D-DDA3A656527A}"/>
                </a:ext>
              </a:extLst>
            </p:cNvPr>
            <p:cNvSpPr txBox="1">
              <a:spLocks noChangeArrowheads="1"/>
            </p:cNvSpPr>
            <p:nvPr/>
          </p:nvSpPr>
          <p:spPr bwMode="auto">
            <a:xfrm>
              <a:off x="6956696" y="1993328"/>
              <a:ext cx="1534074" cy="339196"/>
            </a:xfrm>
            <a:prstGeom prst="rect">
              <a:avLst/>
            </a:prstGeom>
            <a:noFill/>
            <a:ln w="9525">
              <a:noFill/>
              <a:miter lim="800000"/>
              <a:headEnd/>
              <a:tailEnd/>
            </a:ln>
          </p:spPr>
          <p:txBody>
            <a:bodyPr wrap="none" lIns="92075" tIns="46038" rIns="92075" bIns="46038">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parameter part</a:t>
              </a:r>
            </a:p>
          </p:txBody>
        </p:sp>
        <p:sp>
          <p:nvSpPr>
            <p:cNvPr id="52" name="Text Box 55">
              <a:extLst>
                <a:ext uri="{FF2B5EF4-FFF2-40B4-BE49-F238E27FC236}">
                  <a16:creationId xmlns:a16="http://schemas.microsoft.com/office/drawing/2014/main" id="{E3226517-019F-53EF-F272-EB4B481534C8}"/>
                </a:ext>
              </a:extLst>
            </p:cNvPr>
            <p:cNvSpPr txBox="1">
              <a:spLocks noChangeArrowheads="1"/>
            </p:cNvSpPr>
            <p:nvPr/>
          </p:nvSpPr>
          <p:spPr bwMode="auto">
            <a:xfrm>
              <a:off x="6956696" y="3335797"/>
              <a:ext cx="1259960" cy="339196"/>
            </a:xfrm>
            <a:prstGeom prst="rect">
              <a:avLst/>
            </a:prstGeom>
            <a:noFill/>
            <a:ln w="9525">
              <a:noFill/>
              <a:miter lim="800000"/>
              <a:headEnd/>
              <a:tailEnd/>
            </a:ln>
          </p:spPr>
          <p:txBody>
            <a:bodyPr wrap="none" lIns="92075" tIns="46038" rIns="92075" bIns="46038">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context part</a:t>
              </a:r>
            </a:p>
          </p:txBody>
        </p:sp>
        <p:sp>
          <p:nvSpPr>
            <p:cNvPr id="53" name="Text Box 56">
              <a:extLst>
                <a:ext uri="{FF2B5EF4-FFF2-40B4-BE49-F238E27FC236}">
                  <a16:creationId xmlns:a16="http://schemas.microsoft.com/office/drawing/2014/main" id="{7A14ACD3-3F4B-33E5-843B-B38046F7F71F}"/>
                </a:ext>
              </a:extLst>
            </p:cNvPr>
            <p:cNvSpPr txBox="1">
              <a:spLocks noChangeArrowheads="1"/>
            </p:cNvSpPr>
            <p:nvPr/>
          </p:nvSpPr>
          <p:spPr bwMode="auto">
            <a:xfrm>
              <a:off x="6956696" y="4320149"/>
              <a:ext cx="1792157" cy="339196"/>
            </a:xfrm>
            <a:prstGeom prst="rect">
              <a:avLst/>
            </a:prstGeom>
            <a:noFill/>
            <a:ln w="9525">
              <a:noFill/>
              <a:miter lim="800000"/>
              <a:headEnd/>
              <a:tailEnd/>
            </a:ln>
          </p:spPr>
          <p:txBody>
            <a:bodyPr wrap="none" lIns="92075" tIns="46038" rIns="92075" bIns="46038">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local variable part</a:t>
              </a:r>
            </a:p>
          </p:txBody>
        </p:sp>
        <p:grpSp>
          <p:nvGrpSpPr>
            <p:cNvPr id="54" name="Group 53">
              <a:extLst>
                <a:ext uri="{FF2B5EF4-FFF2-40B4-BE49-F238E27FC236}">
                  <a16:creationId xmlns:a16="http://schemas.microsoft.com/office/drawing/2014/main" id="{0125A988-786D-1D16-227B-6C2D1778F317}"/>
                </a:ext>
              </a:extLst>
            </p:cNvPr>
            <p:cNvGrpSpPr/>
            <p:nvPr/>
          </p:nvGrpSpPr>
          <p:grpSpPr>
            <a:xfrm>
              <a:off x="5516833" y="2750441"/>
              <a:ext cx="1122273" cy="323165"/>
              <a:chOff x="5516833" y="2750441"/>
              <a:chExt cx="1122273" cy="323165"/>
            </a:xfrm>
          </p:grpSpPr>
          <p:sp>
            <p:nvSpPr>
              <p:cNvPr id="73" name="Rectangle 57">
                <a:extLst>
                  <a:ext uri="{FF2B5EF4-FFF2-40B4-BE49-F238E27FC236}">
                    <a16:creationId xmlns:a16="http://schemas.microsoft.com/office/drawing/2014/main" id="{6B45AF5E-E89A-9343-23C1-9D6D123A3761}"/>
                  </a:ext>
                </a:extLst>
              </p:cNvPr>
              <p:cNvSpPr>
                <a:spLocks noChangeArrowheads="1"/>
              </p:cNvSpPr>
              <p:nvPr/>
            </p:nvSpPr>
            <p:spPr bwMode="auto">
              <a:xfrm>
                <a:off x="6197960" y="2750441"/>
                <a:ext cx="441146" cy="323165"/>
              </a:xfrm>
              <a:prstGeom prst="rect">
                <a:avLst/>
              </a:prstGeom>
              <a:noFill/>
              <a:ln w="9525">
                <a:solidFill>
                  <a:schemeClr val="tx1"/>
                </a:solidFill>
                <a:miter lim="800000"/>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500" b="0" i="0" u="none" strike="noStrike" kern="0" cap="none" spc="0" normalizeH="0" baseline="0" noProof="0" dirty="0">
                    <a:ln>
                      <a:noFill/>
                    </a:ln>
                    <a:effectLst/>
                    <a:uLnTx/>
                    <a:uFillTx/>
                    <a:latin typeface="Arial" charset="0"/>
                  </a:rPr>
                  <a:t>BP</a:t>
                </a:r>
              </a:p>
            </p:txBody>
          </p:sp>
          <p:sp>
            <p:nvSpPr>
              <p:cNvPr id="74" name="AutoShape 58">
                <a:extLst>
                  <a:ext uri="{FF2B5EF4-FFF2-40B4-BE49-F238E27FC236}">
                    <a16:creationId xmlns:a16="http://schemas.microsoft.com/office/drawing/2014/main" id="{C8A37D5E-4E84-41C3-8FB4-1956BC89B31E}"/>
                  </a:ext>
                </a:extLst>
              </p:cNvPr>
              <p:cNvSpPr>
                <a:spLocks noChangeArrowheads="1"/>
              </p:cNvSpPr>
              <p:nvPr/>
            </p:nvSpPr>
            <p:spPr bwMode="auto">
              <a:xfrm>
                <a:off x="5516833" y="2792961"/>
                <a:ext cx="182563" cy="182563"/>
              </a:xfrm>
              <a:prstGeom prst="diamond">
                <a:avLst/>
              </a:prstGeom>
              <a:noFill/>
              <a:ln w="9525">
                <a:no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cxnSp>
            <p:nvCxnSpPr>
              <p:cNvPr id="75" name="AutoShape 59">
                <a:extLst>
                  <a:ext uri="{FF2B5EF4-FFF2-40B4-BE49-F238E27FC236}">
                    <a16:creationId xmlns:a16="http://schemas.microsoft.com/office/drawing/2014/main" id="{5C508AB6-6C0C-114C-DBB8-99D466D9ACD8}"/>
                  </a:ext>
                </a:extLst>
              </p:cNvPr>
              <p:cNvCxnSpPr>
                <a:cxnSpLocks noChangeShapeType="1"/>
                <a:stCxn id="73" idx="1"/>
              </p:cNvCxnSpPr>
              <p:nvPr/>
            </p:nvCxnSpPr>
            <p:spPr bwMode="auto">
              <a:xfrm flipH="1">
                <a:off x="5699397" y="2912024"/>
                <a:ext cx="498563" cy="0"/>
              </a:xfrm>
              <a:prstGeom prst="straightConnector1">
                <a:avLst/>
              </a:prstGeom>
              <a:noFill/>
              <a:ln w="9525">
                <a:solidFill>
                  <a:schemeClr val="tx1"/>
                </a:solidFill>
                <a:round/>
                <a:headEnd/>
                <a:tailEnd type="triangle" w="med" len="med"/>
              </a:ln>
            </p:spPr>
          </p:cxnSp>
        </p:grpSp>
        <p:grpSp>
          <p:nvGrpSpPr>
            <p:cNvPr id="55" name="Group 54">
              <a:extLst>
                <a:ext uri="{FF2B5EF4-FFF2-40B4-BE49-F238E27FC236}">
                  <a16:creationId xmlns:a16="http://schemas.microsoft.com/office/drawing/2014/main" id="{AD62C922-E4FB-EB8E-E653-04A578AF0B5B}"/>
                </a:ext>
              </a:extLst>
            </p:cNvPr>
            <p:cNvGrpSpPr/>
            <p:nvPr/>
          </p:nvGrpSpPr>
          <p:grpSpPr>
            <a:xfrm>
              <a:off x="5537471" y="4571180"/>
              <a:ext cx="1122273" cy="323165"/>
              <a:chOff x="5537471" y="4566947"/>
              <a:chExt cx="1122273" cy="323165"/>
            </a:xfrm>
          </p:grpSpPr>
          <p:sp>
            <p:nvSpPr>
              <p:cNvPr id="70" name="Rectangle 62">
                <a:extLst>
                  <a:ext uri="{FF2B5EF4-FFF2-40B4-BE49-F238E27FC236}">
                    <a16:creationId xmlns:a16="http://schemas.microsoft.com/office/drawing/2014/main" id="{6AE7DD1B-750A-32E0-3A81-692D1A4D15BF}"/>
                  </a:ext>
                </a:extLst>
              </p:cNvPr>
              <p:cNvSpPr>
                <a:spLocks noChangeArrowheads="1"/>
              </p:cNvSpPr>
              <p:nvPr/>
            </p:nvSpPr>
            <p:spPr bwMode="auto">
              <a:xfrm>
                <a:off x="6218598" y="4566947"/>
                <a:ext cx="441146" cy="323165"/>
              </a:xfrm>
              <a:prstGeom prst="rect">
                <a:avLst/>
              </a:prstGeom>
              <a:noFill/>
              <a:ln w="9525">
                <a:solidFill>
                  <a:schemeClr val="tx1"/>
                </a:solidFill>
                <a:miter lim="800000"/>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500" b="0" i="0" u="none" strike="noStrike" kern="0" cap="none" spc="0" normalizeH="0" baseline="0" noProof="0" dirty="0">
                    <a:ln>
                      <a:noFill/>
                    </a:ln>
                    <a:effectLst/>
                    <a:uLnTx/>
                    <a:uFillTx/>
                    <a:latin typeface="Arial" charset="0"/>
                  </a:rPr>
                  <a:t>SP</a:t>
                </a:r>
              </a:p>
            </p:txBody>
          </p:sp>
          <p:sp>
            <p:nvSpPr>
              <p:cNvPr id="71" name="AutoShape 63">
                <a:extLst>
                  <a:ext uri="{FF2B5EF4-FFF2-40B4-BE49-F238E27FC236}">
                    <a16:creationId xmlns:a16="http://schemas.microsoft.com/office/drawing/2014/main" id="{55A3FB80-C6EC-600F-41E8-C2D40A3045B1}"/>
                  </a:ext>
                </a:extLst>
              </p:cNvPr>
              <p:cNvSpPr>
                <a:spLocks noChangeArrowheads="1"/>
              </p:cNvSpPr>
              <p:nvPr/>
            </p:nvSpPr>
            <p:spPr bwMode="auto">
              <a:xfrm>
                <a:off x="5537471" y="4637249"/>
                <a:ext cx="182562" cy="182562"/>
              </a:xfrm>
              <a:prstGeom prst="diamond">
                <a:avLst/>
              </a:prstGeom>
              <a:noFill/>
              <a:ln w="9525">
                <a:no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cxnSp>
            <p:nvCxnSpPr>
              <p:cNvPr id="72" name="AutoShape 64">
                <a:extLst>
                  <a:ext uri="{FF2B5EF4-FFF2-40B4-BE49-F238E27FC236}">
                    <a16:creationId xmlns:a16="http://schemas.microsoft.com/office/drawing/2014/main" id="{67C947CC-E257-646B-A829-344D0A5B765F}"/>
                  </a:ext>
                </a:extLst>
              </p:cNvPr>
              <p:cNvCxnSpPr>
                <a:cxnSpLocks noChangeShapeType="1"/>
                <a:stCxn id="70" idx="1"/>
                <a:endCxn id="71" idx="3"/>
              </p:cNvCxnSpPr>
              <p:nvPr/>
            </p:nvCxnSpPr>
            <p:spPr bwMode="auto">
              <a:xfrm flipH="1">
                <a:off x="5720033" y="4728530"/>
                <a:ext cx="498565" cy="0"/>
              </a:xfrm>
              <a:prstGeom prst="straightConnector1">
                <a:avLst/>
              </a:prstGeom>
              <a:noFill/>
              <a:ln w="9525">
                <a:solidFill>
                  <a:schemeClr val="tx1"/>
                </a:solidFill>
                <a:round/>
                <a:headEnd/>
                <a:tailEnd type="triangle" w="med" len="med"/>
              </a:ln>
            </p:spPr>
          </p:cxnSp>
        </p:grpSp>
        <p:sp>
          <p:nvSpPr>
            <p:cNvPr id="56" name="Text Box 39">
              <a:extLst>
                <a:ext uri="{FF2B5EF4-FFF2-40B4-BE49-F238E27FC236}">
                  <a16:creationId xmlns:a16="http://schemas.microsoft.com/office/drawing/2014/main" id="{713A9C1F-BBA4-FABB-411B-535A7960538B}"/>
                </a:ext>
              </a:extLst>
            </p:cNvPr>
            <p:cNvSpPr txBox="1">
              <a:spLocks noChangeArrowheads="1"/>
            </p:cNvSpPr>
            <p:nvPr/>
          </p:nvSpPr>
          <p:spPr bwMode="auto">
            <a:xfrm>
              <a:off x="4540270" y="2203223"/>
              <a:ext cx="914400" cy="549275"/>
            </a:xfrm>
            <a:prstGeom prst="rect">
              <a:avLst/>
            </a:prstGeom>
            <a:solidFill>
              <a:srgbClr val="FFFFFF"/>
            </a:solidFill>
            <a:ln w="9525">
              <a:noFill/>
              <a:miter lim="800000"/>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600" kern="0" dirty="0">
                  <a:latin typeface="Arial" charset="0"/>
                </a:rPr>
                <a:t>10</a:t>
              </a:r>
              <a:endParaRPr kumimoji="0" lang="en-US" sz="1600" b="0" i="0" u="none" strike="noStrike" kern="0" cap="none" spc="0" normalizeH="0" baseline="0" noProof="0" dirty="0">
                <a:ln>
                  <a:noFill/>
                </a:ln>
                <a:effectLst/>
                <a:uLnTx/>
                <a:uFillTx/>
                <a:latin typeface="Arial" charset="0"/>
              </a:endParaRPr>
            </a:p>
          </p:txBody>
        </p:sp>
        <p:sp>
          <p:nvSpPr>
            <p:cNvPr id="57" name="Text Box 39">
              <a:extLst>
                <a:ext uri="{FF2B5EF4-FFF2-40B4-BE49-F238E27FC236}">
                  <a16:creationId xmlns:a16="http://schemas.microsoft.com/office/drawing/2014/main" id="{70E819E0-7A2B-FD71-73E3-D4496259AA0D}"/>
                </a:ext>
              </a:extLst>
            </p:cNvPr>
            <p:cNvSpPr txBox="1">
              <a:spLocks noChangeArrowheads="1"/>
            </p:cNvSpPr>
            <p:nvPr/>
          </p:nvSpPr>
          <p:spPr bwMode="auto">
            <a:xfrm>
              <a:off x="4522981" y="2853263"/>
              <a:ext cx="948978" cy="585418"/>
            </a:xfrm>
            <a:prstGeom prst="rect">
              <a:avLst/>
            </a:prstGeom>
            <a:solidFill>
              <a:srgbClr val="FFFFFF"/>
            </a:solidFill>
            <a:ln w="9525">
              <a:no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dynamic</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link</a:t>
              </a:r>
            </a:p>
          </p:txBody>
        </p:sp>
        <p:sp>
          <p:nvSpPr>
            <p:cNvPr id="58" name="AutoShape 51">
              <a:extLst>
                <a:ext uri="{FF2B5EF4-FFF2-40B4-BE49-F238E27FC236}">
                  <a16:creationId xmlns:a16="http://schemas.microsoft.com/office/drawing/2014/main" id="{0E25B090-A57E-3507-B918-B758B834C75F}"/>
                </a:ext>
              </a:extLst>
            </p:cNvPr>
            <p:cNvSpPr>
              <a:spLocks/>
            </p:cNvSpPr>
            <p:nvPr/>
          </p:nvSpPr>
          <p:spPr bwMode="auto">
            <a:xfrm>
              <a:off x="6790601" y="4835586"/>
              <a:ext cx="92075" cy="822960"/>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59" name="Text Box 56">
              <a:extLst>
                <a:ext uri="{FF2B5EF4-FFF2-40B4-BE49-F238E27FC236}">
                  <a16:creationId xmlns:a16="http://schemas.microsoft.com/office/drawing/2014/main" id="{A6422B90-04B4-0E54-F1C0-53A9B5A450FE}"/>
                </a:ext>
              </a:extLst>
            </p:cNvPr>
            <p:cNvSpPr txBox="1">
              <a:spLocks noChangeArrowheads="1"/>
            </p:cNvSpPr>
            <p:nvPr/>
          </p:nvSpPr>
          <p:spPr bwMode="auto">
            <a:xfrm>
              <a:off x="6956696" y="5077468"/>
              <a:ext cx="1522853" cy="339196"/>
            </a:xfrm>
            <a:prstGeom prst="rect">
              <a:avLst/>
            </a:prstGeom>
            <a:noFill/>
            <a:ln w="9525">
              <a:noFill/>
              <a:miter lim="800000"/>
              <a:headEnd/>
              <a:tailEnd/>
            </a:ln>
          </p:spPr>
          <p:txBody>
            <a:bodyPr wrap="none" lIns="92075" tIns="46038" rIns="92075" bIns="46038">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temporary part</a:t>
              </a:r>
            </a:p>
          </p:txBody>
        </p:sp>
        <p:sp>
          <p:nvSpPr>
            <p:cNvPr id="60" name="TextBox 59">
              <a:extLst>
                <a:ext uri="{FF2B5EF4-FFF2-40B4-BE49-F238E27FC236}">
                  <a16:creationId xmlns:a16="http://schemas.microsoft.com/office/drawing/2014/main" id="{26D85FE3-4EDE-72DE-5C13-4371AB68A232}"/>
                </a:ext>
              </a:extLst>
            </p:cNvPr>
            <p:cNvSpPr txBox="1"/>
            <p:nvPr/>
          </p:nvSpPr>
          <p:spPr>
            <a:xfrm>
              <a:off x="4802545" y="5353035"/>
              <a:ext cx="389850" cy="338554"/>
            </a:xfrm>
            <a:prstGeom prst="rect">
              <a:avLst/>
            </a:prstGeom>
            <a:noFill/>
          </p:spPr>
          <p:txBody>
            <a:bodyPr wrap="non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a:t>
              </a:r>
            </a:p>
          </p:txBody>
        </p:sp>
        <p:sp>
          <p:nvSpPr>
            <p:cNvPr id="61" name="Text Box 53">
              <a:extLst>
                <a:ext uri="{FF2B5EF4-FFF2-40B4-BE49-F238E27FC236}">
                  <a16:creationId xmlns:a16="http://schemas.microsoft.com/office/drawing/2014/main" id="{E535F395-5861-F206-20A6-10DF780E040A}"/>
                </a:ext>
              </a:extLst>
            </p:cNvPr>
            <p:cNvSpPr txBox="1">
              <a:spLocks noChangeArrowheads="1"/>
            </p:cNvSpPr>
            <p:nvPr/>
          </p:nvSpPr>
          <p:spPr bwMode="auto">
            <a:xfrm>
              <a:off x="6956696" y="966344"/>
              <a:ext cx="1681551" cy="339196"/>
            </a:xfrm>
            <a:prstGeom prst="rect">
              <a:avLst/>
            </a:prstGeom>
            <a:noFill/>
            <a:ln w="9525">
              <a:noFill/>
              <a:miter lim="800000"/>
              <a:headEnd/>
              <a:tailEnd/>
            </a:ln>
          </p:spPr>
          <p:txBody>
            <a:bodyPr wrap="none" lIns="92075" tIns="46038" rIns="92075" bIns="46038">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return value part</a:t>
              </a:r>
            </a:p>
          </p:txBody>
        </p:sp>
        <p:sp>
          <p:nvSpPr>
            <p:cNvPr id="25600" name="TextBox 25599">
              <a:extLst>
                <a:ext uri="{FF2B5EF4-FFF2-40B4-BE49-F238E27FC236}">
                  <a16:creationId xmlns:a16="http://schemas.microsoft.com/office/drawing/2014/main" id="{B7E30446-92BB-6A19-A6FD-FD98DB9EEBA4}"/>
                </a:ext>
              </a:extLst>
            </p:cNvPr>
            <p:cNvSpPr txBox="1"/>
            <p:nvPr/>
          </p:nvSpPr>
          <p:spPr>
            <a:xfrm>
              <a:off x="4802545" y="469012"/>
              <a:ext cx="389850" cy="338554"/>
            </a:xfrm>
            <a:prstGeom prst="rect">
              <a:avLst/>
            </a:prstGeom>
            <a:noFill/>
          </p:spPr>
          <p:txBody>
            <a:bodyPr wrap="non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a:t>
              </a:r>
            </a:p>
          </p:txBody>
        </p:sp>
        <p:sp>
          <p:nvSpPr>
            <p:cNvPr id="25601" name="Line 25">
              <a:extLst>
                <a:ext uri="{FF2B5EF4-FFF2-40B4-BE49-F238E27FC236}">
                  <a16:creationId xmlns:a16="http://schemas.microsoft.com/office/drawing/2014/main" id="{663C0EAC-BC5E-FFFA-52D4-D4E698EFB9A2}"/>
                </a:ext>
              </a:extLst>
            </p:cNvPr>
            <p:cNvSpPr>
              <a:spLocks noChangeShapeType="1"/>
            </p:cNvSpPr>
            <p:nvPr/>
          </p:nvSpPr>
          <p:spPr bwMode="auto">
            <a:xfrm>
              <a:off x="4448989" y="1303513"/>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25662" name="Line 25">
              <a:extLst>
                <a:ext uri="{FF2B5EF4-FFF2-40B4-BE49-F238E27FC236}">
                  <a16:creationId xmlns:a16="http://schemas.microsoft.com/office/drawing/2014/main" id="{389BB2F4-EEFF-978D-C46E-2B1AE3CA1084}"/>
                </a:ext>
              </a:extLst>
            </p:cNvPr>
            <p:cNvSpPr>
              <a:spLocks noChangeShapeType="1"/>
            </p:cNvSpPr>
            <p:nvPr/>
          </p:nvSpPr>
          <p:spPr bwMode="auto">
            <a:xfrm>
              <a:off x="4448989" y="1136080"/>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25663" name="Line 25">
              <a:extLst>
                <a:ext uri="{FF2B5EF4-FFF2-40B4-BE49-F238E27FC236}">
                  <a16:creationId xmlns:a16="http://schemas.microsoft.com/office/drawing/2014/main" id="{086BFB89-3DF7-6070-7A6D-00398C488F33}"/>
                </a:ext>
              </a:extLst>
            </p:cNvPr>
            <p:cNvSpPr>
              <a:spLocks noChangeShapeType="1"/>
            </p:cNvSpPr>
            <p:nvPr/>
          </p:nvSpPr>
          <p:spPr bwMode="auto">
            <a:xfrm>
              <a:off x="4448989" y="968647"/>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64" name="Line 25">
              <a:extLst>
                <a:ext uri="{FF2B5EF4-FFF2-40B4-BE49-F238E27FC236}">
                  <a16:creationId xmlns:a16="http://schemas.microsoft.com/office/drawing/2014/main" id="{EDB18CF4-0F74-4383-3E08-3B44685D5434}"/>
                </a:ext>
              </a:extLst>
            </p:cNvPr>
            <p:cNvSpPr>
              <a:spLocks noChangeShapeType="1"/>
            </p:cNvSpPr>
            <p:nvPr/>
          </p:nvSpPr>
          <p:spPr bwMode="auto">
            <a:xfrm>
              <a:off x="4448989" y="801214"/>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67" name="Text Box 40">
              <a:extLst>
                <a:ext uri="{FF2B5EF4-FFF2-40B4-BE49-F238E27FC236}">
                  <a16:creationId xmlns:a16="http://schemas.microsoft.com/office/drawing/2014/main" id="{2377D9BA-4CB5-5EE3-B69A-93B8F4984143}"/>
                </a:ext>
              </a:extLst>
            </p:cNvPr>
            <p:cNvSpPr txBox="1">
              <a:spLocks noChangeArrowheads="1"/>
            </p:cNvSpPr>
            <p:nvPr/>
          </p:nvSpPr>
          <p:spPr bwMode="auto">
            <a:xfrm>
              <a:off x="4540270" y="836285"/>
              <a:ext cx="914400" cy="594360"/>
            </a:xfrm>
            <a:prstGeom prst="rect">
              <a:avLst/>
            </a:prstGeom>
            <a:solidFill>
              <a:srgbClr val="FFFFFF"/>
            </a:solidFill>
            <a:ln w="9525">
              <a:noFill/>
              <a:miter lim="800000"/>
              <a:headEnd/>
              <a:tailEnd/>
            </a:ln>
          </p:spPr>
          <p:txBody>
            <a:bodyPr wrap="none" lIns="92075" tIns="46038" rIns="92075" bIns="46038"/>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return</a:t>
              </a:r>
            </a:p>
            <a:p>
              <a:pPr marL="0" marR="0" lvl="0" indent="0" algn="ctr" defTabSz="914400" eaLnBrk="0" fontAlgn="base" latinLnBrk="0" hangingPunct="0">
                <a:lnSpc>
                  <a:spcPct val="100000"/>
                </a:lnSpc>
                <a:spcBef>
                  <a:spcPct val="0"/>
                </a:spcBef>
                <a:spcAft>
                  <a:spcPct val="0"/>
                </a:spcAft>
                <a:buClrTx/>
                <a:buSzTx/>
                <a:buFontTx/>
                <a:buNone/>
                <a:tabLst/>
                <a:defRPr/>
              </a:pPr>
              <a:r>
                <a:rPr lang="en-US" sz="1600" kern="0" dirty="0">
                  <a:latin typeface="Arial" charset="0"/>
                </a:rPr>
                <a:t>value</a:t>
              </a:r>
              <a:endParaRPr kumimoji="0" lang="en-US" sz="1600" b="0" i="0" u="none" strike="noStrike" kern="0" cap="none" spc="0" normalizeH="0" baseline="0" noProof="0" dirty="0">
                <a:ln>
                  <a:noFill/>
                </a:ln>
                <a:effectLst/>
                <a:uLnTx/>
                <a:uFillTx/>
                <a:latin typeface="Arial" charset="0"/>
              </a:endParaRPr>
            </a:p>
          </p:txBody>
        </p:sp>
        <p:sp>
          <p:nvSpPr>
            <p:cNvPr id="68" name="AutoShape 51">
              <a:extLst>
                <a:ext uri="{FF2B5EF4-FFF2-40B4-BE49-F238E27FC236}">
                  <a16:creationId xmlns:a16="http://schemas.microsoft.com/office/drawing/2014/main" id="{284554EB-9B89-3AE7-E868-AD699917097D}"/>
                </a:ext>
              </a:extLst>
            </p:cNvPr>
            <p:cNvSpPr>
              <a:spLocks/>
            </p:cNvSpPr>
            <p:nvPr/>
          </p:nvSpPr>
          <p:spPr bwMode="auto">
            <a:xfrm>
              <a:off x="6790601" y="839080"/>
              <a:ext cx="92075" cy="593725"/>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69" name="Text Box 42">
              <a:extLst>
                <a:ext uri="{FF2B5EF4-FFF2-40B4-BE49-F238E27FC236}">
                  <a16:creationId xmlns:a16="http://schemas.microsoft.com/office/drawing/2014/main" id="{B7B4F80F-9B0F-61FA-F38A-D9A321EED508}"/>
                </a:ext>
              </a:extLst>
            </p:cNvPr>
            <p:cNvSpPr txBox="1">
              <a:spLocks noChangeArrowheads="1"/>
            </p:cNvSpPr>
            <p:nvPr/>
          </p:nvSpPr>
          <p:spPr bwMode="auto">
            <a:xfrm>
              <a:off x="3906680" y="712962"/>
              <a:ext cx="482503" cy="339196"/>
            </a:xfrm>
            <a:prstGeom prst="rect">
              <a:avLst/>
            </a:prstGeom>
            <a:noFill/>
            <a:ln w="9525">
              <a:no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-12</a:t>
              </a:r>
            </a:p>
          </p:txBody>
        </p:sp>
      </p:grpSp>
    </p:spTree>
    <p:extLst>
      <p:ext uri="{BB962C8B-B14F-4D97-AF65-F5344CB8AC3E}">
        <p14:creationId xmlns:p14="http://schemas.microsoft.com/office/powerpoint/2010/main" val="22737855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2872F52-BC66-F7EF-5B88-FCBF613C8216}"/>
              </a:ext>
            </a:extLst>
          </p:cNvPr>
          <p:cNvSpPr>
            <a:spLocks noGrp="1"/>
          </p:cNvSpPr>
          <p:nvPr>
            <p:ph type="title"/>
          </p:nvPr>
        </p:nvSpPr>
        <p:spPr/>
        <p:txBody>
          <a:bodyPr/>
          <a:lstStyle/>
          <a:p>
            <a:r>
              <a:rPr lang="en-US" dirty="0"/>
              <a:t>Referencing Variables and Parameters</a:t>
            </a:r>
            <a:br>
              <a:rPr lang="en-US" dirty="0"/>
            </a:br>
            <a:r>
              <a:rPr lang="en-US" dirty="0"/>
              <a:t>for Function </a:t>
            </a:r>
            <a:r>
              <a:rPr lang="en-US" dirty="0">
                <a:latin typeface="Consolas" panose="020B0609020204030204" pitchFamily="49" charset="0"/>
              </a:rPr>
              <a:t>max()</a:t>
            </a:r>
            <a:endParaRPr lang="en-US" dirty="0"/>
          </a:p>
        </p:txBody>
      </p:sp>
      <p:sp>
        <p:nvSpPr>
          <p:cNvPr id="7" name="Content Placeholder 6">
            <a:extLst>
              <a:ext uri="{FF2B5EF4-FFF2-40B4-BE49-F238E27FC236}">
                <a16:creationId xmlns:a16="http://schemas.microsoft.com/office/drawing/2014/main" id="{8D3D7FE1-302C-0CE0-C491-32C9921A3D8C}"/>
              </a:ext>
            </a:extLst>
          </p:cNvPr>
          <p:cNvSpPr>
            <a:spLocks noGrp="1"/>
          </p:cNvSpPr>
          <p:nvPr>
            <p:ph sz="half" idx="1"/>
          </p:nvPr>
        </p:nvSpPr>
        <p:spPr>
          <a:xfrm>
            <a:off x="458788" y="1363663"/>
            <a:ext cx="2377440" cy="4935537"/>
          </a:xfrm>
        </p:spPr>
        <p:txBody>
          <a:bodyPr/>
          <a:lstStyle/>
          <a:p>
            <a:r>
              <a:rPr lang="en-US" sz="2300" dirty="0">
                <a:latin typeface="Consolas" panose="020B0609020204030204" pitchFamily="49" charset="0"/>
              </a:rPr>
              <a:t>LDLADDR -12</a:t>
            </a:r>
            <a:br>
              <a:rPr lang="en-US" sz="2300" dirty="0">
                <a:latin typeface="Consolas" panose="020B0609020204030204" pitchFamily="49" charset="0"/>
              </a:rPr>
            </a:br>
            <a:endParaRPr lang="en-US" sz="2300" dirty="0">
              <a:latin typeface="Consolas" panose="020B0609020204030204" pitchFamily="49" charset="0"/>
            </a:endParaRPr>
          </a:p>
          <a:p>
            <a:r>
              <a:rPr lang="en-US" sz="2300" dirty="0">
                <a:latin typeface="Consolas" panose="020B0609020204030204" pitchFamily="49" charset="0"/>
              </a:rPr>
              <a:t>LDLADDR -8</a:t>
            </a:r>
            <a:br>
              <a:rPr lang="en-US" sz="2300" dirty="0">
                <a:latin typeface="Consolas" panose="020B0609020204030204" pitchFamily="49" charset="0"/>
              </a:rPr>
            </a:br>
            <a:endParaRPr lang="en-US" sz="2300" dirty="0">
              <a:latin typeface="Consolas" panose="020B0609020204030204" pitchFamily="49" charset="0"/>
            </a:endParaRPr>
          </a:p>
          <a:p>
            <a:r>
              <a:rPr lang="en-US" sz="2300" dirty="0">
                <a:latin typeface="Consolas" panose="020B0609020204030204" pitchFamily="49" charset="0"/>
              </a:rPr>
              <a:t>LDLADDR -4</a:t>
            </a:r>
            <a:br>
              <a:rPr lang="en-US" sz="2300" dirty="0">
                <a:latin typeface="Consolas" panose="020B0609020204030204" pitchFamily="49" charset="0"/>
              </a:rPr>
            </a:br>
            <a:endParaRPr lang="en-US" sz="2300" dirty="0">
              <a:latin typeface="Consolas" panose="020B0609020204030204" pitchFamily="49" charset="0"/>
            </a:endParaRPr>
          </a:p>
          <a:p>
            <a:r>
              <a:rPr lang="en-US" sz="2300" dirty="0">
                <a:latin typeface="Consolas" panose="020B0609020204030204" pitchFamily="49" charset="0"/>
              </a:rPr>
              <a:t>LDLADDR 8</a:t>
            </a:r>
            <a:br>
              <a:rPr lang="en-US" sz="2300" dirty="0">
                <a:latin typeface="Consolas" panose="020B0609020204030204" pitchFamily="49" charset="0"/>
              </a:rPr>
            </a:br>
            <a:endParaRPr lang="en-US" sz="2300" dirty="0">
              <a:latin typeface="Consolas" panose="020B0609020204030204" pitchFamily="49" charset="0"/>
            </a:endParaRPr>
          </a:p>
        </p:txBody>
      </p:sp>
      <p:sp>
        <p:nvSpPr>
          <p:cNvPr id="8" name="Content Placeholder 7">
            <a:extLst>
              <a:ext uri="{FF2B5EF4-FFF2-40B4-BE49-F238E27FC236}">
                <a16:creationId xmlns:a16="http://schemas.microsoft.com/office/drawing/2014/main" id="{E618A234-0536-4BC0-16B8-2F5B63790405}"/>
              </a:ext>
            </a:extLst>
          </p:cNvPr>
          <p:cNvSpPr>
            <a:spLocks noGrp="1"/>
          </p:cNvSpPr>
          <p:nvPr>
            <p:ph sz="half" idx="2"/>
          </p:nvPr>
        </p:nvSpPr>
        <p:spPr>
          <a:xfrm>
            <a:off x="2819400" y="1363663"/>
            <a:ext cx="4937760" cy="4935537"/>
          </a:xfrm>
        </p:spPr>
        <p:txBody>
          <a:bodyPr/>
          <a:lstStyle/>
          <a:p>
            <a:pPr marL="0" indent="0">
              <a:spcBef>
                <a:spcPts val="1000"/>
              </a:spcBef>
              <a:buNone/>
            </a:pPr>
            <a:r>
              <a:rPr lang="en-US" dirty="0"/>
              <a:t>loads (pushes) the address of the return value onto the stack</a:t>
            </a:r>
          </a:p>
          <a:p>
            <a:pPr marL="0" indent="0">
              <a:spcBef>
                <a:spcPts val="1000"/>
              </a:spcBef>
              <a:buNone/>
            </a:pPr>
            <a:r>
              <a:rPr lang="en-US" dirty="0"/>
              <a:t>loads (pushes) the address of parameter </a:t>
            </a:r>
            <a:r>
              <a:rPr lang="en-US" sz="2300" dirty="0">
                <a:latin typeface="Consolas" pitchFamily="49" charset="0"/>
              </a:rPr>
              <a:t>x</a:t>
            </a:r>
            <a:r>
              <a:rPr lang="en-US" dirty="0"/>
              <a:t> onto the stack</a:t>
            </a:r>
          </a:p>
          <a:p>
            <a:pPr marL="0" indent="0">
              <a:spcBef>
                <a:spcPts val="1000"/>
              </a:spcBef>
              <a:buNone/>
            </a:pPr>
            <a:r>
              <a:rPr lang="en-US" dirty="0"/>
              <a:t>loads (pushes) the address of local parameter </a:t>
            </a:r>
            <a:r>
              <a:rPr lang="en-US" sz="2300" dirty="0">
                <a:latin typeface="Consolas" panose="020B0609020204030204" pitchFamily="49" charset="0"/>
              </a:rPr>
              <a:t>y</a:t>
            </a:r>
            <a:r>
              <a:rPr lang="en-US" dirty="0"/>
              <a:t> onto the stack</a:t>
            </a:r>
          </a:p>
          <a:p>
            <a:pPr marL="0" indent="0">
              <a:spcBef>
                <a:spcPts val="1000"/>
              </a:spcBef>
              <a:buNone/>
            </a:pPr>
            <a:r>
              <a:rPr lang="en-US" dirty="0"/>
              <a:t>loads (pushes) the address of local variable </a:t>
            </a:r>
            <a:r>
              <a:rPr lang="en-US" sz="2300" dirty="0">
                <a:latin typeface="Consolas" pitchFamily="49" charset="0"/>
              </a:rPr>
              <a:t>result</a:t>
            </a:r>
            <a:r>
              <a:rPr lang="en-US" dirty="0"/>
              <a:t> onto the stack</a:t>
            </a:r>
          </a:p>
          <a:p>
            <a:pPr marL="0" indent="0">
              <a:spcBef>
                <a:spcPts val="1000"/>
              </a:spcBef>
              <a:buNone/>
            </a:pPr>
            <a:endParaRPr lang="en-US" dirty="0"/>
          </a:p>
        </p:txBody>
      </p:sp>
      <p:sp>
        <p:nvSpPr>
          <p:cNvPr id="4" name="Footer Placeholder 3">
            <a:extLst>
              <a:ext uri="{FF2B5EF4-FFF2-40B4-BE49-F238E27FC236}">
                <a16:creationId xmlns:a16="http://schemas.microsoft.com/office/drawing/2014/main" id="{D7A7E5F1-A8CD-5401-7FFE-B9F77F5C5A25}"/>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FD583431-2B0E-6AA1-6D47-94BBC595BBBF}"/>
              </a:ext>
            </a:extLst>
          </p:cNvPr>
          <p:cNvSpPr>
            <a:spLocks noGrp="1"/>
          </p:cNvSpPr>
          <p:nvPr>
            <p:ph type="sldNum" sz="quarter" idx="11"/>
          </p:nvPr>
        </p:nvSpPr>
        <p:spPr/>
        <p:txBody>
          <a:bodyPr/>
          <a:lstStyle/>
          <a:p>
            <a:pPr>
              <a:defRPr/>
            </a:pPr>
            <a:r>
              <a:rPr lang="en-US"/>
              <a:t>Slide </a:t>
            </a:r>
            <a:fld id="{4E55CFDC-59FD-439A-9888-9166DC8A4008}" type="slidenum">
              <a:rPr lang="en-US" smtClean="0"/>
              <a:pPr>
                <a:defRPr/>
              </a:pPr>
              <a:t>58</a:t>
            </a:fld>
            <a:endParaRPr lang="en-US"/>
          </a:p>
        </p:txBody>
      </p:sp>
    </p:spTree>
    <p:extLst>
      <p:ext uri="{BB962C8B-B14F-4D97-AF65-F5344CB8AC3E}">
        <p14:creationId xmlns:p14="http://schemas.microsoft.com/office/powerpoint/2010/main" val="4676568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 (</a:t>
            </a:r>
            <a:r>
              <a:rPr lang="en-US" dirty="0">
                <a:latin typeface="Consolas" pitchFamily="49" charset="0"/>
                <a:cs typeface="Consolas" pitchFamily="49" charset="0"/>
              </a:rPr>
              <a:t>var</a:t>
            </a:r>
            <a:r>
              <a:rPr lang="en-US" dirty="0"/>
              <a:t>) Parameters</a:t>
            </a:r>
          </a:p>
        </p:txBody>
      </p:sp>
      <p:sp>
        <p:nvSpPr>
          <p:cNvPr id="3" name="Content Placeholder 2"/>
          <p:cNvSpPr>
            <a:spLocks noGrp="1"/>
          </p:cNvSpPr>
          <p:nvPr>
            <p:ph idx="1"/>
          </p:nvPr>
        </p:nvSpPr>
        <p:spPr/>
        <p:txBody>
          <a:bodyPr/>
          <a:lstStyle/>
          <a:p>
            <a:r>
              <a:rPr lang="en-US" dirty="0"/>
              <a:t>For variable (</a:t>
            </a:r>
            <a:r>
              <a:rPr lang="en-US" sz="2300" dirty="0">
                <a:latin typeface="Consolas" panose="020B0609020204030204" pitchFamily="49" charset="0"/>
              </a:rPr>
              <a:t>var</a:t>
            </a:r>
            <a:r>
              <a:rPr lang="en-US" dirty="0"/>
              <a:t>) parameters, the address of the actual parameter is passed; i.e., the value contained in the formal parameter is the address of the actual parameter.</a:t>
            </a:r>
          </a:p>
          <a:p>
            <a:r>
              <a:rPr lang="en-US" dirty="0"/>
              <a:t>We need to use two instructions to load (push) the address of actual parameter onto the stack.</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4E55CFDC-59FD-439A-9888-9166DC8A4008}" type="slidenum">
              <a:rPr lang="en-US" smtClean="0"/>
              <a:pPr>
                <a:defRPr/>
              </a:pPr>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3"/>
          <p:cNvSpPr>
            <a:spLocks noGrp="1"/>
          </p:cNvSpPr>
          <p:nvPr>
            <p:ph type="ftr" sz="quarter" idx="10"/>
          </p:nvPr>
        </p:nvSpPr>
        <p:spPr>
          <a:noFill/>
        </p:spPr>
        <p:txBody>
          <a:bodyPr/>
          <a:lstStyle/>
          <a:p>
            <a:r>
              <a:rPr lang="en-US"/>
              <a:t>©SoftMoore Consulting</a:t>
            </a:r>
          </a:p>
        </p:txBody>
      </p:sp>
      <p:sp>
        <p:nvSpPr>
          <p:cNvPr id="24579" name="Slide Number Placeholder 4"/>
          <p:cNvSpPr>
            <a:spLocks noGrp="1"/>
          </p:cNvSpPr>
          <p:nvPr>
            <p:ph type="sldNum" sz="quarter" idx="11"/>
          </p:nvPr>
        </p:nvSpPr>
        <p:spPr>
          <a:noFill/>
        </p:spPr>
        <p:txBody>
          <a:bodyPr/>
          <a:lstStyle/>
          <a:p>
            <a:r>
              <a:rPr lang="en-US"/>
              <a:t>Slide </a:t>
            </a:r>
            <a:fld id="{7A7BFCB5-5701-44DE-9B82-7D4D47D5F106}" type="slidenum">
              <a:rPr lang="en-US" smtClean="0"/>
              <a:pPr/>
              <a:t>60</a:t>
            </a:fld>
            <a:endParaRPr lang="en-US"/>
          </a:p>
        </p:txBody>
      </p:sp>
      <p:sp>
        <p:nvSpPr>
          <p:cNvPr id="24580" name="Rectangle 2"/>
          <p:cNvSpPr>
            <a:spLocks noGrp="1" noChangeArrowheads="1"/>
          </p:cNvSpPr>
          <p:nvPr>
            <p:ph type="title"/>
          </p:nvPr>
        </p:nvSpPr>
        <p:spPr/>
        <p:txBody>
          <a:bodyPr/>
          <a:lstStyle/>
          <a:p>
            <a:r>
              <a:rPr lang="en-US" dirty="0"/>
              <a:t>Example: Activation Record</a:t>
            </a:r>
          </a:p>
        </p:txBody>
      </p:sp>
      <p:sp>
        <p:nvSpPr>
          <p:cNvPr id="24581" name="Rectangle 3"/>
          <p:cNvSpPr>
            <a:spLocks noGrp="1" noChangeArrowheads="1"/>
          </p:cNvSpPr>
          <p:nvPr>
            <p:ph type="body" idx="1"/>
          </p:nvPr>
        </p:nvSpPr>
        <p:spPr/>
        <p:txBody>
          <a:bodyPr tIns="91440"/>
          <a:lstStyle/>
          <a:p>
            <a:pPr marL="274320" indent="0">
              <a:spcBef>
                <a:spcPts val="100"/>
              </a:spcBef>
              <a:buNone/>
            </a:pPr>
            <a:r>
              <a:rPr lang="en-US" sz="1800" dirty="0">
                <a:latin typeface="Consolas" pitchFamily="49" charset="0"/>
              </a:rPr>
              <a:t>var x : Integer;</a:t>
            </a:r>
          </a:p>
          <a:p>
            <a:pPr marL="274320" indent="0">
              <a:spcBef>
                <a:spcPts val="100"/>
              </a:spcBef>
              <a:buFontTx/>
              <a:buNone/>
            </a:pPr>
            <a:endParaRPr lang="en-US" sz="1800" dirty="0">
              <a:latin typeface="Consolas" pitchFamily="49" charset="0"/>
            </a:endParaRPr>
          </a:p>
          <a:p>
            <a:pPr marL="274320" indent="0">
              <a:spcBef>
                <a:spcPts val="100"/>
              </a:spcBef>
              <a:buFontTx/>
              <a:buNone/>
            </a:pPr>
            <a:r>
              <a:rPr lang="en-US" sz="1800" dirty="0">
                <a:latin typeface="Consolas" pitchFamily="49" charset="0"/>
              </a:rPr>
              <a:t>proc main()</a:t>
            </a:r>
          </a:p>
          <a:p>
            <a:pPr marL="274320" indent="0">
              <a:spcBef>
                <a:spcPts val="100"/>
              </a:spcBef>
              <a:buFontTx/>
              <a:buNone/>
            </a:pPr>
            <a:r>
              <a:rPr lang="en-US" sz="1800" dirty="0">
                <a:latin typeface="Consolas" pitchFamily="49" charset="0"/>
              </a:rPr>
              <a:t>  {</a:t>
            </a:r>
          </a:p>
          <a:p>
            <a:pPr marL="274320" indent="0">
              <a:spcBef>
                <a:spcPts val="100"/>
              </a:spcBef>
              <a:buFontTx/>
              <a:buNone/>
            </a:pPr>
            <a:r>
              <a:rPr lang="en-US" sz="1800" dirty="0">
                <a:latin typeface="Consolas" pitchFamily="49" charset="0"/>
              </a:rPr>
              <a:t>    x := 5;</a:t>
            </a:r>
          </a:p>
          <a:p>
            <a:pPr marL="274320" indent="0">
              <a:spcBef>
                <a:spcPts val="100"/>
              </a:spcBef>
              <a:buFontTx/>
              <a:buNone/>
            </a:pPr>
            <a:r>
              <a:rPr lang="en-US" sz="1800" dirty="0">
                <a:latin typeface="Consolas" pitchFamily="49" charset="0"/>
              </a:rPr>
              <a:t>    p(x, 6);</a:t>
            </a:r>
          </a:p>
          <a:p>
            <a:pPr marL="274320" indent="0">
              <a:spcBef>
                <a:spcPts val="100"/>
              </a:spcBef>
              <a:buFontTx/>
              <a:buNone/>
            </a:pPr>
            <a:r>
              <a:rPr lang="en-US" sz="1800" dirty="0">
                <a:latin typeface="Consolas" pitchFamily="49" charset="0"/>
              </a:rPr>
              <a:t>  }</a:t>
            </a:r>
          </a:p>
          <a:p>
            <a:pPr marL="274320" indent="0">
              <a:spcBef>
                <a:spcPts val="100"/>
              </a:spcBef>
              <a:buFontTx/>
              <a:buNone/>
            </a:pPr>
            <a:endParaRPr lang="en-US" sz="1800" dirty="0">
              <a:latin typeface="Consolas" pitchFamily="49" charset="0"/>
            </a:endParaRPr>
          </a:p>
          <a:p>
            <a:pPr marL="274320" indent="0">
              <a:spcBef>
                <a:spcPts val="100"/>
              </a:spcBef>
              <a:buFontTx/>
              <a:buNone/>
            </a:pPr>
            <a:r>
              <a:rPr lang="en-US" sz="1800" dirty="0">
                <a:latin typeface="Consolas" pitchFamily="49" charset="0"/>
              </a:rPr>
              <a:t>proc p(var a : Integer, b : Integer)</a:t>
            </a:r>
          </a:p>
          <a:p>
            <a:pPr marL="274320" indent="0">
              <a:spcBef>
                <a:spcPts val="100"/>
              </a:spcBef>
              <a:buFontTx/>
              <a:buNone/>
            </a:pPr>
            <a:r>
              <a:rPr lang="en-US" sz="1800" dirty="0">
                <a:latin typeface="Consolas" pitchFamily="49" charset="0"/>
              </a:rPr>
              <a:t>  {</a:t>
            </a:r>
          </a:p>
          <a:p>
            <a:pPr marL="274320" indent="0">
              <a:spcBef>
                <a:spcPts val="100"/>
              </a:spcBef>
              <a:buFontTx/>
              <a:buNone/>
            </a:pPr>
            <a:r>
              <a:rPr lang="en-US" sz="1800" dirty="0">
                <a:latin typeface="Consolas" pitchFamily="49" charset="0"/>
              </a:rPr>
              <a:t>    var n : Integer;</a:t>
            </a:r>
          </a:p>
          <a:p>
            <a:pPr marL="274320" indent="0">
              <a:spcBef>
                <a:spcPts val="100"/>
              </a:spcBef>
              <a:buFontTx/>
              <a:buNone/>
            </a:pPr>
            <a:r>
              <a:rPr lang="en-US" sz="1800" dirty="0">
                <a:latin typeface="Consolas" pitchFamily="49" charset="0"/>
              </a:rPr>
              <a:t>    ...</a:t>
            </a:r>
          </a:p>
          <a:p>
            <a:pPr marL="274320" indent="0">
              <a:spcBef>
                <a:spcPts val="100"/>
              </a:spcBef>
              <a:buFontTx/>
              <a:buNone/>
            </a:pPr>
            <a:r>
              <a:rPr lang="en-US" sz="1800" dirty="0">
                <a:latin typeface="Consolas" pitchFamily="49" charset="0"/>
              </a:rPr>
              <a:t>  }</a:t>
            </a:r>
          </a:p>
          <a:p>
            <a:pPr marL="274320" indent="0">
              <a:spcBef>
                <a:spcPts val="100"/>
              </a:spcBef>
              <a:buFontTx/>
              <a:buNone/>
            </a:pPr>
            <a:endParaRPr lang="en-US" sz="1800" dirty="0">
              <a:latin typeface="Consolas" pitchFamily="49" charset="0"/>
            </a:endParaRPr>
          </a:p>
        </p:txBody>
      </p:sp>
      <p:sp>
        <p:nvSpPr>
          <p:cNvPr id="2" name="TextBox 1">
            <a:extLst>
              <a:ext uri="{FF2B5EF4-FFF2-40B4-BE49-F238E27FC236}">
                <a16:creationId xmlns:a16="http://schemas.microsoft.com/office/drawing/2014/main" id="{E8A4E526-F682-40FF-A694-927405367C26}"/>
              </a:ext>
            </a:extLst>
          </p:cNvPr>
          <p:cNvSpPr txBox="1"/>
          <p:nvPr/>
        </p:nvSpPr>
        <p:spPr>
          <a:xfrm>
            <a:off x="763110" y="5486400"/>
            <a:ext cx="7617791" cy="430887"/>
          </a:xfrm>
          <a:prstGeom prst="rect">
            <a:avLst/>
          </a:prstGeom>
          <a:noFill/>
          <a:ln>
            <a:solidFill>
              <a:schemeClr val="tx1"/>
            </a:solidFill>
          </a:ln>
        </p:spPr>
        <p:txBody>
          <a:bodyPr wrap="none" rtlCol="0">
            <a:spAutoFit/>
          </a:bodyPr>
          <a:lstStyle/>
          <a:p>
            <a:r>
              <a:rPr lang="en-US" sz="2200" dirty="0"/>
              <a:t>The call </a:t>
            </a:r>
            <a:r>
              <a:rPr lang="en-US" sz="2200" dirty="0">
                <a:latin typeface="Consolas" panose="020B0609020204030204" pitchFamily="49" charset="0"/>
              </a:rPr>
              <a:t>p(x, 6)</a:t>
            </a:r>
            <a:r>
              <a:rPr lang="en-US" sz="2200" dirty="0"/>
              <a:t> passes the address of </a:t>
            </a:r>
            <a:r>
              <a:rPr lang="en-US" sz="2200" dirty="0">
                <a:latin typeface="Consolas" panose="020B0609020204030204" pitchFamily="49" charset="0"/>
              </a:rPr>
              <a:t>x</a:t>
            </a:r>
            <a:r>
              <a:rPr lang="en-US" sz="2200" dirty="0"/>
              <a:t> into parameter </a:t>
            </a:r>
            <a:r>
              <a:rPr lang="en-US" sz="2200" dirty="0">
                <a:latin typeface="Consolas" panose="020B0609020204030204" pitchFamily="49" charset="0"/>
              </a:rPr>
              <a:t>a</a:t>
            </a:r>
            <a:r>
              <a:rPr lang="en-US" sz="2200" dirty="0"/>
              <a:t>.</a:t>
            </a:r>
          </a:p>
        </p:txBody>
      </p:sp>
    </p:spTree>
    <p:extLst>
      <p:ext uri="{BB962C8B-B14F-4D97-AF65-F5344CB8AC3E}">
        <p14:creationId xmlns:p14="http://schemas.microsoft.com/office/powerpoint/2010/main" val="21002003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2"/>
          <p:cNvSpPr>
            <a:spLocks noGrp="1" noChangeArrowheads="1"/>
          </p:cNvSpPr>
          <p:nvPr>
            <p:ph type="title"/>
          </p:nvPr>
        </p:nvSpPr>
        <p:spPr/>
        <p:txBody>
          <a:bodyPr/>
          <a:lstStyle/>
          <a:p>
            <a:r>
              <a:rPr lang="en-US" dirty="0"/>
              <a:t>Activation Record for Procedure </a:t>
            </a:r>
            <a:r>
              <a:rPr lang="en-US" dirty="0">
                <a:latin typeface="Consolas" panose="020B0609020204030204" pitchFamily="49" charset="0"/>
              </a:rPr>
              <a:t>p()</a:t>
            </a:r>
            <a:br>
              <a:rPr lang="en-US" dirty="0"/>
            </a:br>
            <a:r>
              <a:rPr lang="en-US" sz="2400" dirty="0"/>
              <a:t>(after call </a:t>
            </a:r>
            <a:r>
              <a:rPr lang="en-US" sz="2400" dirty="0">
                <a:latin typeface="Consolas" panose="020B0609020204030204" pitchFamily="49" charset="0"/>
              </a:rPr>
              <a:t>p(x, 6)</a:t>
            </a:r>
            <a:r>
              <a:rPr lang="en-US" sz="2400" dirty="0"/>
              <a:t>)</a:t>
            </a:r>
          </a:p>
        </p:txBody>
      </p:sp>
      <p:sp>
        <p:nvSpPr>
          <p:cNvPr id="25602" name="Footer Placeholder 2"/>
          <p:cNvSpPr>
            <a:spLocks noGrp="1"/>
          </p:cNvSpPr>
          <p:nvPr>
            <p:ph type="ftr" sz="quarter" idx="10"/>
          </p:nvPr>
        </p:nvSpPr>
        <p:spPr/>
        <p:txBody>
          <a:bodyPr/>
          <a:lstStyle/>
          <a:p>
            <a:r>
              <a:rPr lang="en-US"/>
              <a:t>©SoftMoore Consulting</a:t>
            </a:r>
          </a:p>
        </p:txBody>
      </p:sp>
      <p:sp>
        <p:nvSpPr>
          <p:cNvPr id="25603" name="Slide Number Placeholder 3"/>
          <p:cNvSpPr>
            <a:spLocks noGrp="1"/>
          </p:cNvSpPr>
          <p:nvPr>
            <p:ph type="sldNum" sz="quarter" idx="11"/>
          </p:nvPr>
        </p:nvSpPr>
        <p:spPr/>
        <p:txBody>
          <a:bodyPr/>
          <a:lstStyle/>
          <a:p>
            <a:r>
              <a:rPr lang="en-US"/>
              <a:t>Slide </a:t>
            </a:r>
            <a:fld id="{7402C915-0DFC-47EF-80DE-4DAB7CB87AF4}" type="slidenum">
              <a:rPr lang="en-US" smtClean="0"/>
              <a:pPr/>
              <a:t>61</a:t>
            </a:fld>
            <a:endParaRPr lang="en-US"/>
          </a:p>
        </p:txBody>
      </p:sp>
      <p:grpSp>
        <p:nvGrpSpPr>
          <p:cNvPr id="4" name="Group 3">
            <a:extLst>
              <a:ext uri="{FF2B5EF4-FFF2-40B4-BE49-F238E27FC236}">
                <a16:creationId xmlns:a16="http://schemas.microsoft.com/office/drawing/2014/main" id="{B001BFD8-E10C-4500-9591-A1D5AD4B94A7}"/>
              </a:ext>
            </a:extLst>
          </p:cNvPr>
          <p:cNvGrpSpPr/>
          <p:nvPr/>
        </p:nvGrpSpPr>
        <p:grpSpPr>
          <a:xfrm>
            <a:off x="762000" y="1437658"/>
            <a:ext cx="7493526" cy="4582142"/>
            <a:chOff x="762000" y="1437658"/>
            <a:chExt cx="7493526" cy="4582142"/>
          </a:xfrm>
        </p:grpSpPr>
        <p:sp>
          <p:nvSpPr>
            <p:cNvPr id="65" name="TextBox 64"/>
            <p:cNvSpPr txBox="1"/>
            <p:nvPr/>
          </p:nvSpPr>
          <p:spPr>
            <a:xfrm>
              <a:off x="3628523" y="1437658"/>
              <a:ext cx="492444" cy="461665"/>
            </a:xfrm>
            <a:prstGeom prst="rect">
              <a:avLst/>
            </a:prstGeom>
            <a:noFill/>
          </p:spPr>
          <p:txBody>
            <a:bodyPr wrap="none" rtlCol="0">
              <a:spAutoFit/>
            </a:bodyPr>
            <a:lstStyle/>
            <a:p>
              <a:r>
                <a:rPr lang="en-US" dirty="0"/>
                <a:t>…</a:t>
              </a:r>
            </a:p>
          </p:txBody>
        </p:sp>
        <p:sp>
          <p:nvSpPr>
            <p:cNvPr id="25605" name="Rectangle 4"/>
            <p:cNvSpPr>
              <a:spLocks noChangeArrowheads="1"/>
            </p:cNvSpPr>
            <p:nvPr/>
          </p:nvSpPr>
          <p:spPr bwMode="auto">
            <a:xfrm>
              <a:off x="3337993" y="1675533"/>
              <a:ext cx="1096962" cy="4295775"/>
            </a:xfrm>
            <a:prstGeom prst="rect">
              <a:avLst/>
            </a:prstGeom>
            <a:noFill/>
            <a:ln w="9525">
              <a:solidFill>
                <a:schemeClr val="tx1"/>
              </a:solidFill>
              <a:miter lim="800000"/>
              <a:headEnd/>
              <a:tailEnd/>
            </a:ln>
          </p:spPr>
          <p:txBody>
            <a:bodyPr wrap="none" lIns="92075" tIns="46038" rIns="92075" bIns="46038" anchor="ctr"/>
            <a:lstStyle/>
            <a:p>
              <a:endParaRPr lang="en-US" sz="1700" dirty="0"/>
            </a:p>
          </p:txBody>
        </p:sp>
        <p:sp>
          <p:nvSpPr>
            <p:cNvPr id="25606" name="Line 5"/>
            <p:cNvSpPr>
              <a:spLocks noChangeShapeType="1"/>
            </p:cNvSpPr>
            <p:nvPr/>
          </p:nvSpPr>
          <p:spPr bwMode="auto">
            <a:xfrm>
              <a:off x="3337993" y="2015258"/>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07" name="Line 6"/>
            <p:cNvSpPr>
              <a:spLocks noChangeShapeType="1"/>
            </p:cNvSpPr>
            <p:nvPr/>
          </p:nvSpPr>
          <p:spPr bwMode="auto">
            <a:xfrm>
              <a:off x="3337993" y="2178771"/>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08" name="Line 7"/>
            <p:cNvSpPr>
              <a:spLocks noChangeShapeType="1"/>
            </p:cNvSpPr>
            <p:nvPr/>
          </p:nvSpPr>
          <p:spPr bwMode="auto">
            <a:xfrm>
              <a:off x="3337993" y="1851746"/>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09" name="Line 8"/>
            <p:cNvSpPr>
              <a:spLocks noChangeShapeType="1"/>
            </p:cNvSpPr>
            <p:nvPr/>
          </p:nvSpPr>
          <p:spPr bwMode="auto">
            <a:xfrm>
              <a:off x="3337993" y="2343871"/>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10" name="Line 9"/>
            <p:cNvSpPr>
              <a:spLocks noChangeShapeType="1"/>
            </p:cNvSpPr>
            <p:nvPr/>
          </p:nvSpPr>
          <p:spPr bwMode="auto">
            <a:xfrm>
              <a:off x="3337993" y="2507383"/>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11" name="Line 10"/>
            <p:cNvSpPr>
              <a:spLocks noChangeShapeType="1"/>
            </p:cNvSpPr>
            <p:nvPr/>
          </p:nvSpPr>
          <p:spPr bwMode="auto">
            <a:xfrm>
              <a:off x="3337993" y="2672483"/>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12" name="Line 11"/>
            <p:cNvSpPr>
              <a:spLocks noChangeShapeType="1"/>
            </p:cNvSpPr>
            <p:nvPr/>
          </p:nvSpPr>
          <p:spPr bwMode="auto">
            <a:xfrm>
              <a:off x="3337993" y="2835996"/>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13" name="Line 12"/>
            <p:cNvSpPr>
              <a:spLocks noChangeShapeType="1"/>
            </p:cNvSpPr>
            <p:nvPr/>
          </p:nvSpPr>
          <p:spPr bwMode="auto">
            <a:xfrm>
              <a:off x="3337993" y="3001096"/>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14" name="Line 13"/>
            <p:cNvSpPr>
              <a:spLocks noChangeShapeType="1"/>
            </p:cNvSpPr>
            <p:nvPr/>
          </p:nvSpPr>
          <p:spPr bwMode="auto">
            <a:xfrm>
              <a:off x="3337993" y="3164608"/>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15" name="Line 14"/>
            <p:cNvSpPr>
              <a:spLocks noChangeShapeType="1"/>
            </p:cNvSpPr>
            <p:nvPr/>
          </p:nvSpPr>
          <p:spPr bwMode="auto">
            <a:xfrm>
              <a:off x="3337993" y="3329708"/>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16" name="Line 15"/>
            <p:cNvSpPr>
              <a:spLocks noChangeShapeType="1"/>
            </p:cNvSpPr>
            <p:nvPr/>
          </p:nvSpPr>
          <p:spPr bwMode="auto">
            <a:xfrm>
              <a:off x="3337993" y="3493221"/>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17" name="Line 16"/>
            <p:cNvSpPr>
              <a:spLocks noChangeShapeType="1"/>
            </p:cNvSpPr>
            <p:nvPr/>
          </p:nvSpPr>
          <p:spPr bwMode="auto">
            <a:xfrm>
              <a:off x="3337993" y="3658321"/>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18" name="Line 17"/>
            <p:cNvSpPr>
              <a:spLocks noChangeShapeType="1"/>
            </p:cNvSpPr>
            <p:nvPr/>
          </p:nvSpPr>
          <p:spPr bwMode="auto">
            <a:xfrm>
              <a:off x="3337993" y="3821833"/>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19" name="Line 18"/>
            <p:cNvSpPr>
              <a:spLocks noChangeShapeType="1"/>
            </p:cNvSpPr>
            <p:nvPr/>
          </p:nvSpPr>
          <p:spPr bwMode="auto">
            <a:xfrm>
              <a:off x="3337993" y="3985346"/>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20" name="Line 19"/>
            <p:cNvSpPr>
              <a:spLocks noChangeShapeType="1"/>
            </p:cNvSpPr>
            <p:nvPr/>
          </p:nvSpPr>
          <p:spPr bwMode="auto">
            <a:xfrm>
              <a:off x="3337993" y="4150446"/>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21" name="Line 20"/>
            <p:cNvSpPr>
              <a:spLocks noChangeShapeType="1"/>
            </p:cNvSpPr>
            <p:nvPr/>
          </p:nvSpPr>
          <p:spPr bwMode="auto">
            <a:xfrm>
              <a:off x="3337993" y="4313958"/>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22" name="Line 21"/>
            <p:cNvSpPr>
              <a:spLocks noChangeShapeType="1"/>
            </p:cNvSpPr>
            <p:nvPr/>
          </p:nvSpPr>
          <p:spPr bwMode="auto">
            <a:xfrm>
              <a:off x="3337993" y="4479058"/>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23" name="Line 22"/>
            <p:cNvSpPr>
              <a:spLocks noChangeShapeType="1"/>
            </p:cNvSpPr>
            <p:nvPr/>
          </p:nvSpPr>
          <p:spPr bwMode="auto">
            <a:xfrm>
              <a:off x="3337993" y="4642571"/>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24" name="Line 23"/>
            <p:cNvSpPr>
              <a:spLocks noChangeShapeType="1"/>
            </p:cNvSpPr>
            <p:nvPr/>
          </p:nvSpPr>
          <p:spPr bwMode="auto">
            <a:xfrm>
              <a:off x="3337993" y="4807671"/>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25" name="Line 24"/>
            <p:cNvSpPr>
              <a:spLocks noChangeShapeType="1"/>
            </p:cNvSpPr>
            <p:nvPr/>
          </p:nvSpPr>
          <p:spPr bwMode="auto">
            <a:xfrm>
              <a:off x="3337993" y="4971183"/>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26" name="Line 25"/>
            <p:cNvSpPr>
              <a:spLocks noChangeShapeType="1"/>
            </p:cNvSpPr>
            <p:nvPr/>
          </p:nvSpPr>
          <p:spPr bwMode="auto">
            <a:xfrm>
              <a:off x="3337993" y="5136283"/>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27" name="Line 26"/>
            <p:cNvSpPr>
              <a:spLocks noChangeShapeType="1"/>
            </p:cNvSpPr>
            <p:nvPr/>
          </p:nvSpPr>
          <p:spPr bwMode="auto">
            <a:xfrm>
              <a:off x="3337993" y="5299796"/>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28" name="Line 27"/>
            <p:cNvSpPr>
              <a:spLocks noChangeShapeType="1"/>
            </p:cNvSpPr>
            <p:nvPr/>
          </p:nvSpPr>
          <p:spPr bwMode="auto">
            <a:xfrm>
              <a:off x="3337993" y="5464896"/>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29" name="Line 28"/>
            <p:cNvSpPr>
              <a:spLocks noChangeShapeType="1"/>
            </p:cNvSpPr>
            <p:nvPr/>
          </p:nvSpPr>
          <p:spPr bwMode="auto">
            <a:xfrm>
              <a:off x="3337993" y="5628408"/>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30" name="Line 29"/>
            <p:cNvSpPr>
              <a:spLocks noChangeShapeType="1"/>
            </p:cNvSpPr>
            <p:nvPr/>
          </p:nvSpPr>
          <p:spPr bwMode="auto">
            <a:xfrm>
              <a:off x="3337993" y="5793508"/>
              <a:ext cx="1096962" cy="0"/>
            </a:xfrm>
            <a:prstGeom prst="line">
              <a:avLst/>
            </a:prstGeom>
            <a:noFill/>
            <a:ln w="9525">
              <a:solidFill>
                <a:schemeClr val="tx1"/>
              </a:solidFill>
              <a:round/>
              <a:headEnd/>
              <a:tailEnd/>
            </a:ln>
          </p:spPr>
          <p:txBody>
            <a:bodyPr wrap="none" lIns="92075" tIns="46038" rIns="92075" bIns="46038" anchor="ctr"/>
            <a:lstStyle/>
            <a:p>
              <a:endParaRPr lang="en-US" sz="1700"/>
            </a:p>
          </p:txBody>
        </p:sp>
        <p:sp>
          <p:nvSpPr>
            <p:cNvPr id="25631" name="AutoShape 30"/>
            <p:cNvSpPr>
              <a:spLocks/>
            </p:cNvSpPr>
            <p:nvPr/>
          </p:nvSpPr>
          <p:spPr bwMode="auto">
            <a:xfrm>
              <a:off x="4530205" y="1875558"/>
              <a:ext cx="92075" cy="593725"/>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endParaRPr lang="en-US"/>
            </a:p>
          </p:txBody>
        </p:sp>
        <p:sp>
          <p:nvSpPr>
            <p:cNvPr id="25632" name="AutoShape 31"/>
            <p:cNvSpPr>
              <a:spLocks/>
            </p:cNvSpPr>
            <p:nvPr/>
          </p:nvSpPr>
          <p:spPr bwMode="auto">
            <a:xfrm>
              <a:off x="4530205" y="2532783"/>
              <a:ext cx="92075" cy="593725"/>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endParaRPr lang="en-US"/>
            </a:p>
          </p:txBody>
        </p:sp>
        <p:sp>
          <p:nvSpPr>
            <p:cNvPr id="25633" name="AutoShape 32"/>
            <p:cNvSpPr>
              <a:spLocks/>
            </p:cNvSpPr>
            <p:nvPr/>
          </p:nvSpPr>
          <p:spPr bwMode="auto">
            <a:xfrm>
              <a:off x="4530205" y="3190008"/>
              <a:ext cx="92075" cy="593725"/>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endParaRPr lang="en-US"/>
            </a:p>
          </p:txBody>
        </p:sp>
        <p:sp>
          <p:nvSpPr>
            <p:cNvPr id="25634" name="AutoShape 33"/>
            <p:cNvSpPr>
              <a:spLocks/>
            </p:cNvSpPr>
            <p:nvPr/>
          </p:nvSpPr>
          <p:spPr bwMode="auto">
            <a:xfrm>
              <a:off x="4528618" y="3848821"/>
              <a:ext cx="92075" cy="593725"/>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endParaRPr lang="en-US"/>
            </a:p>
          </p:txBody>
        </p:sp>
        <p:sp>
          <p:nvSpPr>
            <p:cNvPr id="25635" name="AutoShape 34"/>
            <p:cNvSpPr>
              <a:spLocks/>
            </p:cNvSpPr>
            <p:nvPr/>
          </p:nvSpPr>
          <p:spPr bwMode="auto">
            <a:xfrm>
              <a:off x="4528618" y="4501283"/>
              <a:ext cx="92075" cy="593725"/>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endParaRPr lang="en-US"/>
            </a:p>
          </p:txBody>
        </p:sp>
        <p:sp>
          <p:nvSpPr>
            <p:cNvPr id="25636" name="Text Box 36"/>
            <p:cNvSpPr txBox="1">
              <a:spLocks noChangeArrowheads="1"/>
            </p:cNvSpPr>
            <p:nvPr/>
          </p:nvSpPr>
          <p:spPr bwMode="auto">
            <a:xfrm>
              <a:off x="4669905" y="1988271"/>
              <a:ext cx="311150" cy="366712"/>
            </a:xfrm>
            <a:prstGeom prst="rect">
              <a:avLst/>
            </a:prstGeom>
            <a:noFill/>
            <a:ln w="9525">
              <a:noFill/>
              <a:miter lim="800000"/>
              <a:headEnd/>
              <a:tailEnd/>
            </a:ln>
          </p:spPr>
          <p:txBody>
            <a:bodyPr wrap="none" lIns="92075" tIns="46038" rIns="92075" bIns="46038">
              <a:spAutoFit/>
            </a:bodyPr>
            <a:lstStyle/>
            <a:p>
              <a:r>
                <a:rPr lang="en-US" sz="1800" dirty="0"/>
                <a:t>a</a:t>
              </a:r>
            </a:p>
          </p:txBody>
        </p:sp>
        <p:sp>
          <p:nvSpPr>
            <p:cNvPr id="25637" name="Text Box 37"/>
            <p:cNvSpPr txBox="1">
              <a:spLocks noChangeArrowheads="1"/>
            </p:cNvSpPr>
            <p:nvPr/>
          </p:nvSpPr>
          <p:spPr bwMode="auto">
            <a:xfrm>
              <a:off x="4669905" y="2643908"/>
              <a:ext cx="311150" cy="366713"/>
            </a:xfrm>
            <a:prstGeom prst="rect">
              <a:avLst/>
            </a:prstGeom>
            <a:noFill/>
            <a:ln w="9525">
              <a:noFill/>
              <a:miter lim="800000"/>
              <a:headEnd/>
              <a:tailEnd/>
            </a:ln>
          </p:spPr>
          <p:txBody>
            <a:bodyPr wrap="none" lIns="92075" tIns="46038" rIns="92075" bIns="46038">
              <a:spAutoFit/>
            </a:bodyPr>
            <a:lstStyle/>
            <a:p>
              <a:r>
                <a:rPr lang="en-US" sz="1800" dirty="0"/>
                <a:t>b</a:t>
              </a:r>
            </a:p>
          </p:txBody>
        </p:sp>
        <p:sp>
          <p:nvSpPr>
            <p:cNvPr id="25638" name="Text Box 39"/>
            <p:cNvSpPr txBox="1">
              <a:spLocks noChangeArrowheads="1"/>
            </p:cNvSpPr>
            <p:nvPr/>
          </p:nvSpPr>
          <p:spPr bwMode="auto">
            <a:xfrm>
              <a:off x="3430068" y="1900958"/>
              <a:ext cx="914400" cy="549275"/>
            </a:xfrm>
            <a:prstGeom prst="rect">
              <a:avLst/>
            </a:prstGeom>
            <a:solidFill>
              <a:schemeClr val="bg1"/>
            </a:solidFill>
            <a:ln w="9525">
              <a:noFill/>
              <a:miter lim="800000"/>
              <a:headEnd/>
              <a:tailEnd/>
            </a:ln>
          </p:spPr>
          <p:txBody>
            <a:bodyPr wrap="none" lIns="92075" tIns="46038" rIns="92075" bIns="46038" anchor="ctr"/>
            <a:lstStyle/>
            <a:p>
              <a:r>
                <a:rPr lang="en-US" sz="1700" dirty="0"/>
                <a:t>325</a:t>
              </a:r>
            </a:p>
          </p:txBody>
        </p:sp>
        <p:sp>
          <p:nvSpPr>
            <p:cNvPr id="25639" name="Text Box 40"/>
            <p:cNvSpPr txBox="1">
              <a:spLocks noChangeArrowheads="1"/>
            </p:cNvSpPr>
            <p:nvPr/>
          </p:nvSpPr>
          <p:spPr bwMode="auto">
            <a:xfrm>
              <a:off x="3430068" y="3858245"/>
              <a:ext cx="914400" cy="594360"/>
            </a:xfrm>
            <a:prstGeom prst="rect">
              <a:avLst/>
            </a:prstGeom>
            <a:solidFill>
              <a:schemeClr val="bg1"/>
            </a:solidFill>
            <a:ln w="9525">
              <a:noFill/>
              <a:miter lim="800000"/>
              <a:headEnd/>
              <a:tailEnd/>
            </a:ln>
          </p:spPr>
          <p:txBody>
            <a:bodyPr wrap="none" lIns="92075" tIns="46038" rIns="92075" bIns="46038"/>
            <a:lstStyle/>
            <a:p>
              <a:r>
                <a:rPr lang="en-US" sz="1700" dirty="0"/>
                <a:t>return</a:t>
              </a:r>
            </a:p>
            <a:p>
              <a:r>
                <a:rPr lang="en-US" sz="1700" dirty="0"/>
                <a:t>address</a:t>
              </a:r>
            </a:p>
          </p:txBody>
        </p:sp>
        <p:sp>
          <p:nvSpPr>
            <p:cNvPr id="25640" name="Text Box 41"/>
            <p:cNvSpPr txBox="1">
              <a:spLocks noChangeArrowheads="1"/>
            </p:cNvSpPr>
            <p:nvPr/>
          </p:nvSpPr>
          <p:spPr bwMode="auto">
            <a:xfrm>
              <a:off x="4669905" y="4613996"/>
              <a:ext cx="311150" cy="368300"/>
            </a:xfrm>
            <a:prstGeom prst="rect">
              <a:avLst/>
            </a:prstGeom>
            <a:noFill/>
            <a:ln w="9525">
              <a:noFill/>
              <a:miter lim="800000"/>
              <a:headEnd/>
              <a:tailEnd/>
            </a:ln>
          </p:spPr>
          <p:txBody>
            <a:bodyPr wrap="none" lIns="92075" tIns="46038" rIns="92075" bIns="46038">
              <a:spAutoFit/>
            </a:bodyPr>
            <a:lstStyle/>
            <a:p>
              <a:r>
                <a:rPr lang="en-US" sz="1800" dirty="0"/>
                <a:t>n</a:t>
              </a:r>
            </a:p>
          </p:txBody>
        </p:sp>
        <p:sp>
          <p:nvSpPr>
            <p:cNvPr id="25641" name="Text Box 42"/>
            <p:cNvSpPr txBox="1">
              <a:spLocks noChangeArrowheads="1"/>
            </p:cNvSpPr>
            <p:nvPr/>
          </p:nvSpPr>
          <p:spPr bwMode="auto">
            <a:xfrm>
              <a:off x="2880793" y="1759671"/>
              <a:ext cx="387350" cy="366712"/>
            </a:xfrm>
            <a:prstGeom prst="rect">
              <a:avLst/>
            </a:prstGeom>
            <a:noFill/>
            <a:ln w="9525">
              <a:noFill/>
              <a:miter lim="800000"/>
              <a:headEnd/>
              <a:tailEnd/>
            </a:ln>
          </p:spPr>
          <p:txBody>
            <a:bodyPr wrap="none" lIns="92075" tIns="46038" rIns="92075" bIns="46038">
              <a:spAutoFit/>
            </a:bodyPr>
            <a:lstStyle/>
            <a:p>
              <a:r>
                <a:rPr lang="en-US" sz="1800" dirty="0"/>
                <a:t>-8</a:t>
              </a:r>
            </a:p>
          </p:txBody>
        </p:sp>
        <p:sp>
          <p:nvSpPr>
            <p:cNvPr id="25642" name="Text Box 43"/>
            <p:cNvSpPr txBox="1">
              <a:spLocks noChangeArrowheads="1"/>
            </p:cNvSpPr>
            <p:nvPr/>
          </p:nvSpPr>
          <p:spPr bwMode="auto">
            <a:xfrm>
              <a:off x="2880793" y="2405783"/>
              <a:ext cx="387350" cy="366713"/>
            </a:xfrm>
            <a:prstGeom prst="rect">
              <a:avLst/>
            </a:prstGeom>
            <a:noFill/>
            <a:ln w="9525">
              <a:noFill/>
              <a:miter lim="800000"/>
              <a:headEnd/>
              <a:tailEnd/>
            </a:ln>
          </p:spPr>
          <p:txBody>
            <a:bodyPr wrap="none" lIns="92075" tIns="46038" rIns="92075" bIns="46038">
              <a:spAutoFit/>
            </a:bodyPr>
            <a:lstStyle/>
            <a:p>
              <a:r>
                <a:rPr lang="en-US" sz="1800"/>
                <a:t>-4</a:t>
              </a:r>
            </a:p>
          </p:txBody>
        </p:sp>
        <p:sp>
          <p:nvSpPr>
            <p:cNvPr id="25643" name="Text Box 44"/>
            <p:cNvSpPr txBox="1">
              <a:spLocks noChangeArrowheads="1"/>
            </p:cNvSpPr>
            <p:nvPr/>
          </p:nvSpPr>
          <p:spPr bwMode="auto">
            <a:xfrm>
              <a:off x="2956993" y="3061421"/>
              <a:ext cx="311150" cy="366712"/>
            </a:xfrm>
            <a:prstGeom prst="rect">
              <a:avLst/>
            </a:prstGeom>
            <a:noFill/>
            <a:ln w="9525">
              <a:noFill/>
              <a:miter lim="800000"/>
              <a:headEnd/>
              <a:tailEnd/>
            </a:ln>
          </p:spPr>
          <p:txBody>
            <a:bodyPr wrap="none" lIns="92075" tIns="46038" rIns="92075" bIns="46038">
              <a:spAutoFit/>
            </a:bodyPr>
            <a:lstStyle/>
            <a:p>
              <a:r>
                <a:rPr lang="en-US" sz="1800" dirty="0"/>
                <a:t>0</a:t>
              </a:r>
            </a:p>
          </p:txBody>
        </p:sp>
        <p:sp>
          <p:nvSpPr>
            <p:cNvPr id="25644" name="Text Box 45"/>
            <p:cNvSpPr txBox="1">
              <a:spLocks noChangeArrowheads="1"/>
            </p:cNvSpPr>
            <p:nvPr/>
          </p:nvSpPr>
          <p:spPr bwMode="auto">
            <a:xfrm>
              <a:off x="2956993" y="3715471"/>
              <a:ext cx="311150" cy="366712"/>
            </a:xfrm>
            <a:prstGeom prst="rect">
              <a:avLst/>
            </a:prstGeom>
            <a:noFill/>
            <a:ln w="9525">
              <a:noFill/>
              <a:miter lim="800000"/>
              <a:headEnd/>
              <a:tailEnd/>
            </a:ln>
          </p:spPr>
          <p:txBody>
            <a:bodyPr wrap="none" lIns="92075" tIns="46038" rIns="92075" bIns="46038">
              <a:spAutoFit/>
            </a:bodyPr>
            <a:lstStyle/>
            <a:p>
              <a:r>
                <a:rPr lang="en-US" sz="1800"/>
                <a:t>4</a:t>
              </a:r>
            </a:p>
          </p:txBody>
        </p:sp>
        <p:sp>
          <p:nvSpPr>
            <p:cNvPr id="25645" name="Text Box 46"/>
            <p:cNvSpPr txBox="1">
              <a:spLocks noChangeArrowheads="1"/>
            </p:cNvSpPr>
            <p:nvPr/>
          </p:nvSpPr>
          <p:spPr bwMode="auto">
            <a:xfrm>
              <a:off x="2956993" y="4380633"/>
              <a:ext cx="311150" cy="366713"/>
            </a:xfrm>
            <a:prstGeom prst="rect">
              <a:avLst/>
            </a:prstGeom>
            <a:noFill/>
            <a:ln w="9525">
              <a:noFill/>
              <a:miter lim="800000"/>
              <a:headEnd/>
              <a:tailEnd/>
            </a:ln>
          </p:spPr>
          <p:txBody>
            <a:bodyPr wrap="none" lIns="92075" tIns="46038" rIns="92075" bIns="46038">
              <a:spAutoFit/>
            </a:bodyPr>
            <a:lstStyle/>
            <a:p>
              <a:r>
                <a:rPr lang="en-US" sz="1800"/>
                <a:t>8</a:t>
              </a:r>
            </a:p>
          </p:txBody>
        </p:sp>
        <p:sp>
          <p:nvSpPr>
            <p:cNvPr id="25646" name="Text Box 47"/>
            <p:cNvSpPr txBox="1">
              <a:spLocks noChangeArrowheads="1"/>
            </p:cNvSpPr>
            <p:nvPr/>
          </p:nvSpPr>
          <p:spPr bwMode="auto">
            <a:xfrm>
              <a:off x="2829993" y="5026746"/>
              <a:ext cx="438150" cy="366712"/>
            </a:xfrm>
            <a:prstGeom prst="rect">
              <a:avLst/>
            </a:prstGeom>
            <a:noFill/>
            <a:ln w="9525">
              <a:noFill/>
              <a:miter lim="800000"/>
              <a:headEnd/>
              <a:tailEnd/>
            </a:ln>
          </p:spPr>
          <p:txBody>
            <a:bodyPr wrap="none" lIns="92075" tIns="46038" rIns="92075" bIns="46038">
              <a:spAutoFit/>
            </a:bodyPr>
            <a:lstStyle/>
            <a:p>
              <a:r>
                <a:rPr lang="en-US" sz="1800"/>
                <a:t>12</a:t>
              </a:r>
            </a:p>
          </p:txBody>
        </p:sp>
        <p:sp>
          <p:nvSpPr>
            <p:cNvPr id="25647" name="Text Box 48"/>
            <p:cNvSpPr txBox="1">
              <a:spLocks noChangeArrowheads="1"/>
            </p:cNvSpPr>
            <p:nvPr/>
          </p:nvSpPr>
          <p:spPr bwMode="auto">
            <a:xfrm>
              <a:off x="1721918" y="2748683"/>
              <a:ext cx="1087437" cy="1006475"/>
            </a:xfrm>
            <a:prstGeom prst="rect">
              <a:avLst/>
            </a:prstGeom>
            <a:noFill/>
            <a:ln w="9525">
              <a:noFill/>
              <a:miter lim="800000"/>
              <a:headEnd/>
              <a:tailEnd/>
            </a:ln>
          </p:spPr>
          <p:txBody>
            <a:bodyPr wrap="none" lIns="92075" tIns="46038" rIns="92075" bIns="46038">
              <a:spAutoFit/>
            </a:bodyPr>
            <a:lstStyle/>
            <a:p>
              <a:r>
                <a:rPr lang="en-US" sz="2000" dirty="0"/>
                <a:t>address</a:t>
              </a:r>
            </a:p>
            <a:p>
              <a:r>
                <a:rPr lang="en-US" sz="2000" dirty="0"/>
                <a:t>relative</a:t>
              </a:r>
            </a:p>
            <a:p>
              <a:r>
                <a:rPr lang="en-US" sz="2000" dirty="0"/>
                <a:t>to BP</a:t>
              </a:r>
            </a:p>
          </p:txBody>
        </p:sp>
        <p:sp>
          <p:nvSpPr>
            <p:cNvPr id="25648" name="AutoShape 50"/>
            <p:cNvSpPr>
              <a:spLocks/>
            </p:cNvSpPr>
            <p:nvPr/>
          </p:nvSpPr>
          <p:spPr bwMode="auto">
            <a:xfrm>
              <a:off x="5693049" y="1856508"/>
              <a:ext cx="92075" cy="1279525"/>
            </a:xfrm>
            <a:prstGeom prst="rightBrace">
              <a:avLst>
                <a:gd name="adj1" fmla="val 115805"/>
                <a:gd name="adj2" fmla="val 50000"/>
              </a:avLst>
            </a:prstGeom>
            <a:noFill/>
            <a:ln w="9525">
              <a:solidFill>
                <a:schemeClr val="tx1"/>
              </a:solidFill>
              <a:round/>
              <a:headEnd/>
              <a:tailEnd/>
            </a:ln>
          </p:spPr>
          <p:txBody>
            <a:bodyPr wrap="none" lIns="92075" tIns="46038" rIns="92075" bIns="46038" anchor="ctr"/>
            <a:lstStyle/>
            <a:p>
              <a:endParaRPr lang="en-US"/>
            </a:p>
          </p:txBody>
        </p:sp>
        <p:sp>
          <p:nvSpPr>
            <p:cNvPr id="25649" name="AutoShape 51"/>
            <p:cNvSpPr>
              <a:spLocks/>
            </p:cNvSpPr>
            <p:nvPr/>
          </p:nvSpPr>
          <p:spPr bwMode="auto">
            <a:xfrm>
              <a:off x="5693049" y="4502534"/>
              <a:ext cx="92075" cy="593725"/>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endParaRPr lang="en-US"/>
            </a:p>
          </p:txBody>
        </p:sp>
        <p:sp>
          <p:nvSpPr>
            <p:cNvPr id="25650" name="AutoShape 52"/>
            <p:cNvSpPr>
              <a:spLocks/>
            </p:cNvSpPr>
            <p:nvPr/>
          </p:nvSpPr>
          <p:spPr bwMode="auto">
            <a:xfrm>
              <a:off x="5693049" y="3179521"/>
              <a:ext cx="92075" cy="1279525"/>
            </a:xfrm>
            <a:prstGeom prst="rightBrace">
              <a:avLst>
                <a:gd name="adj1" fmla="val 173643"/>
                <a:gd name="adj2" fmla="val 50000"/>
              </a:avLst>
            </a:prstGeom>
            <a:noFill/>
            <a:ln w="9525">
              <a:solidFill>
                <a:schemeClr val="tx1"/>
              </a:solidFill>
              <a:round/>
              <a:headEnd/>
              <a:tailEnd/>
            </a:ln>
          </p:spPr>
          <p:txBody>
            <a:bodyPr wrap="none" lIns="92075" tIns="46038" rIns="92075" bIns="46038" anchor="ctr"/>
            <a:lstStyle/>
            <a:p>
              <a:endParaRPr lang="en-US"/>
            </a:p>
          </p:txBody>
        </p:sp>
        <p:sp>
          <p:nvSpPr>
            <p:cNvPr id="25651" name="Text Box 53"/>
            <p:cNvSpPr txBox="1">
              <a:spLocks noChangeArrowheads="1"/>
            </p:cNvSpPr>
            <p:nvPr/>
          </p:nvSpPr>
          <p:spPr bwMode="auto">
            <a:xfrm>
              <a:off x="5849418" y="2295894"/>
              <a:ext cx="1864293" cy="400752"/>
            </a:xfrm>
            <a:prstGeom prst="rect">
              <a:avLst/>
            </a:prstGeom>
            <a:noFill/>
            <a:ln w="9525">
              <a:noFill/>
              <a:miter lim="800000"/>
              <a:headEnd/>
              <a:tailEnd/>
            </a:ln>
          </p:spPr>
          <p:txBody>
            <a:bodyPr wrap="none" lIns="92075" tIns="46038" rIns="92075" bIns="46038">
              <a:spAutoFit/>
            </a:bodyPr>
            <a:lstStyle/>
            <a:p>
              <a:pPr algn="l"/>
              <a:r>
                <a:rPr lang="en-US" sz="2000" dirty="0"/>
                <a:t>parameter part</a:t>
              </a:r>
            </a:p>
          </p:txBody>
        </p:sp>
        <p:sp>
          <p:nvSpPr>
            <p:cNvPr id="25652" name="Text Box 55"/>
            <p:cNvSpPr txBox="1">
              <a:spLocks noChangeArrowheads="1"/>
            </p:cNvSpPr>
            <p:nvPr/>
          </p:nvSpPr>
          <p:spPr bwMode="auto">
            <a:xfrm>
              <a:off x="5849418" y="3640507"/>
              <a:ext cx="1522853" cy="400752"/>
            </a:xfrm>
            <a:prstGeom prst="rect">
              <a:avLst/>
            </a:prstGeom>
            <a:noFill/>
            <a:ln w="9525">
              <a:noFill/>
              <a:miter lim="800000"/>
              <a:headEnd/>
              <a:tailEnd/>
            </a:ln>
          </p:spPr>
          <p:txBody>
            <a:bodyPr wrap="none" lIns="92075" tIns="46038" rIns="92075" bIns="46038">
              <a:spAutoFit/>
            </a:bodyPr>
            <a:lstStyle/>
            <a:p>
              <a:pPr algn="l"/>
              <a:r>
                <a:rPr lang="en-US" sz="2000" dirty="0"/>
                <a:t>context part</a:t>
              </a:r>
            </a:p>
          </p:txBody>
        </p:sp>
        <p:sp>
          <p:nvSpPr>
            <p:cNvPr id="25653" name="Text Box 56"/>
            <p:cNvSpPr txBox="1">
              <a:spLocks noChangeArrowheads="1"/>
            </p:cNvSpPr>
            <p:nvPr/>
          </p:nvSpPr>
          <p:spPr bwMode="auto">
            <a:xfrm>
              <a:off x="5849418" y="4597769"/>
              <a:ext cx="2196114" cy="400752"/>
            </a:xfrm>
            <a:prstGeom prst="rect">
              <a:avLst/>
            </a:prstGeom>
            <a:noFill/>
            <a:ln w="9525">
              <a:noFill/>
              <a:miter lim="800000"/>
              <a:headEnd/>
              <a:tailEnd/>
            </a:ln>
          </p:spPr>
          <p:txBody>
            <a:bodyPr wrap="none" lIns="92075" tIns="46038" rIns="92075" bIns="46038">
              <a:spAutoFit/>
            </a:bodyPr>
            <a:lstStyle/>
            <a:p>
              <a:pPr algn="l"/>
              <a:r>
                <a:rPr lang="en-US" sz="2000" dirty="0"/>
                <a:t>local variable part</a:t>
              </a:r>
            </a:p>
          </p:txBody>
        </p:sp>
        <p:sp>
          <p:nvSpPr>
            <p:cNvPr id="25654" name="Rectangle 57"/>
            <p:cNvSpPr>
              <a:spLocks noChangeArrowheads="1"/>
            </p:cNvSpPr>
            <p:nvPr/>
          </p:nvSpPr>
          <p:spPr bwMode="auto">
            <a:xfrm>
              <a:off x="5090682" y="3093513"/>
              <a:ext cx="441146" cy="323165"/>
            </a:xfrm>
            <a:prstGeom prst="rect">
              <a:avLst/>
            </a:prstGeom>
            <a:noFill/>
            <a:ln w="9525">
              <a:solidFill>
                <a:schemeClr val="tx1"/>
              </a:solidFill>
              <a:miter lim="800000"/>
              <a:headEnd/>
              <a:tailEnd/>
            </a:ln>
          </p:spPr>
          <p:txBody>
            <a:bodyPr wrap="none" anchor="ctr">
              <a:spAutoFit/>
            </a:bodyPr>
            <a:lstStyle/>
            <a:p>
              <a:pPr eaLnBrk="1" hangingPunct="1"/>
              <a:r>
                <a:rPr lang="en-US" sz="1500" dirty="0"/>
                <a:t>BP</a:t>
              </a:r>
            </a:p>
          </p:txBody>
        </p:sp>
        <p:sp>
          <p:nvSpPr>
            <p:cNvPr id="25655" name="AutoShape 58"/>
            <p:cNvSpPr>
              <a:spLocks noChangeArrowheads="1"/>
            </p:cNvSpPr>
            <p:nvPr/>
          </p:nvSpPr>
          <p:spPr bwMode="auto">
            <a:xfrm>
              <a:off x="4409555" y="3136033"/>
              <a:ext cx="182563" cy="182563"/>
            </a:xfrm>
            <a:prstGeom prst="diamond">
              <a:avLst/>
            </a:prstGeom>
            <a:noFill/>
            <a:ln w="9525">
              <a:noFill/>
              <a:miter lim="800000"/>
              <a:headEnd/>
              <a:tailEnd/>
            </a:ln>
          </p:spPr>
          <p:txBody>
            <a:bodyPr wrap="none" anchor="ctr"/>
            <a:lstStyle/>
            <a:p>
              <a:endParaRPr lang="en-US"/>
            </a:p>
          </p:txBody>
        </p:sp>
        <p:cxnSp>
          <p:nvCxnSpPr>
            <p:cNvPr id="25656" name="AutoShape 59"/>
            <p:cNvCxnSpPr>
              <a:cxnSpLocks noChangeShapeType="1"/>
              <a:stCxn id="25654" idx="1"/>
            </p:cNvCxnSpPr>
            <p:nvPr/>
          </p:nvCxnSpPr>
          <p:spPr bwMode="auto">
            <a:xfrm flipH="1">
              <a:off x="4592119" y="3255096"/>
              <a:ext cx="498563" cy="0"/>
            </a:xfrm>
            <a:prstGeom prst="straightConnector1">
              <a:avLst/>
            </a:prstGeom>
            <a:noFill/>
            <a:ln w="9525">
              <a:solidFill>
                <a:schemeClr val="tx1"/>
              </a:solidFill>
              <a:round/>
              <a:headEnd/>
              <a:tailEnd type="triangle" w="med" len="med"/>
            </a:ln>
          </p:spPr>
        </p:cxnSp>
        <p:sp>
          <p:nvSpPr>
            <p:cNvPr id="25657" name="Rectangle 62"/>
            <p:cNvSpPr>
              <a:spLocks noChangeArrowheads="1"/>
            </p:cNvSpPr>
            <p:nvPr/>
          </p:nvSpPr>
          <p:spPr bwMode="auto">
            <a:xfrm>
              <a:off x="5111320" y="4890563"/>
              <a:ext cx="441146" cy="323165"/>
            </a:xfrm>
            <a:prstGeom prst="rect">
              <a:avLst/>
            </a:prstGeom>
            <a:noFill/>
            <a:ln w="9525">
              <a:solidFill>
                <a:schemeClr val="tx1"/>
              </a:solidFill>
              <a:miter lim="800000"/>
              <a:headEnd/>
              <a:tailEnd/>
            </a:ln>
          </p:spPr>
          <p:txBody>
            <a:bodyPr wrap="none" anchor="ctr">
              <a:spAutoFit/>
            </a:bodyPr>
            <a:lstStyle/>
            <a:p>
              <a:pPr eaLnBrk="1" hangingPunct="1"/>
              <a:r>
                <a:rPr lang="en-US" sz="1500" dirty="0"/>
                <a:t>SP</a:t>
              </a:r>
            </a:p>
          </p:txBody>
        </p:sp>
        <p:sp>
          <p:nvSpPr>
            <p:cNvPr id="25658" name="AutoShape 63"/>
            <p:cNvSpPr>
              <a:spLocks noChangeArrowheads="1"/>
            </p:cNvSpPr>
            <p:nvPr/>
          </p:nvSpPr>
          <p:spPr bwMode="auto">
            <a:xfrm>
              <a:off x="4430193" y="4960071"/>
              <a:ext cx="182562" cy="182562"/>
            </a:xfrm>
            <a:prstGeom prst="diamond">
              <a:avLst/>
            </a:prstGeom>
            <a:noFill/>
            <a:ln w="9525">
              <a:noFill/>
              <a:miter lim="800000"/>
              <a:headEnd/>
              <a:tailEnd/>
            </a:ln>
          </p:spPr>
          <p:txBody>
            <a:bodyPr wrap="none" anchor="ctr"/>
            <a:lstStyle/>
            <a:p>
              <a:endParaRPr lang="en-US"/>
            </a:p>
          </p:txBody>
        </p:sp>
        <p:cxnSp>
          <p:nvCxnSpPr>
            <p:cNvPr id="25659" name="AutoShape 64"/>
            <p:cNvCxnSpPr>
              <a:cxnSpLocks noChangeShapeType="1"/>
              <a:stCxn id="25657" idx="1"/>
            </p:cNvCxnSpPr>
            <p:nvPr/>
          </p:nvCxnSpPr>
          <p:spPr bwMode="auto">
            <a:xfrm flipH="1">
              <a:off x="4612755" y="5052146"/>
              <a:ext cx="498565" cy="0"/>
            </a:xfrm>
            <a:prstGeom prst="straightConnector1">
              <a:avLst/>
            </a:prstGeom>
            <a:noFill/>
            <a:ln w="9525">
              <a:solidFill>
                <a:schemeClr val="tx1"/>
              </a:solidFill>
              <a:round/>
              <a:headEnd/>
              <a:tailEnd type="triangle" w="med" len="med"/>
            </a:ln>
          </p:spPr>
        </p:cxnSp>
        <p:sp>
          <p:nvSpPr>
            <p:cNvPr id="25660" name="Text Box 39"/>
            <p:cNvSpPr txBox="1">
              <a:spLocks noChangeArrowheads="1"/>
            </p:cNvSpPr>
            <p:nvPr/>
          </p:nvSpPr>
          <p:spPr bwMode="auto">
            <a:xfrm>
              <a:off x="3430068" y="2558183"/>
              <a:ext cx="914400" cy="549275"/>
            </a:xfrm>
            <a:prstGeom prst="rect">
              <a:avLst/>
            </a:prstGeom>
            <a:solidFill>
              <a:schemeClr val="bg1"/>
            </a:solidFill>
            <a:ln w="9525">
              <a:noFill/>
              <a:miter lim="800000"/>
              <a:headEnd/>
              <a:tailEnd/>
            </a:ln>
          </p:spPr>
          <p:txBody>
            <a:bodyPr wrap="none" lIns="92075" tIns="46038" rIns="92075" bIns="46038" anchor="ctr"/>
            <a:lstStyle/>
            <a:p>
              <a:r>
                <a:rPr lang="en-US" sz="1700" dirty="0"/>
                <a:t>6</a:t>
              </a:r>
            </a:p>
          </p:txBody>
        </p:sp>
        <p:sp>
          <p:nvSpPr>
            <p:cNvPr id="25661" name="Text Box 39"/>
            <p:cNvSpPr txBox="1">
              <a:spLocks noChangeArrowheads="1"/>
            </p:cNvSpPr>
            <p:nvPr/>
          </p:nvSpPr>
          <p:spPr bwMode="auto">
            <a:xfrm>
              <a:off x="3387933" y="3192983"/>
              <a:ext cx="998671" cy="594360"/>
            </a:xfrm>
            <a:prstGeom prst="rect">
              <a:avLst/>
            </a:prstGeom>
            <a:solidFill>
              <a:schemeClr val="bg1"/>
            </a:solidFill>
            <a:ln w="9525">
              <a:noFill/>
              <a:miter lim="800000"/>
              <a:headEnd/>
              <a:tailEnd/>
            </a:ln>
          </p:spPr>
          <p:txBody>
            <a:bodyPr wrap="none" lIns="92075" tIns="46038" rIns="92075" bIns="46038">
              <a:spAutoFit/>
            </a:bodyPr>
            <a:lstStyle/>
            <a:p>
              <a:r>
                <a:rPr lang="en-US" sz="1700" dirty="0"/>
                <a:t>dynamic</a:t>
              </a:r>
            </a:p>
            <a:p>
              <a:r>
                <a:rPr lang="en-US" sz="1700" dirty="0"/>
                <a:t>link</a:t>
              </a:r>
            </a:p>
          </p:txBody>
        </p:sp>
        <p:sp>
          <p:nvSpPr>
            <p:cNvPr id="62" name="AutoShape 51"/>
            <p:cNvSpPr>
              <a:spLocks/>
            </p:cNvSpPr>
            <p:nvPr/>
          </p:nvSpPr>
          <p:spPr bwMode="auto">
            <a:xfrm>
              <a:off x="5693049" y="5139746"/>
              <a:ext cx="92075" cy="822960"/>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endParaRPr lang="en-US"/>
            </a:p>
          </p:txBody>
        </p:sp>
        <p:sp>
          <p:nvSpPr>
            <p:cNvPr id="63" name="Text Box 56"/>
            <p:cNvSpPr txBox="1">
              <a:spLocks noChangeArrowheads="1"/>
            </p:cNvSpPr>
            <p:nvPr/>
          </p:nvSpPr>
          <p:spPr bwMode="auto">
            <a:xfrm>
              <a:off x="5849418" y="5350850"/>
              <a:ext cx="1849865" cy="400752"/>
            </a:xfrm>
            <a:prstGeom prst="rect">
              <a:avLst/>
            </a:prstGeom>
            <a:noFill/>
            <a:ln w="9525">
              <a:noFill/>
              <a:miter lim="800000"/>
              <a:headEnd/>
              <a:tailEnd/>
            </a:ln>
          </p:spPr>
          <p:txBody>
            <a:bodyPr wrap="none" lIns="92075" tIns="46038" rIns="92075" bIns="46038">
              <a:spAutoFit/>
            </a:bodyPr>
            <a:lstStyle/>
            <a:p>
              <a:pPr algn="l"/>
              <a:r>
                <a:rPr lang="en-US" sz="2000" dirty="0"/>
                <a:t>temporary part</a:t>
              </a:r>
            </a:p>
          </p:txBody>
        </p:sp>
        <p:sp>
          <p:nvSpPr>
            <p:cNvPr id="2" name="TextBox 1"/>
            <p:cNvSpPr txBox="1"/>
            <p:nvPr/>
          </p:nvSpPr>
          <p:spPr>
            <a:xfrm>
              <a:off x="3640252" y="5558135"/>
              <a:ext cx="492444" cy="461665"/>
            </a:xfrm>
            <a:prstGeom prst="rect">
              <a:avLst/>
            </a:prstGeom>
            <a:noFill/>
          </p:spPr>
          <p:txBody>
            <a:bodyPr wrap="none" rtlCol="0">
              <a:spAutoFit/>
            </a:bodyPr>
            <a:lstStyle/>
            <a:p>
              <a:r>
                <a:rPr lang="en-US" dirty="0"/>
                <a:t>…</a:t>
              </a:r>
            </a:p>
          </p:txBody>
        </p:sp>
        <p:sp>
          <p:nvSpPr>
            <p:cNvPr id="66" name="Text Box 53"/>
            <p:cNvSpPr txBox="1">
              <a:spLocks noChangeArrowheads="1"/>
            </p:cNvSpPr>
            <p:nvPr/>
          </p:nvSpPr>
          <p:spPr bwMode="auto">
            <a:xfrm>
              <a:off x="5849418" y="1446520"/>
              <a:ext cx="2406108" cy="400752"/>
            </a:xfrm>
            <a:prstGeom prst="rect">
              <a:avLst/>
            </a:prstGeom>
            <a:noFill/>
            <a:ln w="9525">
              <a:noFill/>
              <a:miter lim="800000"/>
              <a:headEnd/>
              <a:tailEnd/>
            </a:ln>
          </p:spPr>
          <p:txBody>
            <a:bodyPr wrap="none" lIns="92075" tIns="46038" rIns="92075" bIns="46038">
              <a:spAutoFit/>
            </a:bodyPr>
            <a:lstStyle/>
            <a:p>
              <a:pPr algn="l"/>
              <a:r>
                <a:rPr lang="en-US" sz="2000" dirty="0"/>
                <a:t>no return value part</a:t>
              </a:r>
            </a:p>
          </p:txBody>
        </p:sp>
        <p:sp>
          <p:nvSpPr>
            <p:cNvPr id="3" name="TextBox 2">
              <a:extLst>
                <a:ext uri="{FF2B5EF4-FFF2-40B4-BE49-F238E27FC236}">
                  <a16:creationId xmlns:a16="http://schemas.microsoft.com/office/drawing/2014/main" id="{36CD63BD-4EEB-4476-8DE9-BF6E7E68CBFD}"/>
                </a:ext>
              </a:extLst>
            </p:cNvPr>
            <p:cNvSpPr txBox="1"/>
            <p:nvPr/>
          </p:nvSpPr>
          <p:spPr>
            <a:xfrm>
              <a:off x="762000" y="1838452"/>
              <a:ext cx="2047355" cy="677108"/>
            </a:xfrm>
            <a:prstGeom prst="rect">
              <a:avLst/>
            </a:prstGeom>
            <a:noFill/>
          </p:spPr>
          <p:txBody>
            <a:bodyPr wrap="none" rtlCol="0">
              <a:spAutoFit/>
            </a:bodyPr>
            <a:lstStyle/>
            <a:p>
              <a:r>
                <a:rPr lang="en-US" sz="1900" dirty="0"/>
                <a:t>absolute address</a:t>
              </a:r>
            </a:p>
            <a:p>
              <a:r>
                <a:rPr lang="en-US" sz="1900" dirty="0"/>
                <a:t>of x is 325</a:t>
              </a:r>
            </a:p>
          </p:txBody>
        </p:sp>
      </p:grpSp>
    </p:spTree>
    <p:extLst>
      <p:ext uri="{BB962C8B-B14F-4D97-AF65-F5344CB8AC3E}">
        <p14:creationId xmlns:p14="http://schemas.microsoft.com/office/powerpoint/2010/main" val="13119808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03E31-959A-77CD-8180-2F663B049EA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2DDCF33-FDE0-04AB-C496-E2C319B588CD}"/>
              </a:ext>
            </a:extLst>
          </p:cNvPr>
          <p:cNvSpPr>
            <a:spLocks noGrp="1"/>
          </p:cNvSpPr>
          <p:nvPr>
            <p:ph type="title"/>
          </p:nvPr>
        </p:nvSpPr>
        <p:spPr/>
        <p:txBody>
          <a:bodyPr/>
          <a:lstStyle/>
          <a:p>
            <a:r>
              <a:rPr lang="en-US" dirty="0"/>
              <a:t>Referencing Variables and Parameters</a:t>
            </a:r>
            <a:br>
              <a:rPr lang="en-US" dirty="0"/>
            </a:br>
            <a:r>
              <a:rPr lang="en-US" dirty="0"/>
              <a:t>from within Procedure </a:t>
            </a:r>
            <a:r>
              <a:rPr lang="en-US" dirty="0">
                <a:latin typeface="Consolas" panose="020B0609020204030204" pitchFamily="49" charset="0"/>
              </a:rPr>
              <a:t>p()</a:t>
            </a:r>
            <a:endParaRPr lang="en-US" dirty="0"/>
          </a:p>
        </p:txBody>
      </p:sp>
      <p:sp>
        <p:nvSpPr>
          <p:cNvPr id="7" name="Content Placeholder 6">
            <a:extLst>
              <a:ext uri="{FF2B5EF4-FFF2-40B4-BE49-F238E27FC236}">
                <a16:creationId xmlns:a16="http://schemas.microsoft.com/office/drawing/2014/main" id="{437853E3-81D4-373E-5B5A-9A92E9965AD6}"/>
              </a:ext>
            </a:extLst>
          </p:cNvPr>
          <p:cNvSpPr>
            <a:spLocks noGrp="1"/>
          </p:cNvSpPr>
          <p:nvPr>
            <p:ph sz="half" idx="1"/>
          </p:nvPr>
        </p:nvSpPr>
        <p:spPr>
          <a:xfrm>
            <a:off x="458788" y="1363663"/>
            <a:ext cx="2377440" cy="4935537"/>
          </a:xfrm>
        </p:spPr>
        <p:txBody>
          <a:bodyPr/>
          <a:lstStyle/>
          <a:p>
            <a:r>
              <a:rPr lang="en-US" sz="2300" dirty="0">
                <a:latin typeface="Consolas" panose="020B0609020204030204" pitchFamily="49" charset="0"/>
              </a:rPr>
              <a:t>LDLADDR -8</a:t>
            </a:r>
            <a:br>
              <a:rPr lang="en-US" sz="2300" dirty="0">
                <a:latin typeface="Consolas" panose="020B0609020204030204" pitchFamily="49" charset="0"/>
              </a:rPr>
            </a:br>
            <a:r>
              <a:rPr lang="en-US" sz="2300" dirty="0">
                <a:latin typeface="Consolas" panose="020B0609020204030204" pitchFamily="49" charset="0"/>
              </a:rPr>
              <a:t>LOADW</a:t>
            </a:r>
          </a:p>
          <a:p>
            <a:r>
              <a:rPr lang="en-US" sz="2300" dirty="0">
                <a:latin typeface="Consolas" panose="020B0609020204030204" pitchFamily="49" charset="0"/>
              </a:rPr>
              <a:t>LDLADDR -4</a:t>
            </a:r>
            <a:br>
              <a:rPr lang="en-US" sz="2300" dirty="0">
                <a:latin typeface="Consolas" panose="020B0609020204030204" pitchFamily="49" charset="0"/>
              </a:rPr>
            </a:br>
            <a:endParaRPr lang="en-US" sz="2300" dirty="0">
              <a:latin typeface="Consolas" panose="020B0609020204030204" pitchFamily="49" charset="0"/>
            </a:endParaRPr>
          </a:p>
          <a:p>
            <a:r>
              <a:rPr lang="en-US" sz="2300" dirty="0">
                <a:latin typeface="Consolas" panose="020B0609020204030204" pitchFamily="49" charset="0"/>
              </a:rPr>
              <a:t>LDLADDR 8</a:t>
            </a:r>
            <a:br>
              <a:rPr lang="en-US" sz="2300" dirty="0">
                <a:latin typeface="Consolas" panose="020B0609020204030204" pitchFamily="49" charset="0"/>
              </a:rPr>
            </a:br>
            <a:endParaRPr lang="en-US" sz="2300" dirty="0">
              <a:latin typeface="Consolas" panose="020B0609020204030204" pitchFamily="49" charset="0"/>
            </a:endParaRPr>
          </a:p>
          <a:p>
            <a:r>
              <a:rPr lang="en-US" sz="2300" dirty="0">
                <a:latin typeface="Consolas" panose="020B0609020204030204" pitchFamily="49" charset="0"/>
              </a:rPr>
              <a:t>LDGADDR 0</a:t>
            </a:r>
          </a:p>
          <a:p>
            <a:endParaRPr lang="en-US" sz="2300" dirty="0">
              <a:latin typeface="Consolas" panose="020B0609020204030204" pitchFamily="49" charset="0"/>
            </a:endParaRPr>
          </a:p>
        </p:txBody>
      </p:sp>
      <p:sp>
        <p:nvSpPr>
          <p:cNvPr id="8" name="Content Placeholder 7">
            <a:extLst>
              <a:ext uri="{FF2B5EF4-FFF2-40B4-BE49-F238E27FC236}">
                <a16:creationId xmlns:a16="http://schemas.microsoft.com/office/drawing/2014/main" id="{6FFD2C14-0E96-5571-F8DF-F827D50945A5}"/>
              </a:ext>
            </a:extLst>
          </p:cNvPr>
          <p:cNvSpPr>
            <a:spLocks noGrp="1"/>
          </p:cNvSpPr>
          <p:nvPr>
            <p:ph sz="half" idx="2"/>
          </p:nvPr>
        </p:nvSpPr>
        <p:spPr>
          <a:xfrm>
            <a:off x="2819400" y="1363663"/>
            <a:ext cx="5669280" cy="4935537"/>
          </a:xfrm>
        </p:spPr>
        <p:txBody>
          <a:bodyPr/>
          <a:lstStyle/>
          <a:p>
            <a:pPr marL="0" indent="0">
              <a:spcBef>
                <a:spcPts val="1100"/>
              </a:spcBef>
              <a:buNone/>
            </a:pPr>
            <a:r>
              <a:rPr lang="en-US" dirty="0"/>
              <a:t>loads (pushes) the address of the actual parameter </a:t>
            </a:r>
            <a:r>
              <a:rPr lang="en-US" sz="2300" dirty="0">
                <a:latin typeface="Consolas" panose="020B0609020204030204" pitchFamily="49" charset="0"/>
              </a:rPr>
              <a:t>x</a:t>
            </a:r>
            <a:r>
              <a:rPr lang="en-US" dirty="0"/>
              <a:t> onto the run-time stack</a:t>
            </a:r>
          </a:p>
          <a:p>
            <a:pPr marL="0" indent="0">
              <a:spcBef>
                <a:spcPts val="1100"/>
              </a:spcBef>
              <a:buNone/>
            </a:pPr>
            <a:r>
              <a:rPr lang="en-US" dirty="0"/>
              <a:t>loads (pushes) the address of parameter </a:t>
            </a:r>
            <a:r>
              <a:rPr lang="en-US" sz="2300" dirty="0">
                <a:latin typeface="Consolas" panose="020B0609020204030204" pitchFamily="49" charset="0"/>
              </a:rPr>
              <a:t>b</a:t>
            </a:r>
            <a:r>
              <a:rPr lang="en-US" dirty="0"/>
              <a:t> onto the stack</a:t>
            </a:r>
          </a:p>
          <a:p>
            <a:pPr marL="0" indent="0">
              <a:spcBef>
                <a:spcPts val="1100"/>
              </a:spcBef>
              <a:buNone/>
            </a:pPr>
            <a:r>
              <a:rPr lang="en-US" dirty="0"/>
              <a:t>loads (pushes) the address of local variable </a:t>
            </a:r>
            <a:r>
              <a:rPr lang="en-US" sz="2300" dirty="0">
                <a:latin typeface="Consolas" panose="020B0609020204030204" pitchFamily="49" charset="0"/>
              </a:rPr>
              <a:t>n</a:t>
            </a:r>
            <a:r>
              <a:rPr lang="en-US" dirty="0"/>
              <a:t> onto the stack</a:t>
            </a:r>
          </a:p>
          <a:p>
            <a:pPr marL="0" indent="0">
              <a:spcBef>
                <a:spcPts val="1100"/>
              </a:spcBef>
              <a:buNone/>
            </a:pPr>
            <a:r>
              <a:rPr lang="en-US" dirty="0"/>
              <a:t>loads (pushes) the address of global variable </a:t>
            </a:r>
            <a:r>
              <a:rPr lang="en-US" sz="2300" dirty="0">
                <a:latin typeface="Consolas" panose="020B0609020204030204" pitchFamily="49" charset="0"/>
              </a:rPr>
              <a:t>x</a:t>
            </a:r>
            <a:r>
              <a:rPr lang="en-US" dirty="0"/>
              <a:t> onto the stack</a:t>
            </a:r>
          </a:p>
          <a:p>
            <a:pPr marL="0" indent="0">
              <a:spcBef>
                <a:spcPts val="1100"/>
              </a:spcBef>
              <a:buNone/>
            </a:pPr>
            <a:endParaRPr lang="en-US" dirty="0"/>
          </a:p>
          <a:p>
            <a:pPr marL="0" indent="0">
              <a:spcBef>
                <a:spcPts val="1100"/>
              </a:spcBef>
              <a:buNone/>
            </a:pPr>
            <a:endParaRPr lang="en-US" dirty="0"/>
          </a:p>
        </p:txBody>
      </p:sp>
      <p:sp>
        <p:nvSpPr>
          <p:cNvPr id="4" name="Footer Placeholder 3">
            <a:extLst>
              <a:ext uri="{FF2B5EF4-FFF2-40B4-BE49-F238E27FC236}">
                <a16:creationId xmlns:a16="http://schemas.microsoft.com/office/drawing/2014/main" id="{9DF34CDA-37FC-C85B-A0B5-E610AB6F6FBD}"/>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2EC7D740-BCEE-8DAD-3D93-ADA760C54E05}"/>
              </a:ext>
            </a:extLst>
          </p:cNvPr>
          <p:cNvSpPr>
            <a:spLocks noGrp="1"/>
          </p:cNvSpPr>
          <p:nvPr>
            <p:ph type="sldNum" sz="quarter" idx="11"/>
          </p:nvPr>
        </p:nvSpPr>
        <p:spPr/>
        <p:txBody>
          <a:bodyPr/>
          <a:lstStyle/>
          <a:p>
            <a:pPr>
              <a:defRPr/>
            </a:pPr>
            <a:r>
              <a:rPr lang="en-US"/>
              <a:t>Slide </a:t>
            </a:r>
            <a:fld id="{4E55CFDC-59FD-439A-9888-9166DC8A4008}" type="slidenum">
              <a:rPr lang="en-US" smtClean="0"/>
              <a:pPr>
                <a:defRPr/>
              </a:pPr>
              <a:t>62</a:t>
            </a:fld>
            <a:endParaRPr lang="en-US"/>
          </a:p>
        </p:txBody>
      </p:sp>
    </p:spTree>
    <p:extLst>
      <p:ext uri="{BB962C8B-B14F-4D97-AF65-F5344CB8AC3E}">
        <p14:creationId xmlns:p14="http://schemas.microsoft.com/office/powerpoint/2010/main" val="15388686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a:t>
            </a:r>
            <a:r>
              <a:rPr lang="en-US" dirty="0">
                <a:latin typeface="Consolas" pitchFamily="49" charset="0"/>
                <a:cs typeface="Consolas" pitchFamily="49" charset="0"/>
              </a:rPr>
              <a:t>emit()</a:t>
            </a:r>
            <a:r>
              <a:rPr lang="en-US" dirty="0"/>
              <a:t> for Class </a:t>
            </a:r>
            <a:r>
              <a:rPr lang="en-US" dirty="0">
                <a:latin typeface="Consolas" pitchFamily="49" charset="0"/>
                <a:cs typeface="Consolas" pitchFamily="49" charset="0"/>
              </a:rPr>
              <a:t>Variable</a:t>
            </a:r>
            <a:br>
              <a:rPr lang="en-US" dirty="0">
                <a:latin typeface="Consolas" pitchFamily="49" charset="0"/>
                <a:cs typeface="Consolas" pitchFamily="49" charset="0"/>
              </a:rPr>
            </a:br>
            <a:r>
              <a:rPr lang="en-US" sz="2400" dirty="0">
                <a:cs typeface="Consolas" pitchFamily="49" charset="0"/>
              </a:rPr>
              <a:t>(Loads the address of the variable onto the stack)</a:t>
            </a:r>
          </a:p>
        </p:txBody>
      </p:sp>
      <p:sp>
        <p:nvSpPr>
          <p:cNvPr id="3" name="Content Placeholder 2"/>
          <p:cNvSpPr>
            <a:spLocks noGrp="1"/>
          </p:cNvSpPr>
          <p:nvPr>
            <p:ph idx="1"/>
          </p:nvPr>
        </p:nvSpPr>
        <p:spPr>
          <a:xfrm>
            <a:off x="458787" y="1363663"/>
            <a:ext cx="8321040" cy="4935537"/>
          </a:xfrm>
        </p:spPr>
        <p:txBody>
          <a:bodyPr tIns="45720"/>
          <a:lstStyle/>
          <a:p>
            <a:pPr marL="91440" indent="0">
              <a:spcBef>
                <a:spcPts val="100"/>
              </a:spcBef>
              <a:buNone/>
            </a:pPr>
            <a:r>
              <a:rPr lang="en-US" sz="1800" dirty="0">
                <a:latin typeface="Consolas" pitchFamily="49" charset="0"/>
                <a:cs typeface="Consolas" pitchFamily="49" charset="0"/>
              </a:rPr>
              <a:t>@Override</a:t>
            </a:r>
          </a:p>
          <a:p>
            <a:pPr marL="91440" indent="0">
              <a:spcBef>
                <a:spcPts val="100"/>
              </a:spcBef>
              <a:buNone/>
            </a:pPr>
            <a:r>
              <a:rPr lang="en-US" sz="1800" dirty="0">
                <a:latin typeface="Consolas" pitchFamily="49" charset="0"/>
                <a:cs typeface="Consolas" pitchFamily="49" charset="0"/>
              </a:rPr>
              <a:t>public void emit() throws </a:t>
            </a:r>
            <a:r>
              <a:rPr lang="en-US" sz="1800" dirty="0" err="1">
                <a:latin typeface="Consolas" pitchFamily="49" charset="0"/>
                <a:cs typeface="Consolas" pitchFamily="49" charset="0"/>
              </a:rPr>
              <a:t>CodeGenException</a:t>
            </a:r>
            <a:endParaRPr lang="en-US" sz="1800" dirty="0">
              <a:latin typeface="Consolas" pitchFamily="49" charset="0"/>
              <a:cs typeface="Consolas" pitchFamily="49" charset="0"/>
            </a:endParaRPr>
          </a:p>
          <a:p>
            <a:pPr marL="91440" indent="0">
              <a:spcBef>
                <a:spcPts val="100"/>
              </a:spcBef>
              <a:buNone/>
            </a:pPr>
            <a:r>
              <a:rPr lang="en-US" sz="1800" dirty="0">
                <a:latin typeface="Consolas" pitchFamily="49" charset="0"/>
                <a:cs typeface="Consolas" pitchFamily="49" charset="0"/>
              </a:rPr>
              <a:t>  {       </a:t>
            </a:r>
          </a:p>
          <a:p>
            <a:pPr marL="91440" indent="0">
              <a:spcBef>
                <a:spcPts val="100"/>
              </a:spcBef>
              <a:buNone/>
            </a:pPr>
            <a:r>
              <a:rPr lang="en-US" sz="1800" dirty="0">
                <a:latin typeface="Consolas" pitchFamily="49" charset="0"/>
                <a:cs typeface="Consolas" pitchFamily="49" charset="0"/>
              </a:rPr>
              <a:t>    if (</a:t>
            </a:r>
            <a:r>
              <a:rPr lang="en-US" sz="1800" dirty="0" err="1">
                <a:latin typeface="Consolas" pitchFamily="49" charset="0"/>
                <a:cs typeface="Consolas" pitchFamily="49" charset="0"/>
              </a:rPr>
              <a:t>decl</a:t>
            </a:r>
            <a:r>
              <a:rPr lang="en-US" sz="1800" dirty="0">
                <a:latin typeface="Consolas" pitchFamily="49" charset="0"/>
                <a:cs typeface="Consolas" pitchFamily="49" charset="0"/>
              </a:rPr>
              <a:t> </a:t>
            </a:r>
            <a:r>
              <a:rPr lang="en-US" sz="1800" dirty="0" err="1">
                <a:latin typeface="Consolas" pitchFamily="49" charset="0"/>
                <a:cs typeface="Consolas" pitchFamily="49" charset="0"/>
              </a:rPr>
              <a:t>instanceof</a:t>
            </a:r>
            <a:r>
              <a:rPr lang="en-US" sz="1800" dirty="0">
                <a:latin typeface="Consolas" pitchFamily="49" charset="0"/>
                <a:cs typeface="Consolas" pitchFamily="49" charset="0"/>
              </a:rPr>
              <a:t> </a:t>
            </a:r>
            <a:r>
              <a:rPr lang="en-US" sz="1800" dirty="0" err="1">
                <a:latin typeface="Consolas" pitchFamily="49" charset="0"/>
                <a:cs typeface="Consolas" pitchFamily="49" charset="0"/>
              </a:rPr>
              <a:t>ParameterDecl</a:t>
            </a:r>
            <a:r>
              <a:rPr lang="en-US" sz="1800" dirty="0">
                <a:latin typeface="Consolas" pitchFamily="49" charset="0"/>
                <a:cs typeface="Consolas" pitchFamily="49" charset="0"/>
              </a:rPr>
              <a:t> </a:t>
            </a:r>
            <a:r>
              <a:rPr lang="en-US" sz="1800" dirty="0" err="1">
                <a:latin typeface="Consolas" pitchFamily="49" charset="0"/>
                <a:cs typeface="Consolas" pitchFamily="49" charset="0"/>
              </a:rPr>
              <a:t>pDecl</a:t>
            </a:r>
            <a:endParaRPr lang="en-US" sz="1800" dirty="0">
              <a:latin typeface="Consolas" pitchFamily="49" charset="0"/>
              <a:cs typeface="Consolas" pitchFamily="49" charset="0"/>
            </a:endParaRPr>
          </a:p>
          <a:p>
            <a:pPr marL="91440" indent="0">
              <a:spcBef>
                <a:spcPts val="100"/>
              </a:spcBef>
              <a:buNone/>
            </a:pPr>
            <a:r>
              <a:rPr lang="en-US" sz="1800" dirty="0">
                <a:latin typeface="Consolas" pitchFamily="49" charset="0"/>
                <a:cs typeface="Consolas" pitchFamily="49" charset="0"/>
              </a:rPr>
              <a:t>        &amp;&amp; </a:t>
            </a:r>
            <a:r>
              <a:rPr lang="en-US" sz="1800" dirty="0" err="1">
                <a:latin typeface="Consolas" pitchFamily="49" charset="0"/>
                <a:cs typeface="Consolas" pitchFamily="49" charset="0"/>
              </a:rPr>
              <a:t>pDecl.isVarParam</a:t>
            </a:r>
            <a:r>
              <a:rPr lang="en-US" sz="1800" dirty="0">
                <a:latin typeface="Consolas" pitchFamily="49" charset="0"/>
                <a:cs typeface="Consolas" pitchFamily="49" charset="0"/>
              </a:rPr>
              <a:t>())</a:t>
            </a:r>
          </a:p>
          <a:p>
            <a:pPr marL="91440" indent="0">
              <a:spcBef>
                <a:spcPts val="100"/>
              </a:spcBef>
              <a:buNone/>
            </a:pPr>
            <a:r>
              <a:rPr lang="en-US" sz="1800" dirty="0">
                <a:latin typeface="Consolas" pitchFamily="49" charset="0"/>
                <a:cs typeface="Consolas" pitchFamily="49" charset="0"/>
              </a:rPr>
              <a:t>      {</a:t>
            </a:r>
          </a:p>
          <a:p>
            <a:pPr marL="91440" indent="0">
              <a:spcBef>
                <a:spcPts val="100"/>
              </a:spcBef>
              <a:buNone/>
            </a:pPr>
            <a:r>
              <a:rPr lang="en-US" sz="1800" dirty="0">
                <a:latin typeface="Consolas" pitchFamily="49" charset="0"/>
                <a:cs typeface="Consolas" pitchFamily="49" charset="0"/>
              </a:rPr>
              <a:t>        // address of actual parameter is value of var parameter</a:t>
            </a:r>
          </a:p>
          <a:p>
            <a:pPr marL="91440" indent="0">
              <a:spcBef>
                <a:spcPts val="100"/>
              </a:spcBef>
              <a:buNone/>
            </a:pPr>
            <a:r>
              <a:rPr lang="en-US" sz="1800" dirty="0">
                <a:latin typeface="Consolas" pitchFamily="49" charset="0"/>
                <a:cs typeface="Consolas" pitchFamily="49" charset="0"/>
              </a:rPr>
              <a:t>        emit("LDLADDR " + </a:t>
            </a:r>
            <a:r>
              <a:rPr lang="en-US" sz="1800" dirty="0" err="1">
                <a:latin typeface="Consolas" pitchFamily="49" charset="0"/>
                <a:cs typeface="Consolas" pitchFamily="49" charset="0"/>
              </a:rPr>
              <a:t>decl.relAddr</a:t>
            </a:r>
            <a:r>
              <a:rPr lang="en-US" sz="1800" dirty="0">
                <a:latin typeface="Consolas" pitchFamily="49" charset="0"/>
                <a:cs typeface="Consolas" pitchFamily="49" charset="0"/>
              </a:rPr>
              <a:t>());</a:t>
            </a:r>
          </a:p>
          <a:p>
            <a:pPr marL="91440" indent="0">
              <a:spcBef>
                <a:spcPts val="100"/>
              </a:spcBef>
              <a:buNone/>
            </a:pPr>
            <a:r>
              <a:rPr lang="en-US" sz="1800" dirty="0">
                <a:latin typeface="Consolas" pitchFamily="49" charset="0"/>
                <a:cs typeface="Consolas" pitchFamily="49" charset="0"/>
              </a:rPr>
              <a:t>        emit("LOADW");</a:t>
            </a:r>
          </a:p>
          <a:p>
            <a:pPr marL="91440" indent="0">
              <a:spcBef>
                <a:spcPts val="100"/>
              </a:spcBef>
              <a:buNone/>
            </a:pPr>
            <a:r>
              <a:rPr lang="en-US" sz="1800" dirty="0">
                <a:latin typeface="Consolas" pitchFamily="49" charset="0"/>
                <a:cs typeface="Consolas" pitchFamily="49" charset="0"/>
              </a:rPr>
              <a:t>      }</a:t>
            </a:r>
          </a:p>
          <a:p>
            <a:pPr marL="91440" indent="0">
              <a:spcBef>
                <a:spcPts val="100"/>
              </a:spcBef>
              <a:buNone/>
            </a:pPr>
            <a:r>
              <a:rPr lang="en-US" sz="1800" dirty="0">
                <a:latin typeface="Consolas" pitchFamily="49" charset="0"/>
                <a:cs typeface="Consolas" pitchFamily="49" charset="0"/>
              </a:rPr>
              <a:t>    else if (</a:t>
            </a:r>
            <a:r>
              <a:rPr lang="en-US" sz="1800" dirty="0" err="1">
                <a:latin typeface="Consolas" pitchFamily="49" charset="0"/>
                <a:cs typeface="Consolas" pitchFamily="49" charset="0"/>
              </a:rPr>
              <a:t>decl.scopeLevel</a:t>
            </a:r>
            <a:r>
              <a:rPr lang="en-US" sz="1800" dirty="0">
                <a:latin typeface="Consolas" pitchFamily="49" charset="0"/>
                <a:cs typeface="Consolas" pitchFamily="49" charset="0"/>
              </a:rPr>
              <a:t>() == </a:t>
            </a:r>
            <a:r>
              <a:rPr lang="en-US" sz="1800" dirty="0" err="1">
                <a:latin typeface="Consolas" pitchFamily="49" charset="0"/>
                <a:cs typeface="Consolas" pitchFamily="49" charset="0"/>
              </a:rPr>
              <a:t>ScopeLevel.GLOBAL</a:t>
            </a:r>
            <a:r>
              <a:rPr lang="en-US" sz="1800" dirty="0">
                <a:latin typeface="Consolas" pitchFamily="49" charset="0"/>
                <a:cs typeface="Consolas" pitchFamily="49" charset="0"/>
              </a:rPr>
              <a:t>)</a:t>
            </a:r>
          </a:p>
          <a:p>
            <a:pPr marL="91440" indent="0">
              <a:spcBef>
                <a:spcPts val="100"/>
              </a:spcBef>
              <a:buNone/>
            </a:pPr>
            <a:r>
              <a:rPr lang="en-US" sz="1800" dirty="0">
                <a:latin typeface="Consolas" pitchFamily="49" charset="0"/>
                <a:cs typeface="Consolas" pitchFamily="49" charset="0"/>
              </a:rPr>
              <a:t>        emit("LDGADDR " + </a:t>
            </a:r>
            <a:r>
              <a:rPr lang="en-US" sz="1800" dirty="0" err="1">
                <a:latin typeface="Consolas" pitchFamily="49" charset="0"/>
                <a:cs typeface="Consolas" pitchFamily="49" charset="0"/>
              </a:rPr>
              <a:t>decl.relAddr</a:t>
            </a:r>
            <a:r>
              <a:rPr lang="en-US" sz="1800" dirty="0">
                <a:latin typeface="Consolas" pitchFamily="49" charset="0"/>
                <a:cs typeface="Consolas" pitchFamily="49" charset="0"/>
              </a:rPr>
              <a:t>());</a:t>
            </a:r>
          </a:p>
          <a:p>
            <a:pPr marL="91440" indent="0">
              <a:spcBef>
                <a:spcPts val="100"/>
              </a:spcBef>
              <a:buNone/>
            </a:pPr>
            <a:r>
              <a:rPr lang="en-US" sz="1800" dirty="0">
                <a:latin typeface="Consolas" pitchFamily="49" charset="0"/>
                <a:cs typeface="Consolas" pitchFamily="49" charset="0"/>
              </a:rPr>
              <a:t>    else</a:t>
            </a:r>
          </a:p>
          <a:p>
            <a:pPr marL="91440" indent="0">
              <a:spcBef>
                <a:spcPts val="100"/>
              </a:spcBef>
              <a:buNone/>
            </a:pPr>
            <a:r>
              <a:rPr lang="en-US" sz="1800" dirty="0">
                <a:latin typeface="Consolas" pitchFamily="49" charset="0"/>
                <a:cs typeface="Consolas" pitchFamily="49" charset="0"/>
              </a:rPr>
              <a:t>        emit("LDLADDR " + </a:t>
            </a:r>
            <a:r>
              <a:rPr lang="en-US" sz="1800" dirty="0" err="1">
                <a:latin typeface="Consolas" pitchFamily="49" charset="0"/>
                <a:cs typeface="Consolas" pitchFamily="49" charset="0"/>
              </a:rPr>
              <a:t>decl.relAddr</a:t>
            </a:r>
            <a:r>
              <a:rPr lang="en-US" sz="1800" dirty="0">
                <a:latin typeface="Consolas" pitchFamily="49" charset="0"/>
                <a:cs typeface="Consolas" pitchFamily="49" charset="0"/>
              </a:rPr>
              <a:t>());</a:t>
            </a:r>
          </a:p>
          <a:p>
            <a:pPr marL="91440" indent="0">
              <a:spcBef>
                <a:spcPts val="100"/>
              </a:spcBef>
              <a:buNone/>
            </a:pPr>
            <a:r>
              <a:rPr lang="en-US" sz="1800" dirty="0">
                <a:latin typeface="Consolas" pitchFamily="49" charset="0"/>
                <a:cs typeface="Consolas" pitchFamily="49" charset="0"/>
              </a:rPr>
              <a:t>  }</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4E55CFDC-59FD-439A-9888-9166DC8A4008}" type="slidenum">
              <a:rPr lang="en-US" smtClean="0"/>
              <a:pPr>
                <a:defRPr/>
              </a:pPr>
              <a:t>63</a:t>
            </a:fld>
            <a:endParaRPr lang="en-US"/>
          </a:p>
        </p:txBody>
      </p:sp>
      <p:sp>
        <p:nvSpPr>
          <p:cNvPr id="6" name="TextBox 5"/>
          <p:cNvSpPr txBox="1"/>
          <p:nvPr/>
        </p:nvSpPr>
        <p:spPr>
          <a:xfrm>
            <a:off x="1546075" y="5591314"/>
            <a:ext cx="6051850" cy="707886"/>
          </a:xfrm>
          <a:prstGeom prst="rect">
            <a:avLst/>
          </a:prstGeom>
          <a:noFill/>
          <a:ln>
            <a:solidFill>
              <a:schemeClr val="tx1"/>
            </a:solidFill>
          </a:ln>
        </p:spPr>
        <p:txBody>
          <a:bodyPr wrap="none" rtlCol="0">
            <a:spAutoFit/>
          </a:bodyPr>
          <a:lstStyle/>
          <a:p>
            <a:pPr algn="l"/>
            <a:r>
              <a:rPr lang="en-US" sz="2000" dirty="0"/>
              <a:t>We will extend this method again when we consider</a:t>
            </a:r>
          </a:p>
          <a:p>
            <a:pPr algn="l"/>
            <a:r>
              <a:rPr lang="en-US" sz="2000" dirty="0"/>
              <a:t>the topic of arrays, strings, and records in CPRL.</a:t>
            </a:r>
          </a:p>
        </p:txBody>
      </p:sp>
    </p:spTree>
  </p:cSld>
  <p:clrMapOvr>
    <a:masterClrMapping/>
  </p:clrMapOvr>
</p:sld>
</file>

<file path=ppt/theme/theme1.xml><?xml version="1.0" encoding="utf-8"?>
<a:theme xmlns:a="http://schemas.openxmlformats.org/drawingml/2006/main" name="SoftMoore2">
  <a:themeElements>
    <a:clrScheme name="">
      <a:dk1>
        <a:srgbClr val="000099"/>
      </a:dk1>
      <a:lt1>
        <a:srgbClr val="FFFFFF"/>
      </a:lt1>
      <a:dk2>
        <a:srgbClr val="CBCBCB"/>
      </a:dk2>
      <a:lt2>
        <a:srgbClr val="000000"/>
      </a:lt2>
      <a:accent1>
        <a:srgbClr val="009999"/>
      </a:accent1>
      <a:accent2>
        <a:srgbClr val="FF9933"/>
      </a:accent2>
      <a:accent3>
        <a:srgbClr val="FFFFFF"/>
      </a:accent3>
      <a:accent4>
        <a:srgbClr val="000082"/>
      </a:accent4>
      <a:accent5>
        <a:srgbClr val="AACACA"/>
      </a:accent5>
      <a:accent6>
        <a:srgbClr val="E78A2D"/>
      </a:accent6>
      <a:hlink>
        <a:srgbClr val="330099"/>
      </a:hlink>
      <a:folHlink>
        <a:srgbClr val="CBCBCB"/>
      </a:folHlink>
    </a:clrScheme>
    <a:fontScheme name="SoftMoore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SoftMoore2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SoftMoore2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SoftMoore2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C:\JMoore\Training\SoftMoore2.pot</Template>
  <TotalTime>7052</TotalTime>
  <Words>4981</Words>
  <Application>Microsoft Office PowerPoint</Application>
  <PresentationFormat>On-screen Show (4:3)</PresentationFormat>
  <Paragraphs>876</Paragraphs>
  <Slides>63</Slides>
  <Notes>38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63</vt:i4>
      </vt:variant>
    </vt:vector>
  </HeadingPairs>
  <TitlesOfParts>
    <vt:vector size="67" baseType="lpstr">
      <vt:lpstr>Arial</vt:lpstr>
      <vt:lpstr>Calibri</vt:lpstr>
      <vt:lpstr>Consolas</vt:lpstr>
      <vt:lpstr>SoftMoore2</vt:lpstr>
      <vt:lpstr>Subprograms</vt:lpstr>
      <vt:lpstr>Subprograms</vt:lpstr>
      <vt:lpstr>Relevant Parser Methods (based on grammar rules)</vt:lpstr>
      <vt:lpstr>Inheritance Hierarchy for Relevant AST Classes</vt:lpstr>
      <vt:lpstr>Procedure Example – Parameters</vt:lpstr>
      <vt:lpstr>The Scope Level of a Var Declaration</vt:lpstr>
      <vt:lpstr>The Scope Level of a Var Declaration (continued)</vt:lpstr>
      <vt:lpstr>Example: Scope Levels</vt:lpstr>
      <vt:lpstr>Class IdTable</vt:lpstr>
      <vt:lpstr>Class IdTable (continued)</vt:lpstr>
      <vt:lpstr>Selected Methods in Class IdTable</vt:lpstr>
      <vt:lpstr>Selected Methods in Class IdTable (continued)</vt:lpstr>
      <vt:lpstr>Constraint Rules for Subprograms</vt:lpstr>
      <vt:lpstr>Constraint Rules for Subprograms (continued)</vt:lpstr>
      <vt:lpstr>Constraint Rules for Subprograms (continued)</vt:lpstr>
      <vt:lpstr>Runtime Organization for Subprograms </vt:lpstr>
      <vt:lpstr>CVM Instructions for Subprograms</vt:lpstr>
      <vt:lpstr>Calling Conventions</vt:lpstr>
      <vt:lpstr>Calling Conventions (continued)</vt:lpstr>
      <vt:lpstr>Active Subprograms</vt:lpstr>
      <vt:lpstr>Activation Record (a.k.a. Stack Frame or Call Frame)</vt:lpstr>
      <vt:lpstr>Return Value Part of an Activation Record</vt:lpstr>
      <vt:lpstr>Parameter Part of an Activation Record</vt:lpstr>
      <vt:lpstr>Context Part of an Activation Record</vt:lpstr>
      <vt:lpstr>Local Variable Part of an Activation Record</vt:lpstr>
      <vt:lpstr>Local Variable Part of an Activation Record (continued)</vt:lpstr>
      <vt:lpstr>Temporary Part of an Activation Record</vt:lpstr>
      <vt:lpstr>Example: Temporary Part of an Activation Record</vt:lpstr>
      <vt:lpstr>Example: Temporary Part of an Activation Record (continued)</vt:lpstr>
      <vt:lpstr>Example: Temporary Part of an Activation Record (continued)</vt:lpstr>
      <vt:lpstr>Example: Temporary Part of an Activation Record (continued)</vt:lpstr>
      <vt:lpstr>Example: Temporary Part of an Activation Record (continued)</vt:lpstr>
      <vt:lpstr>Example: Temporary Part of an Activation Record (continued)</vt:lpstr>
      <vt:lpstr>Example: Temporary Part of an Activation Record (continued)</vt:lpstr>
      <vt:lpstr>Example: Temporary Part of an Activation Record (continued)</vt:lpstr>
      <vt:lpstr>Example: Subprogram with Parameters</vt:lpstr>
      <vt:lpstr>Activation Record for Procedure p()</vt:lpstr>
      <vt:lpstr>Supporting Recursion</vt:lpstr>
      <vt:lpstr>Supporting Recursion (continued)</vt:lpstr>
      <vt:lpstr>Loading a Program</vt:lpstr>
      <vt:lpstr>General Discussion of Parameters</vt:lpstr>
      <vt:lpstr>General Discussion of Parameters (continued)</vt:lpstr>
      <vt:lpstr>Checking Variable Parameters</vt:lpstr>
      <vt:lpstr>Checking Variable Parameters (continued)</vt:lpstr>
      <vt:lpstr>Calling a Subprogram</vt:lpstr>
      <vt:lpstr>PROC Instruction versus ALLOC Instruction</vt:lpstr>
      <vt:lpstr>Return Instruction</vt:lpstr>
      <vt:lpstr>Returning from a Subprogram</vt:lpstr>
      <vt:lpstr>Calling Conventions for CPRL on the CVM</vt:lpstr>
      <vt:lpstr>Calling Conventions for CPRL on the CVM (continued)</vt:lpstr>
      <vt:lpstr>Computing Relative Addresses</vt:lpstr>
      <vt:lpstr>Computing Relative Addresses</vt:lpstr>
      <vt:lpstr>Relative Address of a Function</vt:lpstr>
      <vt:lpstr>Referencing Local Variables and Parameters</vt:lpstr>
      <vt:lpstr>Referencing Global Variables</vt:lpstr>
      <vt:lpstr>Example: Activation Record</vt:lpstr>
      <vt:lpstr>Activation Record for Function max()</vt:lpstr>
      <vt:lpstr>Referencing Variables and Parameters for Function max()</vt:lpstr>
      <vt:lpstr>Variable (var) Parameters</vt:lpstr>
      <vt:lpstr>Example: Activation Record</vt:lpstr>
      <vt:lpstr>Activation Record for Procedure p() (after call p(x, 6))</vt:lpstr>
      <vt:lpstr>Referencing Variables and Parameters from within Procedure p()</vt:lpstr>
      <vt:lpstr>Method emit() for Class Variable (Loads the address of the variable onto the stack)</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Subprograms</dc:title>
  <dc:creator>John I. Moore, Jr.</dc:creator>
  <cp:lastModifiedBy>John Moore</cp:lastModifiedBy>
  <cp:revision>380</cp:revision>
  <cp:lastPrinted>2020-04-16T13:35:31Z</cp:lastPrinted>
  <dcterms:created xsi:type="dcterms:W3CDTF">2005-01-12T21:47:45Z</dcterms:created>
  <dcterms:modified xsi:type="dcterms:W3CDTF">2026-08-10T12:45:28Z</dcterms:modified>
</cp:coreProperties>
</file>