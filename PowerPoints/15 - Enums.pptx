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6"/>
  </p:notesMasterIdLst>
  <p:handoutMasterIdLst>
    <p:handoutMasterId r:id="rId17"/>
  </p:handoutMasterIdLst>
  <p:sldIdLst>
    <p:sldId id="256" r:id="rId2"/>
    <p:sldId id="257" r:id="rId3"/>
    <p:sldId id="258" r:id="rId4"/>
    <p:sldId id="260" r:id="rId5"/>
    <p:sldId id="259" r:id="rId6"/>
    <p:sldId id="261" r:id="rId7"/>
    <p:sldId id="262" r:id="rId8"/>
    <p:sldId id="263" r:id="rId9"/>
    <p:sldId id="264" r:id="rId10"/>
    <p:sldId id="267" r:id="rId11"/>
    <p:sldId id="268" r:id="rId12"/>
    <p:sldId id="265" r:id="rId13"/>
    <p:sldId id="266" r:id="rId14"/>
    <p:sldId id="269" r:id="rId15"/>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64" autoAdjust="0"/>
    <p:restoredTop sz="97055" autoAdjust="0"/>
  </p:normalViewPr>
  <p:slideViewPr>
    <p:cSldViewPr>
      <p:cViewPr varScale="1">
        <p:scale>
          <a:sx n="84" d="100"/>
          <a:sy n="84" d="100"/>
        </p:scale>
        <p:origin x="73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3842" y="0"/>
            <a:ext cx="3171358" cy="481045"/>
          </a:xfrm>
          <a:prstGeom prst="rect">
            <a:avLst/>
          </a:prstGeom>
          <a:noFill/>
          <a:ln w="9525">
            <a:noFill/>
            <a:miter lim="800000"/>
            <a:headEnd/>
            <a:tailEnd/>
          </a:ln>
          <a:effectLst/>
        </p:spPr>
        <p:txBody>
          <a:bodyPr vert="horz" wrap="square" lIns="96643" tIns="48322" rIns="96643" bIns="48322" numCol="1" anchor="t" anchorCtr="0" compatLnSpc="1">
            <a:prstTxWarp prst="textNoShape">
              <a:avLst/>
            </a:prstTxWarp>
          </a:bodyPr>
          <a:lstStyle>
            <a:lvl1pPr algn="r" defTabSz="966421">
              <a:defRPr sz="1200"/>
            </a:lvl1pPr>
          </a:lstStyle>
          <a:p>
            <a:pPr>
              <a:defRPr/>
            </a:pPr>
            <a:r>
              <a:rPr lang="en-US" sz="1100" dirty="0">
                <a:latin typeface="+mn-lt"/>
              </a:rPr>
              <a:t>Arrays</a:t>
            </a:r>
          </a:p>
        </p:txBody>
      </p:sp>
      <p:sp>
        <p:nvSpPr>
          <p:cNvPr id="59397" name="Rectangle 5"/>
          <p:cNvSpPr>
            <a:spLocks noGrp="1" noChangeArrowheads="1"/>
          </p:cNvSpPr>
          <p:nvPr>
            <p:ph type="sldNum" sz="quarter" idx="3"/>
          </p:nvPr>
        </p:nvSpPr>
        <p:spPr bwMode="auto">
          <a:xfrm>
            <a:off x="4143842" y="9120158"/>
            <a:ext cx="3171358" cy="481044"/>
          </a:xfrm>
          <a:prstGeom prst="rect">
            <a:avLst/>
          </a:prstGeom>
          <a:noFill/>
          <a:ln w="9525">
            <a:noFill/>
            <a:miter lim="800000"/>
            <a:headEnd/>
            <a:tailEnd/>
          </a:ln>
          <a:effectLst/>
        </p:spPr>
        <p:txBody>
          <a:bodyPr vert="horz" wrap="square" lIns="96643" tIns="48322" rIns="96643" bIns="48322" numCol="1" anchor="b" anchorCtr="0" compatLnSpc="1">
            <a:prstTxWarp prst="textNoShape">
              <a:avLst/>
            </a:prstTxWarp>
          </a:bodyPr>
          <a:lstStyle>
            <a:lvl1pPr algn="r" defTabSz="966421">
              <a:defRPr sz="1200"/>
            </a:lvl1pPr>
          </a:lstStyle>
          <a:p>
            <a:pPr>
              <a:defRPr/>
            </a:pPr>
            <a:r>
              <a:rPr lang="en-US" sz="1100">
                <a:latin typeface="+mn-lt"/>
              </a:rPr>
              <a:t>14-</a:t>
            </a:r>
            <a:fld id="{5241A4F1-978F-4F0D-82EC-237403889A63}" type="slidenum">
              <a:rPr lang="en-US" sz="1100">
                <a:latin typeface="+mn-lt"/>
              </a:rPr>
              <a:pPr>
                <a:defRPr/>
              </a:pPr>
              <a:t>‹#›</a:t>
            </a:fld>
            <a:endParaRPr lang="en-US" sz="1100">
              <a:latin typeface="+mn-lt"/>
            </a:endParaRPr>
          </a:p>
        </p:txBody>
      </p:sp>
    </p:spTree>
    <p:extLst>
      <p:ext uri="{BB962C8B-B14F-4D97-AF65-F5344CB8AC3E}">
        <p14:creationId xmlns:p14="http://schemas.microsoft.com/office/powerpoint/2010/main" val="18915788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1026"/>
          <p:cNvSpPr>
            <a:spLocks noGrp="1" noChangeArrowheads="1"/>
          </p:cNvSpPr>
          <p:nvPr>
            <p:ph type="hdr" sz="quarter"/>
          </p:nvPr>
        </p:nvSpPr>
        <p:spPr bwMode="auto">
          <a:xfrm>
            <a:off x="3" y="0"/>
            <a:ext cx="3171359" cy="481045"/>
          </a:xfrm>
          <a:prstGeom prst="rect">
            <a:avLst/>
          </a:prstGeom>
          <a:noFill/>
          <a:ln w="9525">
            <a:noFill/>
            <a:miter lim="800000"/>
            <a:headEnd/>
            <a:tailEnd/>
          </a:ln>
          <a:effectLst/>
        </p:spPr>
        <p:txBody>
          <a:bodyPr vert="horz" wrap="square" lIns="96643" tIns="48322" rIns="96643" bIns="48322" numCol="1" anchor="t" anchorCtr="0" compatLnSpc="1">
            <a:prstTxWarp prst="textNoShape">
              <a:avLst/>
            </a:prstTxWarp>
          </a:bodyPr>
          <a:lstStyle>
            <a:lvl1pPr algn="l" defTabSz="966421">
              <a:defRPr sz="1200"/>
            </a:lvl1pPr>
          </a:lstStyle>
          <a:p>
            <a:pPr>
              <a:defRPr/>
            </a:pPr>
            <a:r>
              <a:rPr lang="en-US"/>
              <a:t>Arrays</a:t>
            </a:r>
          </a:p>
        </p:txBody>
      </p:sp>
      <p:sp>
        <p:nvSpPr>
          <p:cNvPr id="64515" name="Rectangle 1027"/>
          <p:cNvSpPr>
            <a:spLocks noGrp="1" noChangeArrowheads="1"/>
          </p:cNvSpPr>
          <p:nvPr>
            <p:ph type="dt" idx="1"/>
          </p:nvPr>
        </p:nvSpPr>
        <p:spPr bwMode="auto">
          <a:xfrm>
            <a:off x="4143842" y="0"/>
            <a:ext cx="3171358" cy="481045"/>
          </a:xfrm>
          <a:prstGeom prst="rect">
            <a:avLst/>
          </a:prstGeom>
          <a:noFill/>
          <a:ln w="9525">
            <a:noFill/>
            <a:miter lim="800000"/>
            <a:headEnd/>
            <a:tailEnd/>
          </a:ln>
          <a:effectLst/>
        </p:spPr>
        <p:txBody>
          <a:bodyPr vert="horz" wrap="square" lIns="96643" tIns="48322" rIns="96643" bIns="48322" numCol="1" anchor="t" anchorCtr="0" compatLnSpc="1">
            <a:prstTxWarp prst="textNoShape">
              <a:avLst/>
            </a:prstTxWarp>
          </a:bodyPr>
          <a:lstStyle>
            <a:lvl1pPr algn="r" defTabSz="966421">
              <a:defRPr sz="1200"/>
            </a:lvl1pPr>
          </a:lstStyle>
          <a:p>
            <a:pPr>
              <a:defRPr/>
            </a:pPr>
            <a:endParaRPr lang="en-US"/>
          </a:p>
        </p:txBody>
      </p:sp>
      <p:sp>
        <p:nvSpPr>
          <p:cNvPr id="14340" name="Rectangle 1028"/>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txBody>
          <a:bodyPr/>
          <a:lstStyle/>
          <a:p>
            <a:endParaRPr lang="en-US"/>
          </a:p>
        </p:txBody>
      </p:sp>
      <p:sp>
        <p:nvSpPr>
          <p:cNvPr id="64517" name="Rectangle 1029"/>
          <p:cNvSpPr>
            <a:spLocks noGrp="1" noChangeArrowheads="1"/>
          </p:cNvSpPr>
          <p:nvPr>
            <p:ph type="body" sz="quarter" idx="3"/>
          </p:nvPr>
        </p:nvSpPr>
        <p:spPr bwMode="auto">
          <a:xfrm>
            <a:off x="975803" y="4560898"/>
            <a:ext cx="5363595" cy="4321197"/>
          </a:xfrm>
          <a:prstGeom prst="rect">
            <a:avLst/>
          </a:prstGeom>
          <a:noFill/>
          <a:ln w="9525">
            <a:noFill/>
            <a:miter lim="800000"/>
            <a:headEnd/>
            <a:tailEnd/>
          </a:ln>
          <a:effectLst/>
        </p:spPr>
        <p:txBody>
          <a:bodyPr vert="horz" wrap="square" lIns="96643" tIns="48322" rIns="96643" bIns="4832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1030"/>
          <p:cNvSpPr>
            <a:spLocks noGrp="1" noChangeArrowheads="1"/>
          </p:cNvSpPr>
          <p:nvPr>
            <p:ph type="ftr" sz="quarter" idx="4"/>
          </p:nvPr>
        </p:nvSpPr>
        <p:spPr bwMode="auto">
          <a:xfrm>
            <a:off x="3" y="9120158"/>
            <a:ext cx="3171359" cy="481044"/>
          </a:xfrm>
          <a:prstGeom prst="rect">
            <a:avLst/>
          </a:prstGeom>
          <a:noFill/>
          <a:ln w="9525">
            <a:noFill/>
            <a:miter lim="800000"/>
            <a:headEnd/>
            <a:tailEnd/>
          </a:ln>
          <a:effectLst/>
        </p:spPr>
        <p:txBody>
          <a:bodyPr vert="horz" wrap="square" lIns="96643" tIns="48322" rIns="96643" bIns="48322" numCol="1" anchor="b" anchorCtr="0" compatLnSpc="1">
            <a:prstTxWarp prst="textNoShape">
              <a:avLst/>
            </a:prstTxWarp>
          </a:bodyPr>
          <a:lstStyle>
            <a:lvl1pPr algn="l" defTabSz="966421">
              <a:defRPr sz="1200"/>
            </a:lvl1pPr>
          </a:lstStyle>
          <a:p>
            <a:pPr>
              <a:defRPr/>
            </a:pPr>
            <a:endParaRPr lang="en-US"/>
          </a:p>
        </p:txBody>
      </p:sp>
      <p:sp>
        <p:nvSpPr>
          <p:cNvPr id="64519" name="Rectangle 1031"/>
          <p:cNvSpPr>
            <a:spLocks noGrp="1" noChangeArrowheads="1"/>
          </p:cNvSpPr>
          <p:nvPr>
            <p:ph type="sldNum" sz="quarter" idx="5"/>
          </p:nvPr>
        </p:nvSpPr>
        <p:spPr bwMode="auto">
          <a:xfrm>
            <a:off x="4143842" y="9120158"/>
            <a:ext cx="3171358" cy="481044"/>
          </a:xfrm>
          <a:prstGeom prst="rect">
            <a:avLst/>
          </a:prstGeom>
          <a:noFill/>
          <a:ln w="9525">
            <a:noFill/>
            <a:miter lim="800000"/>
            <a:headEnd/>
            <a:tailEnd/>
          </a:ln>
          <a:effectLst/>
        </p:spPr>
        <p:txBody>
          <a:bodyPr vert="horz" wrap="square" lIns="96643" tIns="48322" rIns="96643" bIns="48322" numCol="1" anchor="b" anchorCtr="0" compatLnSpc="1">
            <a:prstTxWarp prst="textNoShape">
              <a:avLst/>
            </a:prstTxWarp>
          </a:bodyPr>
          <a:lstStyle>
            <a:lvl1pPr algn="r" defTabSz="966421">
              <a:defRPr sz="1200"/>
            </a:lvl1pPr>
          </a:lstStyle>
          <a:p>
            <a:pPr>
              <a:defRPr/>
            </a:pPr>
            <a:fld id="{5BF450E6-15A0-4DB2-99B2-4CCE2B5D6D7D}" type="slidenum">
              <a:rPr lang="en-US"/>
              <a:pPr>
                <a:defRPr/>
              </a:pPr>
              <a:t>‹#›</a:t>
            </a:fld>
            <a:endParaRPr lang="en-US"/>
          </a:p>
        </p:txBody>
      </p:sp>
    </p:spTree>
    <p:extLst>
      <p:ext uri="{BB962C8B-B14F-4D97-AF65-F5344CB8AC3E}">
        <p14:creationId xmlns:p14="http://schemas.microsoft.com/office/powerpoint/2010/main" val="2140988389"/>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ChangeArrowheads="1"/>
          </p:cNvSpPr>
          <p:nvPr>
            <p:ph type="hdr" sz="quarter"/>
          </p:nvPr>
        </p:nvSpPr>
        <p:spPr>
          <a:noFill/>
        </p:spPr>
        <p:txBody>
          <a:bodyPr/>
          <a:lstStyle/>
          <a:p>
            <a:r>
              <a:rPr lang="en-US"/>
              <a:t>Arrays</a:t>
            </a:r>
          </a:p>
        </p:txBody>
      </p:sp>
      <p:sp>
        <p:nvSpPr>
          <p:cNvPr id="15363" name="Rectangle 1031"/>
          <p:cNvSpPr>
            <a:spLocks noGrp="1" noChangeArrowheads="1"/>
          </p:cNvSpPr>
          <p:nvPr>
            <p:ph type="sldNum" sz="quarter" idx="5"/>
          </p:nvPr>
        </p:nvSpPr>
        <p:spPr>
          <a:noFill/>
        </p:spPr>
        <p:txBody>
          <a:bodyPr/>
          <a:lstStyle/>
          <a:p>
            <a:fld id="{24FB2F2E-B522-4673-9066-5664F313C474}" type="slidenum">
              <a:rPr lang="en-US" smtClean="0"/>
              <a:pPr/>
              <a:t>1</a:t>
            </a:fld>
            <a:endParaRPr lang="en-US"/>
          </a:p>
        </p:txBody>
      </p:sp>
      <p:sp>
        <p:nvSpPr>
          <p:cNvPr id="15364" name="Rectangle 2"/>
          <p:cNvSpPr>
            <a:spLocks noGrp="1" noRot="1" noChangeAspect="1" noChangeArrowheads="1" noTextEdit="1"/>
          </p:cNvSpPr>
          <p:nvPr>
            <p:ph type="sldImg"/>
          </p:nvPr>
        </p:nvSpPr>
        <p:spPr>
          <a:ln/>
        </p:spPr>
        <p:txBody>
          <a:bodyPr/>
          <a:lstStyle/>
          <a:p>
            <a:endParaRPr lang="en-US"/>
          </a:p>
        </p:txBody>
      </p:sp>
      <p:sp>
        <p:nvSpPr>
          <p:cNvPr id="1536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82706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05474" name="Rectangle 2"/>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05475" name="Rectangle 3"/>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4"/>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6"/>
          <p:cNvSpPr>
            <a:spLocks noGrp="1" noChangeArrowheads="1"/>
          </p:cNvSpPr>
          <p:nvPr>
            <p:ph type="sldNum" sz="quarter" idx="11"/>
          </p:nvPr>
        </p:nvSpPr>
        <p:spPr/>
        <p:txBody>
          <a:bodyPr/>
          <a:lstStyle>
            <a:lvl1pPr>
              <a:defRPr/>
            </a:lvl1pPr>
          </a:lstStyle>
          <a:p>
            <a:pPr>
              <a:defRPr/>
            </a:pPr>
            <a:r>
              <a:rPr lang="en-US"/>
              <a:t>Slide </a:t>
            </a:r>
            <a:fld id="{97141924-5E9F-47E2-AB8F-3621F5E1A88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3A451E74-E241-4D9B-B11E-E03372E7FBB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a:noFill/>
          <a:ln w="9525">
            <a:noFill/>
            <a:miter lim="800000"/>
            <a:headEnd/>
            <a:tailEnd/>
          </a:ln>
        </p:spPr>
        <p:txBody>
          <a:bodyPr/>
          <a:lstStyle>
            <a:lvl1pPr algn="l" rtl="0" eaLnBrk="0" fontAlgn="base" hangingPunct="0">
              <a:spcAft>
                <a:spcPct val="0"/>
              </a:spcAft>
              <a:defRPr kumimoji="1" lang="en-US" sz="2400" smtClean="0">
                <a:solidFill>
                  <a:schemeClr val="tx1"/>
                </a:solidFill>
                <a:latin typeface="+mn-lt"/>
                <a:ea typeface="+mn-ea"/>
                <a:cs typeface="+mn-cs"/>
              </a:defRPr>
            </a:lvl1pPr>
            <a:lvl2pPr algn="l" rtl="0" eaLnBrk="0" fontAlgn="base" hangingPunct="0">
              <a:spcAft>
                <a:spcPct val="0"/>
              </a:spcAft>
              <a:defRPr kumimoji="1" lang="en-US" sz="2000" smtClean="0">
                <a:solidFill>
                  <a:schemeClr val="tx1"/>
                </a:solidFill>
                <a:latin typeface="+mn-lt"/>
                <a:ea typeface="+mn-ea"/>
                <a:cs typeface="+mn-cs"/>
              </a:defRPr>
            </a:lvl2pPr>
            <a:lvl3pPr algn="l" rtl="0" eaLnBrk="0" fontAlgn="base" hangingPunct="0">
              <a:spcAft>
                <a:spcPct val="0"/>
              </a:spcAft>
              <a:defRPr kumimoji="1" lang="en-US" sz="1800" smtClean="0">
                <a:solidFill>
                  <a:schemeClr val="tx1"/>
                </a:solidFill>
                <a:latin typeface="+mn-lt"/>
                <a:ea typeface="+mn-ea"/>
                <a:cs typeface="+mn-cs"/>
              </a:defRPr>
            </a:lvl3pPr>
            <a:lvl4pPr algn="l" rtl="0" eaLnBrk="0" fontAlgn="base" hangingPunct="0">
              <a:spcAft>
                <a:spcPct val="0"/>
              </a:spcAft>
              <a:defRPr kumimoji="1" lang="en-US" sz="1600" smtClean="0">
                <a:solidFill>
                  <a:schemeClr val="tx1"/>
                </a:solidFill>
                <a:latin typeface="+mn-lt"/>
                <a:ea typeface="+mn-ea"/>
                <a:cs typeface="+mn-cs"/>
              </a:defRPr>
            </a:lvl4pPr>
            <a:lvl5pPr algn="l" rtl="0" eaLnBrk="0" fontAlgn="base" hangingPunct="0">
              <a:spcAft>
                <a:spcPct val="0"/>
              </a:spcAft>
              <a:defRPr kumimoji="1" lang="en-US" sz="140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DBD715BD-81CC-407F-8C96-2184AFE5A7E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5D566F7F-81D0-4104-850B-2C0EE3911D0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012C0F64-474C-4543-BAE8-E00603AEC2B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452"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104453"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B0456019-3709-4872-AEB5-6BBEE481E4FE}" type="slidenum">
              <a:rPr lang="en-US"/>
              <a:pPr>
                <a:defRPr/>
              </a:pPr>
              <a:t>‹#›</a:t>
            </a:fld>
            <a:endParaRPr lang="en-US"/>
          </a:p>
        </p:txBody>
      </p:sp>
      <p:sp>
        <p:nvSpPr>
          <p:cNvPr id="104454"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104455"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842" r:id="rId1"/>
    <p:sldLayoutId id="2147483832" r:id="rId2"/>
    <p:sldLayoutId id="2147483834" r:id="rId3"/>
    <p:sldLayoutId id="2147483836" r:id="rId4"/>
    <p:sldLayoutId id="2147483837"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ftr" sz="quarter" idx="10"/>
          </p:nvPr>
        </p:nvSpPr>
        <p:spPr>
          <a:noFill/>
        </p:spPr>
        <p:txBody>
          <a:bodyPr/>
          <a:lstStyle/>
          <a:p>
            <a:r>
              <a:rPr lang="en-US" dirty="0"/>
              <a:t>©</a:t>
            </a:r>
            <a:r>
              <a:rPr lang="en-US" dirty="0" err="1"/>
              <a:t>SoftMoore</a:t>
            </a:r>
            <a:r>
              <a:rPr lang="en-US" dirty="0"/>
              <a:t> Consulting</a:t>
            </a:r>
          </a:p>
        </p:txBody>
      </p:sp>
      <p:sp>
        <p:nvSpPr>
          <p:cNvPr id="3075" name="Rectangle 6"/>
          <p:cNvSpPr>
            <a:spLocks noGrp="1" noChangeArrowheads="1"/>
          </p:cNvSpPr>
          <p:nvPr>
            <p:ph type="sldNum" sz="quarter" idx="11"/>
          </p:nvPr>
        </p:nvSpPr>
        <p:spPr>
          <a:noFill/>
        </p:spPr>
        <p:txBody>
          <a:bodyPr/>
          <a:lstStyle/>
          <a:p>
            <a:r>
              <a:rPr lang="en-US"/>
              <a:t>Slide </a:t>
            </a:r>
            <a:fld id="{12A919EC-3D58-4FB7-A51F-E8537E2DF0DB}"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Enumerated Types</a:t>
            </a:r>
          </a:p>
        </p:txBody>
      </p:sp>
      <p:sp>
        <p:nvSpPr>
          <p:cNvPr id="3077" name="Rectangle 3"/>
          <p:cNvSpPr>
            <a:spLocks noGrp="1" noChangeArrowheads="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2D4BE-F005-8F58-7963-8DCC0DA35BC1}"/>
              </a:ext>
            </a:extLst>
          </p:cNvPr>
          <p:cNvSpPr>
            <a:spLocks noGrp="1"/>
          </p:cNvSpPr>
          <p:nvPr>
            <p:ph type="title"/>
          </p:nvPr>
        </p:nvSpPr>
        <p:spPr/>
        <p:txBody>
          <a:bodyPr/>
          <a:lstStyle/>
          <a:p>
            <a:r>
              <a:rPr lang="en-US" dirty="0"/>
              <a:t>Why Enumerated Types</a:t>
            </a:r>
          </a:p>
        </p:txBody>
      </p:sp>
      <p:sp>
        <p:nvSpPr>
          <p:cNvPr id="3" name="Content Placeholder 2">
            <a:extLst>
              <a:ext uri="{FF2B5EF4-FFF2-40B4-BE49-F238E27FC236}">
                <a16:creationId xmlns:a16="http://schemas.microsoft.com/office/drawing/2014/main" id="{863A01FC-71C8-13A1-FE12-C8AC422C4AC8}"/>
              </a:ext>
            </a:extLst>
          </p:cNvPr>
          <p:cNvSpPr>
            <a:spLocks noGrp="1"/>
          </p:cNvSpPr>
          <p:nvPr>
            <p:ph idx="1"/>
          </p:nvPr>
        </p:nvSpPr>
        <p:spPr/>
        <p:txBody>
          <a:bodyPr/>
          <a:lstStyle/>
          <a:p>
            <a:r>
              <a:rPr lang="en-US" dirty="0"/>
              <a:t>Enumerated types (a.k.a., enum types)</a:t>
            </a:r>
          </a:p>
          <a:p>
            <a:pPr lvl="1"/>
            <a:r>
              <a:rPr lang="en-US" dirty="0"/>
              <a:t>allow assignment of meaningful names for integer-like constants</a:t>
            </a:r>
          </a:p>
          <a:p>
            <a:pPr lvl="1"/>
            <a:r>
              <a:rPr lang="en-US" dirty="0"/>
              <a:t>improve code readability and type safety</a:t>
            </a:r>
          </a:p>
          <a:p>
            <a:pPr lvl="1"/>
            <a:r>
              <a:rPr lang="en-US" dirty="0"/>
              <a:t>are more convenient than declaring a list of integer constants</a:t>
            </a:r>
          </a:p>
          <a:p>
            <a:r>
              <a:rPr lang="en-US" dirty="0"/>
              <a:t>Example</a:t>
            </a:r>
          </a:p>
          <a:p>
            <a:pPr marL="457200" lvl="1" indent="0">
              <a:buNone/>
            </a:pPr>
            <a:r>
              <a:rPr lang="en-US" sz="1800" dirty="0">
                <a:latin typeface="Consolas" panose="020B0609020204030204" pitchFamily="49" charset="0"/>
              </a:rPr>
              <a:t>color := 32896;       // magic number; not very meaningful</a:t>
            </a:r>
          </a:p>
          <a:p>
            <a:pPr marL="457200" lvl="1" indent="0">
              <a:buNone/>
            </a:pPr>
            <a:r>
              <a:rPr lang="en-US" sz="1800" dirty="0">
                <a:latin typeface="Consolas" panose="020B0609020204030204" pitchFamily="49" charset="0"/>
              </a:rPr>
              <a:t>color := 0x008080;    // better; uses RGB color codes</a:t>
            </a:r>
          </a:p>
          <a:p>
            <a:pPr marL="457200" lvl="1" indent="0">
              <a:buNone/>
            </a:pPr>
            <a:r>
              <a:rPr lang="en-US" sz="1800" dirty="0">
                <a:latin typeface="Consolas" panose="020B0609020204030204" pitchFamily="49" charset="0"/>
              </a:rPr>
              <a:t>color := </a:t>
            </a:r>
            <a:r>
              <a:rPr lang="en-US" sz="1800" dirty="0" err="1">
                <a:latin typeface="Consolas" panose="020B0609020204030204" pitchFamily="49" charset="0"/>
              </a:rPr>
              <a:t>Color.Teal</a:t>
            </a:r>
            <a:r>
              <a:rPr lang="en-US" sz="1800" dirty="0">
                <a:latin typeface="Consolas" panose="020B0609020204030204" pitchFamily="49" charset="0"/>
              </a:rPr>
              <a:t>;  // most readable; intent is clear</a:t>
            </a:r>
          </a:p>
          <a:p>
            <a:pPr marL="457200" lvl="1" indent="0">
              <a:buNone/>
            </a:pPr>
            <a:endParaRPr lang="en-US" dirty="0"/>
          </a:p>
        </p:txBody>
      </p:sp>
      <p:sp>
        <p:nvSpPr>
          <p:cNvPr id="4" name="Footer Placeholder 3">
            <a:extLst>
              <a:ext uri="{FF2B5EF4-FFF2-40B4-BE49-F238E27FC236}">
                <a16:creationId xmlns:a16="http://schemas.microsoft.com/office/drawing/2014/main" id="{C42536CD-07FA-E25F-20BA-4468DEDE4400}"/>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049936B1-5B66-C9D4-B31F-7DACDD1EB68E}"/>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2</a:t>
            </a:fld>
            <a:endParaRPr lang="en-US"/>
          </a:p>
        </p:txBody>
      </p:sp>
    </p:spTree>
    <p:extLst>
      <p:ext uri="{BB962C8B-B14F-4D97-AF65-F5344CB8AC3E}">
        <p14:creationId xmlns:p14="http://schemas.microsoft.com/office/powerpoint/2010/main" val="2967428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838BD-78AA-E41A-6D8B-7507AD693582}"/>
              </a:ext>
            </a:extLst>
          </p:cNvPr>
          <p:cNvSpPr>
            <a:spLocks noGrp="1"/>
          </p:cNvSpPr>
          <p:nvPr>
            <p:ph type="title"/>
          </p:nvPr>
        </p:nvSpPr>
        <p:spPr/>
        <p:txBody>
          <a:bodyPr/>
          <a:lstStyle/>
          <a:p>
            <a:r>
              <a:rPr lang="en-US" dirty="0"/>
              <a:t>Enumerated Types in CPRL</a:t>
            </a:r>
          </a:p>
        </p:txBody>
      </p:sp>
      <p:sp>
        <p:nvSpPr>
          <p:cNvPr id="3" name="Content Placeholder 2">
            <a:extLst>
              <a:ext uri="{FF2B5EF4-FFF2-40B4-BE49-F238E27FC236}">
                <a16:creationId xmlns:a16="http://schemas.microsoft.com/office/drawing/2014/main" id="{E28F8F2F-5043-4B46-B91B-5437BC857F43}"/>
              </a:ext>
            </a:extLst>
          </p:cNvPr>
          <p:cNvSpPr>
            <a:spLocks noGrp="1"/>
          </p:cNvSpPr>
          <p:nvPr>
            <p:ph idx="1"/>
          </p:nvPr>
        </p:nvSpPr>
        <p:spPr/>
        <p:txBody>
          <a:bodyPr/>
          <a:lstStyle/>
          <a:p>
            <a:r>
              <a:rPr lang="en-US" dirty="0"/>
              <a:t>CPRL supports a very simple form of enumerated type with minimal functionality.</a:t>
            </a:r>
          </a:p>
          <a:p>
            <a:r>
              <a:rPr lang="en-US" dirty="0"/>
              <a:t>An enum type declaration specifies the type name plus the names for each enum constant.  At the machine level, the first named constant has value 0, the second named constant has value 1, and so on.</a:t>
            </a:r>
          </a:p>
          <a:p>
            <a:r>
              <a:rPr lang="en-US" dirty="0"/>
              <a:t>Names of the enum constants are scoped to the enumerated type; i.e., they must be unique within the enum type declaration</a:t>
            </a:r>
          </a:p>
        </p:txBody>
      </p:sp>
      <p:sp>
        <p:nvSpPr>
          <p:cNvPr id="4" name="Footer Placeholder 3">
            <a:extLst>
              <a:ext uri="{FF2B5EF4-FFF2-40B4-BE49-F238E27FC236}">
                <a16:creationId xmlns:a16="http://schemas.microsoft.com/office/drawing/2014/main" id="{B27670C2-E58F-3AF9-7FBA-FAD477CD3C92}"/>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EE2AE776-AB1D-8C3E-07A1-76FCFDC1B57D}"/>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3</a:t>
            </a:fld>
            <a:endParaRPr lang="en-US"/>
          </a:p>
        </p:txBody>
      </p:sp>
    </p:spTree>
    <p:extLst>
      <p:ext uri="{BB962C8B-B14F-4D97-AF65-F5344CB8AC3E}">
        <p14:creationId xmlns:p14="http://schemas.microsoft.com/office/powerpoint/2010/main" val="4189351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A3AA3-D6FC-6EFC-4371-D6B649E8787A}"/>
              </a:ext>
            </a:extLst>
          </p:cNvPr>
          <p:cNvSpPr>
            <a:spLocks noGrp="1"/>
          </p:cNvSpPr>
          <p:nvPr>
            <p:ph type="title"/>
          </p:nvPr>
        </p:nvSpPr>
        <p:spPr/>
        <p:txBody>
          <a:bodyPr/>
          <a:lstStyle/>
          <a:p>
            <a:r>
              <a:rPr lang="en-US" dirty="0"/>
              <a:t>Using Enumerated Types</a:t>
            </a:r>
          </a:p>
        </p:txBody>
      </p:sp>
      <p:sp>
        <p:nvSpPr>
          <p:cNvPr id="3" name="Content Placeholder 2">
            <a:extLst>
              <a:ext uri="{FF2B5EF4-FFF2-40B4-BE49-F238E27FC236}">
                <a16:creationId xmlns:a16="http://schemas.microsoft.com/office/drawing/2014/main" id="{17577B5E-BD3F-5E12-7E5C-D0CE8F87AB72}"/>
              </a:ext>
            </a:extLst>
          </p:cNvPr>
          <p:cNvSpPr>
            <a:spLocks noGrp="1"/>
          </p:cNvSpPr>
          <p:nvPr>
            <p:ph idx="1"/>
          </p:nvPr>
        </p:nvSpPr>
        <p:spPr/>
        <p:txBody>
          <a:bodyPr/>
          <a:lstStyle/>
          <a:p>
            <a:r>
              <a:rPr lang="en-US" dirty="0"/>
              <a:t>Declare an enumerated type and then declare one or more variables of that type.</a:t>
            </a:r>
          </a:p>
          <a:p>
            <a:pPr lvl="1"/>
            <a:r>
              <a:rPr lang="en-US" dirty="0"/>
              <a:t>values are ordered according to their order of appearance in the list, and relational operators can be used for comparison</a:t>
            </a:r>
          </a:p>
          <a:p>
            <a:pPr lvl="1"/>
            <a:r>
              <a:rPr lang="en-US" dirty="0"/>
              <a:t>distinct from type Integer but are represented as integers at the machine level</a:t>
            </a:r>
          </a:p>
          <a:p>
            <a:pPr lvl="1"/>
            <a:r>
              <a:rPr lang="en-US" dirty="0"/>
              <a:t>can be used in for loops and as indices for array types</a:t>
            </a:r>
          </a:p>
          <a:p>
            <a:pPr>
              <a:buSzPct val="105000"/>
            </a:pPr>
            <a:r>
              <a:rPr lang="en-US" sz="2300" dirty="0">
                <a:latin typeface="Consolas" panose="020B0609020204030204" pitchFamily="49" charset="0"/>
              </a:rPr>
              <a:t>write</a:t>
            </a:r>
            <a:r>
              <a:rPr lang="en-US" dirty="0"/>
              <a:t> and </a:t>
            </a:r>
            <a:r>
              <a:rPr lang="en-US" sz="2300" dirty="0" err="1">
                <a:latin typeface="Consolas" panose="020B0609020204030204" pitchFamily="49" charset="0"/>
              </a:rPr>
              <a:t>writeln</a:t>
            </a:r>
            <a:r>
              <a:rPr lang="en-US" dirty="0"/>
              <a:t> statements print out the underlying integer value, not the enum value name.</a:t>
            </a:r>
          </a:p>
          <a:p>
            <a:r>
              <a:rPr lang="en-US" dirty="0"/>
              <a:t>Constants are expressed in the form </a:t>
            </a:r>
            <a:r>
              <a:rPr lang="en-US" sz="2300" dirty="0" err="1">
                <a:latin typeface="Consolas" panose="020B0609020204030204" pitchFamily="49" charset="0"/>
              </a:rPr>
              <a:t>TypeName.ValueName</a:t>
            </a:r>
            <a:endParaRPr lang="en-US" sz="2300" dirty="0">
              <a:latin typeface="Consolas" panose="020B0609020204030204" pitchFamily="49" charset="0"/>
            </a:endParaRPr>
          </a:p>
        </p:txBody>
      </p:sp>
      <p:sp>
        <p:nvSpPr>
          <p:cNvPr id="4" name="Footer Placeholder 3">
            <a:extLst>
              <a:ext uri="{FF2B5EF4-FFF2-40B4-BE49-F238E27FC236}">
                <a16:creationId xmlns:a16="http://schemas.microsoft.com/office/drawing/2014/main" id="{9132862A-337F-9803-D254-B4B936279A5E}"/>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6067CDB-9966-0D9C-60DD-22AE394124EE}"/>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4</a:t>
            </a:fld>
            <a:endParaRPr lang="en-US"/>
          </a:p>
        </p:txBody>
      </p:sp>
    </p:spTree>
    <p:extLst>
      <p:ext uri="{BB962C8B-B14F-4D97-AF65-F5344CB8AC3E}">
        <p14:creationId xmlns:p14="http://schemas.microsoft.com/office/powerpoint/2010/main" val="303194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7BC2-04C2-F302-035C-5C6D52E7EF8D}"/>
              </a:ext>
            </a:extLst>
          </p:cNvPr>
          <p:cNvSpPr>
            <a:spLocks noGrp="1"/>
          </p:cNvSpPr>
          <p:nvPr>
            <p:ph type="title"/>
          </p:nvPr>
        </p:nvSpPr>
        <p:spPr/>
        <p:txBody>
          <a:bodyPr/>
          <a:lstStyle/>
          <a:p>
            <a:r>
              <a:rPr lang="en-US" dirty="0"/>
              <a:t>Examples: Enumerated Types</a:t>
            </a:r>
          </a:p>
        </p:txBody>
      </p:sp>
      <p:sp>
        <p:nvSpPr>
          <p:cNvPr id="3" name="Content Placeholder 2">
            <a:extLst>
              <a:ext uri="{FF2B5EF4-FFF2-40B4-BE49-F238E27FC236}">
                <a16:creationId xmlns:a16="http://schemas.microsoft.com/office/drawing/2014/main" id="{5FD14374-840F-265A-126E-9E0F59895214}"/>
              </a:ext>
            </a:extLst>
          </p:cNvPr>
          <p:cNvSpPr>
            <a:spLocks noGrp="1"/>
          </p:cNvSpPr>
          <p:nvPr>
            <p:ph idx="1"/>
          </p:nvPr>
        </p:nvSpPr>
        <p:spPr/>
        <p:txBody>
          <a:bodyPr/>
          <a:lstStyle/>
          <a:p>
            <a:pPr marL="0" indent="0">
              <a:spcBef>
                <a:spcPts val="0"/>
              </a:spcBef>
              <a:buNone/>
            </a:pPr>
            <a:r>
              <a:rPr lang="en-US" sz="1800" dirty="0">
                <a:latin typeface="Consolas" panose="020B0609020204030204" pitchFamily="49" charset="0"/>
              </a:rPr>
              <a:t>type Day = &lt;Sun, Mon, Tue, Wed, Thu, Fri, Sat&gt;;</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var wed : Day := </a:t>
            </a:r>
            <a:r>
              <a:rPr lang="en-US" sz="1800" dirty="0" err="1">
                <a:latin typeface="Consolas" panose="020B0609020204030204" pitchFamily="49" charset="0"/>
              </a:rPr>
              <a:t>Day.Wed</a:t>
            </a:r>
            <a:r>
              <a:rPr lang="en-US" sz="1800" dirty="0">
                <a:latin typeface="Consolas" panose="020B0609020204030204" pitchFamily="49" charset="0"/>
              </a:rPr>
              <a:t>;</a:t>
            </a:r>
          </a:p>
          <a:p>
            <a:pPr marL="0" indent="0">
              <a:spcBef>
                <a:spcPts val="0"/>
              </a:spcBef>
              <a:buNone/>
            </a:pPr>
            <a:r>
              <a:rPr lang="en-US" sz="1800" dirty="0" err="1">
                <a:latin typeface="Consolas" panose="020B0609020204030204" pitchFamily="49" charset="0"/>
              </a:rPr>
              <a:t>writeln</a:t>
            </a:r>
            <a:r>
              <a:rPr lang="en-US" sz="1800" dirty="0">
                <a:latin typeface="Consolas" panose="020B0609020204030204" pitchFamily="49" charset="0"/>
              </a:rPr>
              <a:t> "Day number for variable wed is ", wed;   // writes 3</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var d : Day;</a:t>
            </a:r>
          </a:p>
          <a:p>
            <a:pPr marL="0" indent="0">
              <a:spcBef>
                <a:spcPts val="0"/>
              </a:spcBef>
              <a:buNone/>
            </a:pPr>
            <a:r>
              <a:rPr lang="en-US" sz="1800" dirty="0">
                <a:latin typeface="Consolas" panose="020B0609020204030204" pitchFamily="49" charset="0"/>
              </a:rPr>
              <a:t>d := 4;         // *** Illegal in CPRL ***</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for d in Day.Sun..</a:t>
            </a:r>
            <a:r>
              <a:rPr lang="en-US" sz="1800" dirty="0" err="1">
                <a:latin typeface="Consolas" panose="020B0609020204030204" pitchFamily="49" charset="0"/>
              </a:rPr>
              <a:t>Day.Sat</a:t>
            </a:r>
            <a:r>
              <a:rPr lang="en-US" sz="1800" dirty="0">
                <a:latin typeface="Consolas" panose="020B0609020204030204" pitchFamily="49" charset="0"/>
              </a:rPr>
              <a:t> loop</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writeln</a:t>
            </a:r>
            <a:r>
              <a:rPr lang="en-US" sz="1800" dirty="0">
                <a:latin typeface="Consolas" panose="020B0609020204030204" pitchFamily="49" charset="0"/>
              </a:rPr>
              <a:t> "day number = ", d;          // writes 0, 1, ... 6</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fun </a:t>
            </a:r>
            <a:r>
              <a:rPr lang="en-US" sz="1800" dirty="0" err="1">
                <a:latin typeface="Consolas" panose="020B0609020204030204" pitchFamily="49" charset="0"/>
              </a:rPr>
              <a:t>isWeekDay</a:t>
            </a:r>
            <a:r>
              <a:rPr lang="en-US" sz="1800" dirty="0">
                <a:latin typeface="Consolas" panose="020B0609020204030204" pitchFamily="49" charset="0"/>
              </a:rPr>
              <a:t>(d : Day) : Boolean</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 note use of relational operators</a:t>
            </a:r>
          </a:p>
          <a:p>
            <a:pPr marL="0" indent="0">
              <a:spcBef>
                <a:spcPts val="0"/>
              </a:spcBef>
              <a:buNone/>
            </a:pPr>
            <a:r>
              <a:rPr lang="en-US" sz="1800" dirty="0">
                <a:latin typeface="Consolas" panose="020B0609020204030204" pitchFamily="49" charset="0"/>
              </a:rPr>
              <a:t>    return d &gt;= </a:t>
            </a:r>
            <a:r>
              <a:rPr lang="en-US" sz="1800" dirty="0" err="1">
                <a:latin typeface="Consolas" panose="020B0609020204030204" pitchFamily="49" charset="0"/>
              </a:rPr>
              <a:t>Day.Mon</a:t>
            </a:r>
            <a:r>
              <a:rPr lang="en-US" sz="1800" dirty="0">
                <a:latin typeface="Consolas" panose="020B0609020204030204" pitchFamily="49" charset="0"/>
              </a:rPr>
              <a:t> and d &lt;= </a:t>
            </a:r>
            <a:r>
              <a:rPr lang="en-US" sz="1800" dirty="0" err="1">
                <a:latin typeface="Consolas" panose="020B0609020204030204" pitchFamily="49" charset="0"/>
              </a:rPr>
              <a:t>Day.Fri</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p>
          <a:p>
            <a:pPr marL="0" indent="0">
              <a:spcBef>
                <a:spcPts val="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CB9CF7C1-D1BE-73D2-28EB-B8580B03CF79}"/>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F974B3C6-8152-A4AC-2384-46455EB37F24}"/>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5</a:t>
            </a:fld>
            <a:endParaRPr lang="en-US"/>
          </a:p>
        </p:txBody>
      </p:sp>
    </p:spTree>
    <p:extLst>
      <p:ext uri="{BB962C8B-B14F-4D97-AF65-F5344CB8AC3E}">
        <p14:creationId xmlns:p14="http://schemas.microsoft.com/office/powerpoint/2010/main" val="222064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13F31-43F8-2A8D-1703-B9BD1502B4D3}"/>
              </a:ext>
            </a:extLst>
          </p:cNvPr>
          <p:cNvSpPr>
            <a:spLocks noGrp="1"/>
          </p:cNvSpPr>
          <p:nvPr>
            <p:ph type="title"/>
          </p:nvPr>
        </p:nvSpPr>
        <p:spPr/>
        <p:txBody>
          <a:bodyPr/>
          <a:lstStyle/>
          <a:p>
            <a:r>
              <a:rPr lang="en-US" dirty="0"/>
              <a:t>Examples: Enumerated Types</a:t>
            </a:r>
            <a:br>
              <a:rPr lang="en-US" dirty="0"/>
            </a:br>
            <a:r>
              <a:rPr lang="en-US" sz="2400" dirty="0"/>
              <a:t>(continued)</a:t>
            </a:r>
            <a:endParaRPr lang="en-US" dirty="0"/>
          </a:p>
        </p:txBody>
      </p:sp>
      <p:sp>
        <p:nvSpPr>
          <p:cNvPr id="3" name="Content Placeholder 2">
            <a:extLst>
              <a:ext uri="{FF2B5EF4-FFF2-40B4-BE49-F238E27FC236}">
                <a16:creationId xmlns:a16="http://schemas.microsoft.com/office/drawing/2014/main" id="{BBB7B421-8363-3907-FA57-EB40CC1C2010}"/>
              </a:ext>
            </a:extLst>
          </p:cNvPr>
          <p:cNvSpPr>
            <a:spLocks noGrp="1"/>
          </p:cNvSpPr>
          <p:nvPr>
            <p:ph idx="1"/>
          </p:nvPr>
        </p:nvSpPr>
        <p:spPr/>
        <p:txBody>
          <a:bodyPr/>
          <a:lstStyle/>
          <a:p>
            <a:pPr marL="0" indent="0">
              <a:spcBef>
                <a:spcPts val="0"/>
              </a:spcBef>
              <a:buNone/>
            </a:pPr>
            <a:r>
              <a:rPr lang="en-US" sz="1800" dirty="0">
                <a:latin typeface="Consolas" panose="020B0609020204030204" pitchFamily="49" charset="0"/>
              </a:rPr>
              <a:t>var </a:t>
            </a:r>
            <a:r>
              <a:rPr lang="en-US" sz="1800" dirty="0" err="1">
                <a:latin typeface="Consolas" panose="020B0609020204030204" pitchFamily="49" charset="0"/>
              </a:rPr>
              <a:t>dayNames</a:t>
            </a:r>
            <a:r>
              <a:rPr lang="en-US" sz="1800" dirty="0">
                <a:latin typeface="Consolas" panose="020B0609020204030204" pitchFamily="49" charset="0"/>
              </a:rPr>
              <a:t> : array[7] of String</a:t>
            </a:r>
          </a:p>
          <a:p>
            <a:pPr marL="0" indent="0">
              <a:spcBef>
                <a:spcPts val="0"/>
              </a:spcBef>
              <a:buNone/>
            </a:pPr>
            <a:r>
              <a:rPr lang="en-US" sz="1800" dirty="0">
                <a:latin typeface="Consolas" panose="020B0609020204030204" pitchFamily="49" charset="0"/>
              </a:rPr>
              <a:t>       := { "Sun", "Mon", "Tue", "Wed", "Thu", "Fri", "Sat" };</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fun </a:t>
            </a:r>
            <a:r>
              <a:rPr lang="en-US" sz="1800" dirty="0" err="1">
                <a:latin typeface="Consolas" panose="020B0609020204030204" pitchFamily="49" charset="0"/>
              </a:rPr>
              <a:t>toString</a:t>
            </a:r>
            <a:r>
              <a:rPr lang="en-US" sz="1800" dirty="0">
                <a:latin typeface="Consolas" panose="020B0609020204030204" pitchFamily="49" charset="0"/>
              </a:rPr>
              <a:t>(d : Day) : String</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return </a:t>
            </a:r>
            <a:r>
              <a:rPr lang="en-US" sz="1800" dirty="0" err="1">
                <a:latin typeface="Consolas" panose="020B0609020204030204" pitchFamily="49" charset="0"/>
              </a:rPr>
              <a:t>dayNames</a:t>
            </a:r>
            <a:r>
              <a:rPr lang="en-US" sz="1800" dirty="0">
                <a:latin typeface="Consolas" panose="020B0609020204030204" pitchFamily="49" charset="0"/>
              </a:rPr>
              <a:t>[d];</a:t>
            </a:r>
          </a:p>
          <a:p>
            <a:pPr marL="0" indent="0">
              <a:spcBef>
                <a:spcPts val="0"/>
              </a:spcBef>
              <a:buNone/>
            </a:pPr>
            <a:r>
              <a:rPr lang="en-US" sz="1800" dirty="0">
                <a:latin typeface="Consolas" panose="020B0609020204030204" pitchFamily="49" charset="0"/>
              </a:rPr>
              <a:t>  }</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for d in Day.Sun..</a:t>
            </a:r>
            <a:r>
              <a:rPr lang="en-US" sz="1800" dirty="0" err="1">
                <a:latin typeface="Consolas" panose="020B0609020204030204" pitchFamily="49" charset="0"/>
              </a:rPr>
              <a:t>Day.Sat</a:t>
            </a:r>
            <a:r>
              <a:rPr lang="en-US" sz="1800" dirty="0">
                <a:latin typeface="Consolas" panose="020B0609020204030204" pitchFamily="49" charset="0"/>
              </a:rPr>
              <a:t> loop   // writes string values</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writeln</a:t>
            </a:r>
            <a:r>
              <a:rPr lang="en-US" sz="1800" dirty="0">
                <a:latin typeface="Consolas" panose="020B0609020204030204" pitchFamily="49" charset="0"/>
              </a:rPr>
              <a:t> </a:t>
            </a:r>
            <a:r>
              <a:rPr lang="en-US" sz="1800" dirty="0" err="1">
                <a:latin typeface="Consolas" panose="020B0609020204030204" pitchFamily="49" charset="0"/>
              </a:rPr>
              <a:t>toString</a:t>
            </a:r>
            <a:r>
              <a:rPr lang="en-US" sz="1800" dirty="0">
                <a:latin typeface="Consolas" panose="020B0609020204030204" pitchFamily="49" charset="0"/>
              </a:rPr>
              <a:t>(d);         // "Sun", "Mon", ... "Sat"</a:t>
            </a:r>
          </a:p>
          <a:p>
            <a:pPr marL="0" indent="0">
              <a:spcBef>
                <a:spcPts val="0"/>
              </a:spcBef>
              <a:buNone/>
            </a:pPr>
            <a:r>
              <a:rPr lang="en-US" sz="1800" dirty="0">
                <a:latin typeface="Consolas" panose="020B0609020204030204" pitchFamily="49" charset="0"/>
              </a:rPr>
              <a:t>                           </a:t>
            </a:r>
          </a:p>
          <a:p>
            <a:pPr marL="0" indent="0">
              <a:spcBef>
                <a:spcPts val="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5E374999-5B46-A27A-2E6E-CF5CFC4B1C49}"/>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791EDA1A-3826-448E-FD76-6353AA924B90}"/>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6</a:t>
            </a:fld>
            <a:endParaRPr lang="en-US"/>
          </a:p>
        </p:txBody>
      </p:sp>
    </p:spTree>
    <p:extLst>
      <p:ext uri="{BB962C8B-B14F-4D97-AF65-F5344CB8AC3E}">
        <p14:creationId xmlns:p14="http://schemas.microsoft.com/office/powerpoint/2010/main" val="2771515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FBBB0-9DDE-9C05-C335-094FFE632886}"/>
              </a:ext>
            </a:extLst>
          </p:cNvPr>
          <p:cNvSpPr>
            <a:spLocks noGrp="1"/>
          </p:cNvSpPr>
          <p:nvPr>
            <p:ph type="title"/>
          </p:nvPr>
        </p:nvSpPr>
        <p:spPr/>
        <p:txBody>
          <a:bodyPr/>
          <a:lstStyle/>
          <a:p>
            <a:r>
              <a:rPr lang="en-US" dirty="0"/>
              <a:t>Implementing CPRL Enumerated Types</a:t>
            </a:r>
          </a:p>
        </p:txBody>
      </p:sp>
      <p:sp>
        <p:nvSpPr>
          <p:cNvPr id="3" name="Content Placeholder 2">
            <a:extLst>
              <a:ext uri="{FF2B5EF4-FFF2-40B4-BE49-F238E27FC236}">
                <a16:creationId xmlns:a16="http://schemas.microsoft.com/office/drawing/2014/main" id="{AFAAC937-82F8-FDA7-EB79-0B287ED46919}"/>
              </a:ext>
            </a:extLst>
          </p:cNvPr>
          <p:cNvSpPr>
            <a:spLocks noGrp="1"/>
          </p:cNvSpPr>
          <p:nvPr>
            <p:ph idx="1"/>
          </p:nvPr>
        </p:nvSpPr>
        <p:spPr/>
        <p:txBody>
          <a:bodyPr/>
          <a:lstStyle/>
          <a:p>
            <a:r>
              <a:rPr lang="en-US" dirty="0"/>
              <a:t>Grammar rules</a:t>
            </a:r>
          </a:p>
          <a:p>
            <a:pPr marL="457200" lvl="1" indent="0">
              <a:buNone/>
            </a:pPr>
            <a:r>
              <a:rPr lang="en-US" sz="1800" dirty="0" err="1">
                <a:latin typeface="Consolas" panose="020B0609020204030204" pitchFamily="49" charset="0"/>
              </a:rPr>
              <a:t>enumTypeDecl</a:t>
            </a:r>
            <a:r>
              <a:rPr lang="en-US" sz="1800" dirty="0">
                <a:latin typeface="Consolas" panose="020B0609020204030204" pitchFamily="49" charset="0"/>
              </a:rPr>
              <a:t> = "type" </a:t>
            </a:r>
            <a:r>
              <a:rPr lang="en-US" sz="1800" dirty="0" err="1">
                <a:latin typeface="Consolas" panose="020B0609020204030204" pitchFamily="49" charset="0"/>
              </a:rPr>
              <a:t>typeId</a:t>
            </a:r>
            <a:r>
              <a:rPr lang="en-US" sz="1800" dirty="0">
                <a:latin typeface="Consolas" panose="020B0609020204030204" pitchFamily="49" charset="0"/>
              </a:rPr>
              <a:t> "=" "&lt;" identifiers "&gt;" ";" .</a:t>
            </a:r>
          </a:p>
          <a:p>
            <a:pPr marL="457200" lvl="1" indent="0">
              <a:buNone/>
            </a:pPr>
            <a:r>
              <a:rPr lang="en-US" sz="1800" dirty="0" err="1">
                <a:latin typeface="Consolas" panose="020B0609020204030204" pitchFamily="49" charset="0"/>
              </a:rPr>
              <a:t>enumConstValue</a:t>
            </a:r>
            <a:r>
              <a:rPr lang="en-US" sz="1800" dirty="0">
                <a:latin typeface="Consolas" panose="020B0609020204030204" pitchFamily="49" charset="0"/>
              </a:rPr>
              <a:t> = </a:t>
            </a:r>
            <a:r>
              <a:rPr lang="en-US" sz="1800" dirty="0" err="1">
                <a:latin typeface="Consolas" panose="020B0609020204030204" pitchFamily="49" charset="0"/>
              </a:rPr>
              <a:t>enumTypeId</a:t>
            </a:r>
            <a:r>
              <a:rPr lang="en-US" sz="1800" dirty="0">
                <a:latin typeface="Consolas" panose="020B0609020204030204" pitchFamily="49" charset="0"/>
              </a:rPr>
              <a:t> "." </a:t>
            </a:r>
            <a:r>
              <a:rPr lang="en-US" sz="1800" dirty="0" err="1">
                <a:latin typeface="Consolas" panose="020B0609020204030204" pitchFamily="49" charset="0"/>
              </a:rPr>
              <a:t>enumConstId</a:t>
            </a:r>
            <a:r>
              <a:rPr lang="en-US" sz="1800" dirty="0">
                <a:latin typeface="Consolas" panose="020B0609020204030204" pitchFamily="49" charset="0"/>
              </a:rPr>
              <a:t> .</a:t>
            </a:r>
          </a:p>
          <a:p>
            <a:r>
              <a:rPr lang="en-US" dirty="0"/>
              <a:t>Corresponding parser methods</a:t>
            </a:r>
          </a:p>
          <a:p>
            <a:pPr marL="457200" lvl="1" indent="0">
              <a:buNone/>
            </a:pPr>
            <a:r>
              <a:rPr lang="en-US" sz="1800" dirty="0">
                <a:latin typeface="Consolas" panose="020B0609020204030204" pitchFamily="49" charset="0"/>
              </a:rPr>
              <a:t>private </a:t>
            </a:r>
            <a:r>
              <a:rPr lang="en-US" sz="1800" dirty="0" err="1">
                <a:latin typeface="Consolas" panose="020B0609020204030204" pitchFamily="49" charset="0"/>
              </a:rPr>
              <a:t>InitialDecl</a:t>
            </a:r>
            <a:r>
              <a:rPr lang="en-US" sz="1800" dirty="0">
                <a:latin typeface="Consolas" panose="020B0609020204030204" pitchFamily="49" charset="0"/>
              </a:rPr>
              <a:t> </a:t>
            </a:r>
            <a:r>
              <a:rPr lang="en-US" sz="1800" dirty="0" err="1">
                <a:latin typeface="Consolas" panose="020B0609020204030204" pitchFamily="49" charset="0"/>
              </a:rPr>
              <a:t>parseEnumTypeDecl</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private Expression </a:t>
            </a:r>
            <a:r>
              <a:rPr lang="en-US" sz="1800" dirty="0" err="1">
                <a:latin typeface="Consolas" panose="020B0609020204030204" pitchFamily="49" charset="0"/>
              </a:rPr>
              <a:t>parseEnumConstValue</a:t>
            </a:r>
            <a:r>
              <a:rPr lang="en-US" sz="1800" dirty="0">
                <a:latin typeface="Consolas" panose="020B0609020204030204" pitchFamily="49" charset="0"/>
              </a:rPr>
              <a:t>()</a:t>
            </a:r>
          </a:p>
          <a:p>
            <a:pPr marL="457200" lvl="1" indent="0">
              <a:buNone/>
            </a:pPr>
            <a:endParaRPr lang="en-US" dirty="0"/>
          </a:p>
        </p:txBody>
      </p:sp>
      <p:sp>
        <p:nvSpPr>
          <p:cNvPr id="4" name="Footer Placeholder 3">
            <a:extLst>
              <a:ext uri="{FF2B5EF4-FFF2-40B4-BE49-F238E27FC236}">
                <a16:creationId xmlns:a16="http://schemas.microsoft.com/office/drawing/2014/main" id="{7E8649DC-F7DE-46BA-EB8E-4F8DAD676A85}"/>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3DC42C8F-78C1-0030-BF3C-B79262CE25B5}"/>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7</a:t>
            </a:fld>
            <a:endParaRPr lang="en-US"/>
          </a:p>
        </p:txBody>
      </p:sp>
    </p:spTree>
    <p:extLst>
      <p:ext uri="{BB962C8B-B14F-4D97-AF65-F5344CB8AC3E}">
        <p14:creationId xmlns:p14="http://schemas.microsoft.com/office/powerpoint/2010/main" val="3215308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1306D-6DED-13DD-0311-9004B5396F4B}"/>
              </a:ext>
            </a:extLst>
          </p:cNvPr>
          <p:cNvSpPr>
            <a:spLocks noGrp="1"/>
          </p:cNvSpPr>
          <p:nvPr>
            <p:ph type="title"/>
          </p:nvPr>
        </p:nvSpPr>
        <p:spPr/>
        <p:txBody>
          <a:bodyPr/>
          <a:lstStyle/>
          <a:p>
            <a:r>
              <a:rPr lang="en-US" dirty="0"/>
              <a:t>Constraint Rules for Enumerated Types</a:t>
            </a:r>
          </a:p>
        </p:txBody>
      </p:sp>
      <p:sp>
        <p:nvSpPr>
          <p:cNvPr id="3" name="Content Placeholder 2">
            <a:extLst>
              <a:ext uri="{FF2B5EF4-FFF2-40B4-BE49-F238E27FC236}">
                <a16:creationId xmlns:a16="http://schemas.microsoft.com/office/drawing/2014/main" id="{6688DCE4-4AB1-458D-E3D1-6229BD4F730E}"/>
              </a:ext>
            </a:extLst>
          </p:cNvPr>
          <p:cNvSpPr>
            <a:spLocks noGrp="1"/>
          </p:cNvSpPr>
          <p:nvPr>
            <p:ph idx="1"/>
          </p:nvPr>
        </p:nvSpPr>
        <p:spPr/>
        <p:txBody>
          <a:bodyPr/>
          <a:lstStyle/>
          <a:p>
            <a:r>
              <a:rPr lang="en-US" dirty="0"/>
              <a:t>Only one scope rule for enumerated types</a:t>
            </a:r>
          </a:p>
          <a:p>
            <a:r>
              <a:rPr lang="en-US" dirty="0"/>
              <a:t>Names (identifiers) for enum constants must be unique within an enumerated type declaration.</a:t>
            </a:r>
          </a:p>
        </p:txBody>
      </p:sp>
      <p:sp>
        <p:nvSpPr>
          <p:cNvPr id="4" name="Footer Placeholder 3">
            <a:extLst>
              <a:ext uri="{FF2B5EF4-FFF2-40B4-BE49-F238E27FC236}">
                <a16:creationId xmlns:a16="http://schemas.microsoft.com/office/drawing/2014/main" id="{D466ED23-B75C-8ABF-B276-C23717B3ABFD}"/>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9512B5B0-30A7-87F7-19CE-B8CF3926770A}"/>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8</a:t>
            </a:fld>
            <a:endParaRPr lang="en-US"/>
          </a:p>
        </p:txBody>
      </p:sp>
    </p:spTree>
    <p:extLst>
      <p:ext uri="{BB962C8B-B14F-4D97-AF65-F5344CB8AC3E}">
        <p14:creationId xmlns:p14="http://schemas.microsoft.com/office/powerpoint/2010/main" val="3933483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0DE06-1908-FA44-666F-F840E591014F}"/>
              </a:ext>
            </a:extLst>
          </p:cNvPr>
          <p:cNvSpPr>
            <a:spLocks noGrp="1"/>
          </p:cNvSpPr>
          <p:nvPr>
            <p:ph type="title"/>
          </p:nvPr>
        </p:nvSpPr>
        <p:spPr/>
        <p:txBody>
          <a:bodyPr/>
          <a:lstStyle/>
          <a:p>
            <a:r>
              <a:rPr lang="en-US" dirty="0"/>
              <a:t>Method </a:t>
            </a:r>
            <a:r>
              <a:rPr lang="en-US" sz="2700" dirty="0" err="1">
                <a:latin typeface="Consolas" panose="020B0609020204030204" pitchFamily="49" charset="0"/>
              </a:rPr>
              <a:t>parseEnumTypeDecl</a:t>
            </a:r>
            <a:r>
              <a:rPr lang="en-US" sz="2700" dirty="0">
                <a:latin typeface="Consolas" panose="020B0609020204030204" pitchFamily="49" charset="0"/>
              </a:rPr>
              <a:t>()</a:t>
            </a:r>
          </a:p>
        </p:txBody>
      </p:sp>
      <p:sp>
        <p:nvSpPr>
          <p:cNvPr id="3" name="Content Placeholder 2">
            <a:extLst>
              <a:ext uri="{FF2B5EF4-FFF2-40B4-BE49-F238E27FC236}">
                <a16:creationId xmlns:a16="http://schemas.microsoft.com/office/drawing/2014/main" id="{CCBD8652-4C50-BA0F-A8DB-720F77B8B498}"/>
              </a:ext>
            </a:extLst>
          </p:cNvPr>
          <p:cNvSpPr>
            <a:spLocks noGrp="1"/>
          </p:cNvSpPr>
          <p:nvPr>
            <p:ph idx="1"/>
          </p:nvPr>
        </p:nvSpPr>
        <p:spPr>
          <a:xfrm>
            <a:off x="458787" y="1363663"/>
            <a:ext cx="8321040" cy="4935537"/>
          </a:xfrm>
        </p:spPr>
        <p:txBody>
          <a:bodyPr/>
          <a:lstStyle/>
          <a:p>
            <a:r>
              <a:rPr lang="en-US" dirty="0"/>
              <a:t>Method </a:t>
            </a:r>
            <a:r>
              <a:rPr lang="en-US" sz="2300" dirty="0" err="1">
                <a:latin typeface="Consolas" panose="020B0609020204030204" pitchFamily="49" charset="0"/>
              </a:rPr>
              <a:t>parseEnumTypeDecl</a:t>
            </a:r>
            <a:r>
              <a:rPr lang="en-US" sz="2300" dirty="0">
                <a:latin typeface="Consolas" panose="020B0609020204030204" pitchFamily="49" charset="0"/>
              </a:rPr>
              <a:t>()</a:t>
            </a:r>
          </a:p>
          <a:p>
            <a:pPr lvl="1"/>
            <a:r>
              <a:rPr lang="en-US" dirty="0"/>
              <a:t>parses the enum type name (</a:t>
            </a:r>
            <a:r>
              <a:rPr lang="en-US" dirty="0" err="1">
                <a:latin typeface="Consolas" panose="020B0609020204030204" pitchFamily="49" charset="0"/>
              </a:rPr>
              <a:t>typeId</a:t>
            </a:r>
            <a:r>
              <a:rPr lang="en-US" dirty="0"/>
              <a:t>)</a:t>
            </a:r>
          </a:p>
          <a:p>
            <a:pPr lvl="1"/>
            <a:r>
              <a:rPr lang="en-US" dirty="0"/>
              <a:t>calls </a:t>
            </a:r>
            <a:r>
              <a:rPr lang="en-US" sz="1900" dirty="0" err="1">
                <a:latin typeface="Consolas" panose="020B0609020204030204" pitchFamily="49" charset="0"/>
              </a:rPr>
              <a:t>parseIdentifiers</a:t>
            </a:r>
            <a:r>
              <a:rPr lang="en-US" sz="1900" dirty="0">
                <a:latin typeface="Consolas" panose="020B0609020204030204" pitchFamily="49" charset="0"/>
              </a:rPr>
              <a:t>()</a:t>
            </a:r>
            <a:r>
              <a:rPr lang="en-US" dirty="0"/>
              <a:t> to get the list of enum constant names</a:t>
            </a:r>
          </a:p>
          <a:p>
            <a:pPr lvl="1"/>
            <a:r>
              <a:rPr lang="en-US" dirty="0"/>
              <a:t>uses them to create an instance of </a:t>
            </a:r>
            <a:r>
              <a:rPr lang="en-US" dirty="0" err="1">
                <a:latin typeface="Consolas" panose="020B0609020204030204" pitchFamily="49" charset="0"/>
              </a:rPr>
              <a:t>EnumTypeDecl</a:t>
            </a:r>
            <a:endParaRPr lang="en-US" dirty="0">
              <a:latin typeface="Consolas" panose="020B0609020204030204" pitchFamily="49" charset="0"/>
            </a:endParaRPr>
          </a:p>
          <a:p>
            <a:pPr lvl="1"/>
            <a:r>
              <a:rPr lang="en-US" dirty="0"/>
              <a:t>adds the type declaration to the identifier table in the current scope</a:t>
            </a:r>
          </a:p>
          <a:p>
            <a:pPr lvl="1"/>
            <a:r>
              <a:rPr lang="en-US" dirty="0"/>
              <a:t>returns the type declaration</a:t>
            </a:r>
          </a:p>
          <a:p>
            <a:r>
              <a:rPr lang="en-US" dirty="0"/>
              <a:t>Constructor for class </a:t>
            </a:r>
            <a:r>
              <a:rPr lang="en-US" sz="2300" dirty="0" err="1">
                <a:latin typeface="Consolas" panose="020B0609020204030204" pitchFamily="49" charset="0"/>
              </a:rPr>
              <a:t>EnumTypeDecl</a:t>
            </a:r>
            <a:endParaRPr lang="en-US" sz="2300" dirty="0">
              <a:latin typeface="Consolas" panose="020B0609020204030204" pitchFamily="49" charset="0"/>
            </a:endParaRPr>
          </a:p>
          <a:p>
            <a:pPr marL="457200" lvl="1" indent="0">
              <a:buNone/>
            </a:pPr>
            <a:r>
              <a:rPr lang="en-US" sz="1800" dirty="0">
                <a:latin typeface="Consolas" panose="020B0609020204030204" pitchFamily="49" charset="0"/>
              </a:rPr>
              <a:t>public </a:t>
            </a:r>
            <a:r>
              <a:rPr lang="en-US" sz="1800" dirty="0" err="1">
                <a:latin typeface="Consolas" panose="020B0609020204030204" pitchFamily="49" charset="0"/>
              </a:rPr>
              <a:t>EnumTypeDecl</a:t>
            </a:r>
            <a:r>
              <a:rPr lang="en-US" sz="1800" dirty="0">
                <a:latin typeface="Consolas" panose="020B0609020204030204" pitchFamily="49" charset="0"/>
              </a:rPr>
              <a:t>(Token </a:t>
            </a:r>
            <a:r>
              <a:rPr lang="en-US" sz="1800" dirty="0" err="1">
                <a:latin typeface="Consolas" panose="020B0609020204030204" pitchFamily="49" charset="0"/>
              </a:rPr>
              <a:t>typeId</a:t>
            </a:r>
            <a:r>
              <a:rPr lang="en-US" sz="1800" dirty="0">
                <a:latin typeface="Consolas" panose="020B0609020204030204" pitchFamily="49" charset="0"/>
              </a:rPr>
              <a:t>, List&lt;Token&gt; </a:t>
            </a:r>
            <a:r>
              <a:rPr lang="en-US" sz="1800" dirty="0" err="1">
                <a:latin typeface="Consolas" panose="020B0609020204030204" pitchFamily="49" charset="0"/>
              </a:rPr>
              <a:t>enumNames</a:t>
            </a:r>
            <a:r>
              <a:rPr lang="en-US" sz="1800" dirty="0">
                <a:latin typeface="Consolas" panose="020B0609020204030204" pitchFamily="49" charset="0"/>
              </a:rPr>
              <a:t>)</a:t>
            </a:r>
          </a:p>
          <a:p>
            <a:r>
              <a:rPr lang="en-US" dirty="0"/>
              <a:t>In method </a:t>
            </a:r>
            <a:r>
              <a:rPr lang="en-US" sz="2300" dirty="0" err="1">
                <a:latin typeface="Consolas" panose="020B0609020204030204" pitchFamily="49" charset="0"/>
              </a:rPr>
              <a:t>parseEnumTypeDecl</a:t>
            </a:r>
            <a:r>
              <a:rPr lang="en-US" sz="2300" dirty="0">
                <a:latin typeface="Consolas" panose="020B0609020204030204" pitchFamily="49" charset="0"/>
              </a:rPr>
              <a:t>()</a:t>
            </a:r>
          </a:p>
          <a:p>
            <a:pPr marL="457200" lvl="1" indent="0">
              <a:buNone/>
            </a:pPr>
            <a:r>
              <a:rPr lang="en-US" sz="1800" dirty="0">
                <a:latin typeface="Consolas" panose="020B0609020204030204" pitchFamily="49" charset="0"/>
              </a:rPr>
              <a:t>var </a:t>
            </a:r>
            <a:r>
              <a:rPr lang="en-US" sz="1800" dirty="0" err="1">
                <a:latin typeface="Consolas" panose="020B0609020204030204" pitchFamily="49" charset="0"/>
              </a:rPr>
              <a:t>enumTypeDecl</a:t>
            </a:r>
            <a:r>
              <a:rPr lang="en-US" sz="1800" dirty="0">
                <a:latin typeface="Consolas" panose="020B0609020204030204" pitchFamily="49" charset="0"/>
              </a:rPr>
              <a:t> = new </a:t>
            </a:r>
            <a:r>
              <a:rPr lang="en-US" sz="1800" dirty="0" err="1">
                <a:latin typeface="Consolas" panose="020B0609020204030204" pitchFamily="49" charset="0"/>
              </a:rPr>
              <a:t>EnumTypeDecl</a:t>
            </a:r>
            <a:r>
              <a:rPr lang="en-US" sz="1800" dirty="0">
                <a:latin typeface="Consolas" panose="020B0609020204030204" pitchFamily="49" charset="0"/>
              </a:rPr>
              <a:t>(</a:t>
            </a:r>
            <a:r>
              <a:rPr lang="en-US" sz="1800" dirty="0" err="1">
                <a:latin typeface="Consolas" panose="020B0609020204030204" pitchFamily="49" charset="0"/>
              </a:rPr>
              <a:t>typeId</a:t>
            </a:r>
            <a:r>
              <a:rPr lang="en-US" sz="1800" dirty="0">
                <a:latin typeface="Consolas" panose="020B0609020204030204" pitchFamily="49" charset="0"/>
              </a:rPr>
              <a:t>, identifiers);</a:t>
            </a:r>
          </a:p>
          <a:p>
            <a:pPr marL="457200" lvl="1" indent="0">
              <a:buNone/>
            </a:pPr>
            <a:r>
              <a:rPr lang="en-US" sz="1800" dirty="0" err="1">
                <a:latin typeface="Consolas" panose="020B0609020204030204" pitchFamily="49" charset="0"/>
              </a:rPr>
              <a:t>idTable.add</a:t>
            </a:r>
            <a:r>
              <a:rPr lang="en-US" sz="1800" dirty="0">
                <a:latin typeface="Consolas" panose="020B0609020204030204" pitchFamily="49" charset="0"/>
              </a:rPr>
              <a:t>(</a:t>
            </a:r>
            <a:r>
              <a:rPr lang="en-US" sz="1800" dirty="0" err="1">
                <a:latin typeface="Consolas" panose="020B0609020204030204" pitchFamily="49" charset="0"/>
              </a:rPr>
              <a:t>typeId</a:t>
            </a:r>
            <a:r>
              <a:rPr lang="en-US" sz="1800" dirty="0">
                <a:latin typeface="Consolas" panose="020B0609020204030204" pitchFamily="49" charset="0"/>
              </a:rPr>
              <a:t>, </a:t>
            </a:r>
            <a:r>
              <a:rPr lang="en-US" sz="1800" dirty="0" err="1">
                <a:latin typeface="Consolas" panose="020B0609020204030204" pitchFamily="49" charset="0"/>
              </a:rPr>
              <a:t>enumTypeDecl</a:t>
            </a:r>
            <a:r>
              <a:rPr lang="en-US" sz="1800" dirty="0">
                <a:latin typeface="Consolas" panose="020B0609020204030204" pitchFamily="49" charset="0"/>
              </a:rPr>
              <a:t>);</a:t>
            </a:r>
          </a:p>
          <a:p>
            <a:endParaRPr lang="en-US" dirty="0"/>
          </a:p>
        </p:txBody>
      </p:sp>
      <p:sp>
        <p:nvSpPr>
          <p:cNvPr id="4" name="Footer Placeholder 3">
            <a:extLst>
              <a:ext uri="{FF2B5EF4-FFF2-40B4-BE49-F238E27FC236}">
                <a16:creationId xmlns:a16="http://schemas.microsoft.com/office/drawing/2014/main" id="{BF0937B2-C52F-093F-9CA8-04675F2506C8}"/>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D1E12C67-F80B-6515-D4EF-B2BC13B64A92}"/>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9</a:t>
            </a:fld>
            <a:endParaRPr lang="en-US"/>
          </a:p>
        </p:txBody>
      </p:sp>
    </p:spTree>
    <p:extLst>
      <p:ext uri="{BB962C8B-B14F-4D97-AF65-F5344CB8AC3E}">
        <p14:creationId xmlns:p14="http://schemas.microsoft.com/office/powerpoint/2010/main" val="1039172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B534-0A75-B070-5738-0652693DA11A}"/>
              </a:ext>
            </a:extLst>
          </p:cNvPr>
          <p:cNvSpPr>
            <a:spLocks noGrp="1"/>
          </p:cNvSpPr>
          <p:nvPr>
            <p:ph type="title"/>
          </p:nvPr>
        </p:nvSpPr>
        <p:spPr/>
        <p:txBody>
          <a:bodyPr/>
          <a:lstStyle/>
          <a:p>
            <a:r>
              <a:rPr lang="en-US" dirty="0"/>
              <a:t>Method </a:t>
            </a:r>
            <a:r>
              <a:rPr lang="en-US" dirty="0" err="1">
                <a:latin typeface="Consolas" panose="020B0609020204030204" pitchFamily="49" charset="0"/>
              </a:rPr>
              <a:t>parseEnumTypeDecl</a:t>
            </a:r>
            <a:r>
              <a:rPr lang="en-US" dirty="0">
                <a:latin typeface="Consolas" panose="020B0609020204030204" pitchFamily="49" charset="0"/>
              </a:rPr>
              <a:t>()</a:t>
            </a:r>
            <a:br>
              <a:rPr lang="en-US" dirty="0">
                <a:latin typeface="Consolas" panose="020B0609020204030204" pitchFamily="49" charset="0"/>
              </a:rPr>
            </a:br>
            <a:r>
              <a:rPr lang="en-US" sz="2400" dirty="0"/>
              <a:t>(continued)</a:t>
            </a:r>
            <a:endParaRPr lang="en-US" dirty="0"/>
          </a:p>
        </p:txBody>
      </p:sp>
      <p:sp>
        <p:nvSpPr>
          <p:cNvPr id="3" name="Content Placeholder 2">
            <a:extLst>
              <a:ext uri="{FF2B5EF4-FFF2-40B4-BE49-F238E27FC236}">
                <a16:creationId xmlns:a16="http://schemas.microsoft.com/office/drawing/2014/main" id="{063D6422-F54F-A1F7-C38C-15CC7B84AB45}"/>
              </a:ext>
            </a:extLst>
          </p:cNvPr>
          <p:cNvSpPr>
            <a:spLocks noGrp="1"/>
          </p:cNvSpPr>
          <p:nvPr>
            <p:ph idx="1"/>
          </p:nvPr>
        </p:nvSpPr>
        <p:spPr/>
        <p:txBody>
          <a:bodyPr/>
          <a:lstStyle/>
          <a:p>
            <a:r>
              <a:rPr lang="en-US" dirty="0"/>
              <a:t>Ensuring that enum constant names are unique</a:t>
            </a:r>
          </a:p>
          <a:p>
            <a:pPr lvl="1"/>
            <a:r>
              <a:rPr lang="en-US" dirty="0"/>
              <a:t>Using </a:t>
            </a:r>
            <a:r>
              <a:rPr lang="en-US" dirty="0" err="1">
                <a:latin typeface="Consolas" panose="020B0609020204030204" pitchFamily="49" charset="0"/>
              </a:rPr>
              <a:t>IdTable</a:t>
            </a:r>
            <a:r>
              <a:rPr lang="en-US" dirty="0"/>
              <a:t> would be cumbersome since all we have is a set of identifier tokens – no declaration to add to </a:t>
            </a:r>
            <a:r>
              <a:rPr lang="en-US" dirty="0" err="1">
                <a:latin typeface="Consolas" panose="020B0609020204030204" pitchFamily="49" charset="0"/>
              </a:rPr>
              <a:t>IdTable</a:t>
            </a:r>
            <a:r>
              <a:rPr lang="en-US" dirty="0"/>
              <a:t>.</a:t>
            </a:r>
          </a:p>
          <a:p>
            <a:pPr lvl="1"/>
            <a:r>
              <a:rPr lang="en-US" dirty="0"/>
              <a:t>Use a </a:t>
            </a:r>
            <a:r>
              <a:rPr lang="en-US" b="1" dirty="0"/>
              <a:t>set</a:t>
            </a:r>
            <a:r>
              <a:rPr lang="en-US" dirty="0"/>
              <a:t> of strings to help filter out duplicates</a:t>
            </a:r>
          </a:p>
          <a:p>
            <a:pPr lvl="1"/>
            <a:r>
              <a:rPr lang="en-US" dirty="0"/>
              <a:t>Report an error message identical to the one that would have been generated by the identifier table for duplicate names in the current scope</a:t>
            </a:r>
          </a:p>
          <a:p>
            <a:pPr marL="457200" lvl="1" indent="0">
              <a:buNone/>
            </a:pPr>
            <a:endParaRPr lang="en-US" sz="1800" dirty="0">
              <a:latin typeface="Consolas" panose="020B0609020204030204" pitchFamily="49" charset="0"/>
            </a:endParaRPr>
          </a:p>
          <a:p>
            <a:pPr lvl="1"/>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BF92C9A8-A09E-39B7-A137-5E7CBAFBD93E}"/>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9F99F67A-C275-7F26-53A8-6316BED8A223}"/>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10</a:t>
            </a:fld>
            <a:endParaRPr lang="en-US"/>
          </a:p>
        </p:txBody>
      </p:sp>
    </p:spTree>
    <p:extLst>
      <p:ext uri="{BB962C8B-B14F-4D97-AF65-F5344CB8AC3E}">
        <p14:creationId xmlns:p14="http://schemas.microsoft.com/office/powerpoint/2010/main" val="688862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C1B29-F9DF-B9A9-D83D-13AA0F05F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DCE4B-3DB1-E21C-0801-6739D2934493}"/>
              </a:ext>
            </a:extLst>
          </p:cNvPr>
          <p:cNvSpPr>
            <a:spLocks noGrp="1"/>
          </p:cNvSpPr>
          <p:nvPr>
            <p:ph type="title"/>
          </p:nvPr>
        </p:nvSpPr>
        <p:spPr/>
        <p:txBody>
          <a:bodyPr/>
          <a:lstStyle/>
          <a:p>
            <a:r>
              <a:rPr lang="en-US" dirty="0"/>
              <a:t>Method </a:t>
            </a:r>
            <a:r>
              <a:rPr lang="en-US" dirty="0" err="1">
                <a:latin typeface="Consolas" panose="020B0609020204030204" pitchFamily="49" charset="0"/>
              </a:rPr>
              <a:t>parseEnumTypeDecl</a:t>
            </a:r>
            <a:r>
              <a:rPr lang="en-US" dirty="0">
                <a:latin typeface="Consolas" panose="020B0609020204030204" pitchFamily="49" charset="0"/>
              </a:rPr>
              <a:t>()</a:t>
            </a:r>
            <a:br>
              <a:rPr lang="en-US" dirty="0">
                <a:latin typeface="Consolas" panose="020B0609020204030204" pitchFamily="49" charset="0"/>
              </a:rPr>
            </a:br>
            <a:r>
              <a:rPr lang="en-US" sz="2400" dirty="0"/>
              <a:t>(continued)</a:t>
            </a:r>
            <a:endParaRPr lang="en-US" dirty="0"/>
          </a:p>
        </p:txBody>
      </p:sp>
      <p:sp>
        <p:nvSpPr>
          <p:cNvPr id="3" name="Content Placeholder 2">
            <a:extLst>
              <a:ext uri="{FF2B5EF4-FFF2-40B4-BE49-F238E27FC236}">
                <a16:creationId xmlns:a16="http://schemas.microsoft.com/office/drawing/2014/main" id="{7FFFD64F-89C1-E949-49C6-FEDCD238178E}"/>
              </a:ext>
            </a:extLst>
          </p:cNvPr>
          <p:cNvSpPr>
            <a:spLocks noGrp="1"/>
          </p:cNvSpPr>
          <p:nvPr>
            <p:ph idx="1"/>
          </p:nvPr>
        </p:nvSpPr>
        <p:spPr/>
        <p:txBody>
          <a:bodyPr/>
          <a:lstStyle/>
          <a:p>
            <a:pPr marL="182880" lvl="1" indent="0">
              <a:spcBef>
                <a:spcPts val="300"/>
              </a:spcBef>
              <a:buNone/>
            </a:pPr>
            <a:r>
              <a:rPr lang="en-US" sz="1800" dirty="0">
                <a:latin typeface="Consolas" panose="020B0609020204030204" pitchFamily="49" charset="0"/>
              </a:rPr>
              <a:t>var </a:t>
            </a:r>
            <a:r>
              <a:rPr lang="en-US" sz="1800" dirty="0" err="1">
                <a:latin typeface="Consolas" panose="020B0609020204030204" pitchFamily="49" charset="0"/>
              </a:rPr>
              <a:t>enumStrings</a:t>
            </a:r>
            <a:r>
              <a:rPr lang="en-US" sz="1800" dirty="0">
                <a:latin typeface="Consolas" panose="020B0609020204030204" pitchFamily="49" charset="0"/>
              </a:rPr>
              <a:t> = new HashSet&lt;String&gt;(</a:t>
            </a:r>
            <a:r>
              <a:rPr lang="en-US" sz="1800" dirty="0" err="1">
                <a:latin typeface="Consolas" panose="020B0609020204030204" pitchFamily="49" charset="0"/>
              </a:rPr>
              <a:t>identifiers.size</a:t>
            </a:r>
            <a:r>
              <a:rPr lang="en-US" sz="1800" dirty="0">
                <a:latin typeface="Consolas" panose="020B0609020204030204" pitchFamily="49" charset="0"/>
              </a:rPr>
              <a:t>());</a:t>
            </a:r>
          </a:p>
          <a:p>
            <a:pPr marL="182880" lvl="1" indent="0">
              <a:spcBef>
                <a:spcPts val="300"/>
              </a:spcBef>
              <a:buNone/>
            </a:pPr>
            <a:r>
              <a:rPr lang="en-US" sz="1800" dirty="0">
                <a:latin typeface="Consolas" panose="020B0609020204030204" pitchFamily="49" charset="0"/>
              </a:rPr>
              <a:t>for (var identifier : identifiers)</a:t>
            </a:r>
          </a:p>
          <a:p>
            <a:pPr marL="182880" lvl="1" indent="0">
              <a:spcBef>
                <a:spcPts val="300"/>
              </a:spcBef>
              <a:buNone/>
            </a:pPr>
            <a:r>
              <a:rPr lang="en-US" sz="1800" dirty="0">
                <a:latin typeface="Consolas" panose="020B0609020204030204" pitchFamily="49" charset="0"/>
              </a:rPr>
              <a:t>  {</a:t>
            </a:r>
          </a:p>
          <a:p>
            <a:pPr marL="182880" lvl="1" indent="0">
              <a:spcBef>
                <a:spcPts val="300"/>
              </a:spcBef>
              <a:buNone/>
            </a:pPr>
            <a:r>
              <a:rPr lang="en-US" sz="1800" dirty="0">
                <a:latin typeface="Consolas" panose="020B0609020204030204" pitchFamily="49" charset="0"/>
              </a:rPr>
              <a:t>    if (!</a:t>
            </a:r>
            <a:r>
              <a:rPr lang="en-US" sz="1800" dirty="0" err="1">
                <a:latin typeface="Consolas" panose="020B0609020204030204" pitchFamily="49" charset="0"/>
              </a:rPr>
              <a:t>enumStrings.contains</a:t>
            </a:r>
            <a:r>
              <a:rPr lang="en-US" sz="1800" dirty="0">
                <a:latin typeface="Consolas" panose="020B0609020204030204" pitchFamily="49" charset="0"/>
              </a:rPr>
              <a:t>(</a:t>
            </a:r>
            <a:r>
              <a:rPr lang="en-US" sz="1800" dirty="0" err="1">
                <a:latin typeface="Consolas" panose="020B0609020204030204" pitchFamily="49" charset="0"/>
              </a:rPr>
              <a:t>identifier.text</a:t>
            </a:r>
            <a:r>
              <a:rPr lang="en-US" sz="1800" dirty="0">
                <a:latin typeface="Consolas" panose="020B0609020204030204" pitchFamily="49" charset="0"/>
              </a:rPr>
              <a:t>()))</a:t>
            </a:r>
          </a:p>
          <a:p>
            <a:pPr marL="18288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enumStrings.add</a:t>
            </a:r>
            <a:r>
              <a:rPr lang="en-US" sz="1800" dirty="0">
                <a:latin typeface="Consolas" panose="020B0609020204030204" pitchFamily="49" charset="0"/>
              </a:rPr>
              <a:t>(</a:t>
            </a:r>
            <a:r>
              <a:rPr lang="en-US" sz="1800" dirty="0" err="1">
                <a:latin typeface="Consolas" panose="020B0609020204030204" pitchFamily="49" charset="0"/>
              </a:rPr>
              <a:t>identifier.text</a:t>
            </a:r>
            <a:r>
              <a:rPr lang="en-US" sz="1800" dirty="0">
                <a:latin typeface="Consolas" panose="020B0609020204030204" pitchFamily="49" charset="0"/>
              </a:rPr>
              <a:t>());</a:t>
            </a:r>
          </a:p>
          <a:p>
            <a:pPr marL="182880" lvl="1" indent="0">
              <a:spcBef>
                <a:spcPts val="300"/>
              </a:spcBef>
              <a:buNone/>
            </a:pPr>
            <a:r>
              <a:rPr lang="en-US" sz="1800" dirty="0">
                <a:latin typeface="Consolas" panose="020B0609020204030204" pitchFamily="49" charset="0"/>
              </a:rPr>
              <a:t>    else</a:t>
            </a:r>
          </a:p>
          <a:p>
            <a:pPr marL="182880" lvl="1" indent="0">
              <a:spcBef>
                <a:spcPts val="300"/>
              </a:spcBef>
              <a:buNone/>
            </a:pPr>
            <a:r>
              <a:rPr lang="en-US" sz="1800" dirty="0">
                <a:latin typeface="Consolas" panose="020B0609020204030204" pitchFamily="49" charset="0"/>
              </a:rPr>
              <a:t>      {</a:t>
            </a:r>
          </a:p>
          <a:p>
            <a:pPr marL="182880" lvl="1" indent="0">
              <a:spcBef>
                <a:spcPts val="300"/>
              </a:spcBef>
              <a:buNone/>
            </a:pPr>
            <a:r>
              <a:rPr lang="en-US" sz="1800" dirty="0">
                <a:latin typeface="Consolas" panose="020B0609020204030204" pitchFamily="49" charset="0"/>
              </a:rPr>
              <a:t>        // Report an error identical to that of id table.</a:t>
            </a:r>
          </a:p>
          <a:p>
            <a:pPr marL="182880" lvl="1" indent="0">
              <a:spcBef>
                <a:spcPts val="30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a:t>
            </a:r>
          </a:p>
          <a:p>
            <a:pPr marL="182880" lvl="1" indent="0">
              <a:spcBef>
                <a:spcPts val="300"/>
              </a:spcBef>
              <a:buNone/>
            </a:pPr>
            <a:r>
              <a:rPr lang="en-US" sz="1800" dirty="0">
                <a:latin typeface="Consolas" panose="020B0609020204030204" pitchFamily="49" charset="0"/>
              </a:rPr>
              <a:t>        var e = error(</a:t>
            </a:r>
            <a:r>
              <a:rPr lang="en-US" sz="1800" dirty="0" err="1">
                <a:latin typeface="Consolas" panose="020B0609020204030204" pitchFamily="49" charset="0"/>
              </a:rPr>
              <a:t>identifier.position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18288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errorHandler.reportError</a:t>
            </a:r>
            <a:r>
              <a:rPr lang="en-US" sz="1800" dirty="0">
                <a:latin typeface="Consolas" panose="020B0609020204030204" pitchFamily="49" charset="0"/>
              </a:rPr>
              <a:t>(e);</a:t>
            </a:r>
          </a:p>
          <a:p>
            <a:pPr marL="182880" lvl="1" indent="0">
              <a:spcBef>
                <a:spcPts val="300"/>
              </a:spcBef>
              <a:buNone/>
            </a:pPr>
            <a:r>
              <a:rPr lang="en-US" sz="1800" dirty="0">
                <a:latin typeface="Consolas" panose="020B0609020204030204" pitchFamily="49" charset="0"/>
              </a:rPr>
              <a:t>      }</a:t>
            </a:r>
          </a:p>
          <a:p>
            <a:pPr marL="182880" lvl="1" indent="0">
              <a:spcBef>
                <a:spcPts val="300"/>
              </a:spcBef>
              <a:buNone/>
            </a:pPr>
            <a:r>
              <a:rPr lang="en-US" sz="1800" dirty="0">
                <a:latin typeface="Consolas" panose="020B0609020204030204" pitchFamily="49" charset="0"/>
              </a:rPr>
              <a:t>  }</a:t>
            </a:r>
          </a:p>
          <a:p>
            <a:pPr marL="182880" lvl="1" indent="0">
              <a:spcBef>
                <a:spcPts val="300"/>
              </a:spcBef>
              <a:buNone/>
            </a:pPr>
            <a:endParaRPr lang="en-US" sz="1800" dirty="0">
              <a:latin typeface="Consolas" panose="020B0609020204030204" pitchFamily="49" charset="0"/>
            </a:endParaRPr>
          </a:p>
          <a:p>
            <a:pPr marL="182880" lvl="1">
              <a:spcBef>
                <a:spcPts val="300"/>
              </a:spcBef>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008D2335-827E-1353-FFA4-F19E53528D0F}"/>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18432414-D818-E7EC-F454-203DBEF1A094}"/>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11</a:t>
            </a:fld>
            <a:endParaRPr lang="en-US"/>
          </a:p>
        </p:txBody>
      </p:sp>
    </p:spTree>
    <p:extLst>
      <p:ext uri="{BB962C8B-B14F-4D97-AF65-F5344CB8AC3E}">
        <p14:creationId xmlns:p14="http://schemas.microsoft.com/office/powerpoint/2010/main" val="2076502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09BDF-992A-16DD-F7AA-181C8D89EBF5}"/>
              </a:ext>
            </a:extLst>
          </p:cNvPr>
          <p:cNvSpPr>
            <a:spLocks noGrp="1"/>
          </p:cNvSpPr>
          <p:nvPr>
            <p:ph type="title"/>
          </p:nvPr>
        </p:nvSpPr>
        <p:spPr/>
        <p:txBody>
          <a:bodyPr/>
          <a:lstStyle/>
          <a:p>
            <a:r>
              <a:rPr lang="en-US" dirty="0"/>
              <a:t>Class </a:t>
            </a:r>
            <a:r>
              <a:rPr lang="en-US" sz="2700" dirty="0">
                <a:latin typeface="Consolas" panose="020B0609020204030204" pitchFamily="49" charset="0"/>
              </a:rPr>
              <a:t>EnumType</a:t>
            </a:r>
          </a:p>
        </p:txBody>
      </p:sp>
      <p:sp>
        <p:nvSpPr>
          <p:cNvPr id="3" name="Content Placeholder 2">
            <a:extLst>
              <a:ext uri="{FF2B5EF4-FFF2-40B4-BE49-F238E27FC236}">
                <a16:creationId xmlns:a16="http://schemas.microsoft.com/office/drawing/2014/main" id="{C5C8C796-2C8E-8B1B-DE7C-4DB53483F6A7}"/>
              </a:ext>
            </a:extLst>
          </p:cNvPr>
          <p:cNvSpPr>
            <a:spLocks noGrp="1"/>
          </p:cNvSpPr>
          <p:nvPr>
            <p:ph idx="1"/>
          </p:nvPr>
        </p:nvSpPr>
        <p:spPr/>
        <p:txBody>
          <a:bodyPr/>
          <a:lstStyle/>
          <a:p>
            <a:r>
              <a:rPr lang="en-US" dirty="0"/>
              <a:t>An enumerated type declaration creates a new type – an enum type.</a:t>
            </a:r>
          </a:p>
          <a:p>
            <a:r>
              <a:rPr lang="en-US" dirty="0"/>
              <a:t>Class </a:t>
            </a:r>
            <a:r>
              <a:rPr lang="en-US" sz="2300" dirty="0">
                <a:latin typeface="Consolas" panose="020B0609020204030204" pitchFamily="49" charset="0"/>
              </a:rPr>
              <a:t>EnumType</a:t>
            </a:r>
            <a:r>
              <a:rPr lang="en-US" dirty="0"/>
              <a:t> constructor and key method</a:t>
            </a:r>
          </a:p>
          <a:p>
            <a:pPr marL="457200" lvl="1" indent="0">
              <a:buNone/>
            </a:pPr>
            <a:r>
              <a:rPr lang="en-US" sz="1800" dirty="0">
                <a:latin typeface="Consolas" panose="020B0609020204030204" pitchFamily="49" charset="0"/>
              </a:rPr>
              <a:t>/**</a:t>
            </a:r>
          </a:p>
          <a:p>
            <a:pPr marL="457200" lvl="1" indent="0">
              <a:spcBef>
                <a:spcPts val="0"/>
              </a:spcBef>
              <a:buNone/>
            </a:pPr>
            <a:r>
              <a:rPr lang="en-US" sz="1800" dirty="0">
                <a:latin typeface="Consolas" panose="020B0609020204030204" pitchFamily="49" charset="0"/>
              </a:rPr>
              <a:t> * Construct an enum type with the specified type name</a:t>
            </a:r>
          </a:p>
          <a:p>
            <a:pPr marL="457200" lvl="1" indent="0">
              <a:spcBef>
                <a:spcPts val="0"/>
              </a:spcBef>
              <a:buNone/>
            </a:pPr>
            <a:r>
              <a:rPr lang="en-US" sz="1800" dirty="0">
                <a:latin typeface="Consolas" panose="020B0609020204030204" pitchFamily="49" charset="0"/>
              </a:rPr>
              <a:t> * and list of enum constants.</a:t>
            </a:r>
          </a:p>
          <a:p>
            <a:pPr marL="457200" lvl="1" indent="0">
              <a:spcBef>
                <a:spcPts val="0"/>
              </a:spcBef>
              <a:buNone/>
            </a:pPr>
            <a:r>
              <a:rPr lang="en-US" sz="1800" dirty="0">
                <a:latin typeface="Consolas" panose="020B0609020204030204" pitchFamily="49" charset="0"/>
              </a:rPr>
              <a:t> */</a:t>
            </a:r>
          </a:p>
          <a:p>
            <a:pPr marL="457200" lvl="1" indent="0">
              <a:spcBef>
                <a:spcPts val="0"/>
              </a:spcBef>
              <a:buNone/>
            </a:pPr>
            <a:r>
              <a:rPr lang="en-US" sz="1800" dirty="0">
                <a:latin typeface="Consolas" panose="020B0609020204030204" pitchFamily="49" charset="0"/>
              </a:rPr>
              <a:t>public EnumType(String </a:t>
            </a:r>
            <a:r>
              <a:rPr lang="en-US" sz="1800" dirty="0" err="1">
                <a:latin typeface="Consolas" panose="020B0609020204030204" pitchFamily="49" charset="0"/>
              </a:rPr>
              <a:t>typeName</a:t>
            </a:r>
            <a:r>
              <a:rPr lang="en-US" sz="1800" dirty="0">
                <a:latin typeface="Consolas" panose="020B0609020204030204" pitchFamily="49" charset="0"/>
              </a:rPr>
              <a:t>, List&lt;Token&gt; </a:t>
            </a:r>
            <a:r>
              <a:rPr lang="en-US" sz="1800" dirty="0" err="1">
                <a:latin typeface="Consolas" panose="020B0609020204030204" pitchFamily="49" charset="0"/>
              </a:rPr>
              <a:t>enumNames</a:t>
            </a:r>
            <a:r>
              <a:rPr lang="en-US" sz="1800" dirty="0">
                <a:latin typeface="Consolas" panose="020B0609020204030204" pitchFamily="49" charset="0"/>
              </a:rPr>
              <a:t>)</a:t>
            </a:r>
          </a:p>
          <a:p>
            <a:pPr marL="457200" lvl="1" indent="0">
              <a:spcBef>
                <a:spcPts val="0"/>
              </a:spcBef>
              <a:buNone/>
            </a:pPr>
            <a:endParaRPr lang="en-US" sz="1800" dirty="0">
              <a:latin typeface="Consolas" panose="020B0609020204030204" pitchFamily="49" charset="0"/>
            </a:endParaRPr>
          </a:p>
          <a:p>
            <a:pPr marL="457200" lvl="1" indent="0">
              <a:spcBef>
                <a:spcPts val="0"/>
              </a:spcBef>
              <a:buNone/>
            </a:pPr>
            <a:r>
              <a:rPr lang="en-US" sz="1800" dirty="0">
                <a:latin typeface="Consolas" panose="020B0609020204030204" pitchFamily="49" charset="0"/>
              </a:rPr>
              <a:t>/**</a:t>
            </a:r>
          </a:p>
          <a:p>
            <a:pPr marL="457200" lvl="1" indent="0">
              <a:spcBef>
                <a:spcPts val="0"/>
              </a:spcBef>
              <a:buNone/>
            </a:pPr>
            <a:r>
              <a:rPr lang="en-US" sz="1800" dirty="0">
                <a:latin typeface="Consolas" panose="020B0609020204030204" pitchFamily="49" charset="0"/>
              </a:rPr>
              <a:t> * Returns the numeric value associated with the enum</a:t>
            </a:r>
          </a:p>
          <a:p>
            <a:pPr marL="457200" lvl="1" indent="0">
              <a:spcBef>
                <a:spcPts val="0"/>
              </a:spcBef>
              <a:buNone/>
            </a:pPr>
            <a:r>
              <a:rPr lang="en-US" sz="1800" dirty="0">
                <a:latin typeface="Consolas" panose="020B0609020204030204" pitchFamily="49" charset="0"/>
              </a:rPr>
              <a:t> * identifier string.  Returns -1 if the identifier string</a:t>
            </a:r>
          </a:p>
          <a:p>
            <a:pPr marL="457200" lvl="1" indent="0">
              <a:spcBef>
                <a:spcPts val="0"/>
              </a:spcBef>
              <a:buNone/>
            </a:pPr>
            <a:r>
              <a:rPr lang="en-US" sz="1800" dirty="0">
                <a:latin typeface="Consolas" panose="020B0609020204030204" pitchFamily="49" charset="0"/>
              </a:rPr>
              <a:t> * is not found.</a:t>
            </a:r>
          </a:p>
          <a:p>
            <a:pPr marL="457200" lvl="1" indent="0">
              <a:spcBef>
                <a:spcPts val="0"/>
              </a:spcBef>
              <a:buNone/>
            </a:pPr>
            <a:r>
              <a:rPr lang="en-US" sz="1800" dirty="0">
                <a:latin typeface="Consolas" panose="020B0609020204030204" pitchFamily="49" charset="0"/>
              </a:rPr>
              <a:t> */</a:t>
            </a:r>
          </a:p>
          <a:p>
            <a:pPr marL="457200" lvl="1" indent="0">
              <a:spcBef>
                <a:spcPts val="0"/>
              </a:spcBef>
              <a:buNone/>
            </a:pPr>
            <a:r>
              <a:rPr lang="en-US" sz="1800" dirty="0">
                <a:latin typeface="Consolas" panose="020B0609020204030204" pitchFamily="49" charset="0"/>
              </a:rPr>
              <a:t>public int </a:t>
            </a:r>
            <a:r>
              <a:rPr lang="en-US" sz="1800" dirty="0" err="1">
                <a:latin typeface="Consolas" panose="020B0609020204030204" pitchFamily="49" charset="0"/>
              </a:rPr>
              <a:t>getValue</a:t>
            </a:r>
            <a:r>
              <a:rPr lang="en-US" sz="1800" dirty="0">
                <a:latin typeface="Consolas" panose="020B0609020204030204" pitchFamily="49" charset="0"/>
              </a:rPr>
              <a:t>(String </a:t>
            </a:r>
            <a:r>
              <a:rPr lang="en-US" sz="1800" dirty="0" err="1">
                <a:latin typeface="Consolas" panose="020B0609020204030204" pitchFamily="49" charset="0"/>
              </a:rPr>
              <a:t>idStr</a:t>
            </a:r>
            <a:r>
              <a:rPr lang="en-US" sz="1800" dirty="0">
                <a:latin typeface="Consolas" panose="020B0609020204030204" pitchFamily="49" charset="0"/>
              </a:rPr>
              <a:t>)</a:t>
            </a:r>
          </a:p>
          <a:p>
            <a:pPr marL="457200" lvl="1" indent="0">
              <a:spcBef>
                <a:spcPts val="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4EB0991F-5EBD-5CF7-237C-E957FC4B6E57}"/>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D329D502-2E30-52EE-A709-DB9E79DE73F4}"/>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12</a:t>
            </a:fld>
            <a:endParaRPr lang="en-US"/>
          </a:p>
        </p:txBody>
      </p:sp>
    </p:spTree>
    <p:extLst>
      <p:ext uri="{BB962C8B-B14F-4D97-AF65-F5344CB8AC3E}">
        <p14:creationId xmlns:p14="http://schemas.microsoft.com/office/powerpoint/2010/main" val="2397241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D28F-1164-F92C-CA37-FA293ECF3A76}"/>
              </a:ext>
            </a:extLst>
          </p:cNvPr>
          <p:cNvSpPr>
            <a:spLocks noGrp="1"/>
          </p:cNvSpPr>
          <p:nvPr>
            <p:ph type="title"/>
          </p:nvPr>
        </p:nvSpPr>
        <p:spPr/>
        <p:txBody>
          <a:bodyPr/>
          <a:lstStyle/>
          <a:p>
            <a:r>
              <a:rPr lang="en-US" dirty="0"/>
              <a:t>Method </a:t>
            </a:r>
            <a:r>
              <a:rPr lang="en-US" sz="2700" dirty="0" err="1">
                <a:latin typeface="Consolas" panose="020B0609020204030204" pitchFamily="49" charset="0"/>
              </a:rPr>
              <a:t>parseEnumConstValue</a:t>
            </a:r>
            <a:r>
              <a:rPr lang="en-US" sz="2700" dirty="0">
                <a:latin typeface="Consolas" panose="020B0609020204030204" pitchFamily="49" charset="0"/>
              </a:rPr>
              <a:t>()</a:t>
            </a:r>
          </a:p>
        </p:txBody>
      </p:sp>
      <p:sp>
        <p:nvSpPr>
          <p:cNvPr id="3" name="Content Placeholder 2">
            <a:extLst>
              <a:ext uri="{FF2B5EF4-FFF2-40B4-BE49-F238E27FC236}">
                <a16:creationId xmlns:a16="http://schemas.microsoft.com/office/drawing/2014/main" id="{39FE6A5F-FC07-8000-8BF2-1D040F8BBA44}"/>
              </a:ext>
            </a:extLst>
          </p:cNvPr>
          <p:cNvSpPr>
            <a:spLocks noGrp="1"/>
          </p:cNvSpPr>
          <p:nvPr>
            <p:ph idx="1"/>
          </p:nvPr>
        </p:nvSpPr>
        <p:spPr>
          <a:xfrm>
            <a:off x="458788" y="1363663"/>
            <a:ext cx="8412480" cy="4935537"/>
          </a:xfrm>
        </p:spPr>
        <p:txBody>
          <a:bodyPr/>
          <a:lstStyle/>
          <a:p>
            <a:pPr marL="0" indent="0">
              <a:spcBef>
                <a:spcPts val="100"/>
              </a:spcBef>
              <a:buNone/>
            </a:pPr>
            <a:r>
              <a:rPr lang="en-US" sz="1800" dirty="0">
                <a:latin typeface="Consolas" panose="020B0609020204030204" pitchFamily="49" charset="0"/>
              </a:rPr>
              <a:t>// create a </a:t>
            </a:r>
            <a:r>
              <a:rPr lang="en-US" sz="1800" dirty="0" err="1">
                <a:latin typeface="Consolas" panose="020B0609020204030204" pitchFamily="49" charset="0"/>
              </a:rPr>
              <a:t>ConstValue</a:t>
            </a:r>
            <a:r>
              <a:rPr lang="en-US" sz="1800" dirty="0">
                <a:latin typeface="Consolas" panose="020B0609020204030204" pitchFamily="49" charset="0"/>
              </a:rPr>
              <a:t> representing this enum value</a:t>
            </a:r>
          </a:p>
          <a:p>
            <a:pPr marL="0" indent="0">
              <a:spcBef>
                <a:spcPts val="100"/>
              </a:spcBef>
              <a:buNone/>
            </a:pPr>
            <a:r>
              <a:rPr lang="en-US" sz="1800" dirty="0">
                <a:latin typeface="Consolas" panose="020B0609020204030204" pitchFamily="49" charset="0"/>
              </a:rPr>
              <a:t>var </a:t>
            </a:r>
            <a:r>
              <a:rPr lang="en-US" sz="1800" dirty="0" err="1">
                <a:latin typeface="Consolas" panose="020B0609020204030204" pitchFamily="49" charset="0"/>
              </a:rPr>
              <a:t>enumTypeDecl</a:t>
            </a:r>
            <a:r>
              <a:rPr lang="en-US" sz="1800" dirty="0">
                <a:latin typeface="Consolas" panose="020B0609020204030204" pitchFamily="49" charset="0"/>
              </a:rPr>
              <a:t> = (</a:t>
            </a:r>
            <a:r>
              <a:rPr lang="en-US" sz="1800" dirty="0" err="1">
                <a:latin typeface="Consolas" panose="020B0609020204030204" pitchFamily="49" charset="0"/>
              </a:rPr>
              <a:t>EnumTypeDecl</a:t>
            </a:r>
            <a:r>
              <a:rPr lang="en-US" sz="1800" dirty="0">
                <a:latin typeface="Consolas" panose="020B0609020204030204" pitchFamily="49" charset="0"/>
              </a:rPr>
              <a:t>) </a:t>
            </a:r>
            <a:r>
              <a:rPr lang="en-US" sz="1800" dirty="0" err="1">
                <a:latin typeface="Consolas" panose="020B0609020204030204" pitchFamily="49" charset="0"/>
              </a:rPr>
              <a:t>decl</a:t>
            </a:r>
            <a:r>
              <a:rPr lang="en-US" sz="1800" dirty="0">
                <a:latin typeface="Consolas" panose="020B0609020204030204" pitchFamily="49" charset="0"/>
              </a:rPr>
              <a:t>;</a:t>
            </a:r>
          </a:p>
          <a:p>
            <a:pPr marL="0" indent="0">
              <a:spcBef>
                <a:spcPts val="100"/>
              </a:spcBef>
              <a:buNone/>
            </a:pPr>
            <a:r>
              <a:rPr lang="en-US" sz="1800" dirty="0">
                <a:latin typeface="Consolas" panose="020B0609020204030204" pitchFamily="49" charset="0"/>
              </a:rPr>
              <a:t>var </a:t>
            </a:r>
            <a:r>
              <a:rPr lang="en-US" sz="1800" dirty="0" err="1">
                <a:latin typeface="Consolas" panose="020B0609020204030204" pitchFamily="49" charset="0"/>
              </a:rPr>
              <a:t>enumType</a:t>
            </a:r>
            <a:r>
              <a:rPr lang="en-US" sz="1800" dirty="0">
                <a:latin typeface="Consolas" panose="020B0609020204030204" pitchFamily="49" charset="0"/>
              </a:rPr>
              <a:t> = (EnumType) </a:t>
            </a:r>
            <a:r>
              <a:rPr lang="en-US" sz="1800" dirty="0" err="1">
                <a:latin typeface="Consolas" panose="020B0609020204030204" pitchFamily="49" charset="0"/>
              </a:rPr>
              <a:t>enumTypeDecl.type</a:t>
            </a:r>
            <a:r>
              <a:rPr lang="en-US" sz="1800" dirty="0">
                <a:latin typeface="Consolas" panose="020B0609020204030204" pitchFamily="49" charset="0"/>
              </a:rPr>
              <a:t>();</a:t>
            </a:r>
          </a:p>
          <a:p>
            <a:pPr marL="0" indent="0">
              <a:spcBef>
                <a:spcPts val="100"/>
              </a:spcBef>
              <a:buNone/>
            </a:pPr>
            <a:r>
              <a:rPr lang="en-US" sz="1800" dirty="0">
                <a:latin typeface="Consolas" panose="020B0609020204030204" pitchFamily="49" charset="0"/>
              </a:rPr>
              <a:t>var </a:t>
            </a:r>
            <a:r>
              <a:rPr lang="en-US" sz="1800" dirty="0" err="1">
                <a:latin typeface="Consolas" panose="020B0609020204030204" pitchFamily="49" charset="0"/>
              </a:rPr>
              <a:t>enumValue</a:t>
            </a:r>
            <a:r>
              <a:rPr lang="en-US" sz="1800" dirty="0">
                <a:latin typeface="Consolas" panose="020B0609020204030204" pitchFamily="49" charset="0"/>
              </a:rPr>
              <a:t> = </a:t>
            </a:r>
            <a:r>
              <a:rPr lang="en-US" sz="1800" b="1" dirty="0" err="1">
                <a:latin typeface="Consolas" panose="020B0609020204030204" pitchFamily="49" charset="0"/>
              </a:rPr>
              <a:t>enumType.getValue</a:t>
            </a:r>
            <a:r>
              <a:rPr lang="en-US" sz="1800" b="1" dirty="0">
                <a:latin typeface="Consolas" panose="020B0609020204030204" pitchFamily="49" charset="0"/>
              </a:rPr>
              <a:t>(</a:t>
            </a:r>
            <a:r>
              <a:rPr lang="en-US" sz="1800" b="1" dirty="0" err="1">
                <a:latin typeface="Consolas" panose="020B0609020204030204" pitchFamily="49" charset="0"/>
              </a:rPr>
              <a:t>enumConstId.text</a:t>
            </a:r>
            <a:r>
              <a:rPr lang="en-US" sz="1800" b="1" dirty="0">
                <a:latin typeface="Consolas" panose="020B0609020204030204" pitchFamily="49" charset="0"/>
              </a:rPr>
              <a:t>())</a:t>
            </a:r>
            <a:r>
              <a:rPr lang="en-US" sz="1800" dirty="0">
                <a:latin typeface="Consolas" panose="020B0609020204030204" pitchFamily="49" charset="0"/>
              </a:rPr>
              <a:t>;</a:t>
            </a:r>
          </a:p>
          <a:p>
            <a:pPr marL="0" indent="0">
              <a:spcBef>
                <a:spcPts val="100"/>
              </a:spcBef>
              <a:buNone/>
            </a:pPr>
            <a:endParaRPr lang="en-US" sz="1800" dirty="0">
              <a:latin typeface="Consolas" panose="020B0609020204030204" pitchFamily="49" charset="0"/>
            </a:endParaRPr>
          </a:p>
          <a:p>
            <a:pPr marL="0" indent="0">
              <a:spcBef>
                <a:spcPts val="100"/>
              </a:spcBef>
              <a:buNone/>
            </a:pPr>
            <a:r>
              <a:rPr lang="en-US" sz="1800" dirty="0">
                <a:latin typeface="Consolas" panose="020B0609020204030204" pitchFamily="49" charset="0"/>
              </a:rPr>
              <a:t>if (</a:t>
            </a:r>
            <a:r>
              <a:rPr lang="en-US" sz="1800" dirty="0" err="1">
                <a:latin typeface="Consolas" panose="020B0609020204030204" pitchFamily="49" charset="0"/>
              </a:rPr>
              <a:t>enumValue</a:t>
            </a:r>
            <a:r>
              <a:rPr lang="en-US" sz="1800" dirty="0">
                <a:latin typeface="Consolas" panose="020B0609020204030204" pitchFamily="49" charset="0"/>
              </a:rPr>
              <a:t> &lt; 0)</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 + </a:t>
            </a:r>
            <a:r>
              <a:rPr lang="en-US" sz="1800" dirty="0" err="1">
                <a:latin typeface="Consolas" panose="020B0609020204030204" pitchFamily="49" charset="0"/>
              </a:rPr>
              <a:t>enumConstId.text</a:t>
            </a:r>
            <a:r>
              <a:rPr lang="en-US" sz="1800" dirty="0">
                <a:latin typeface="Consolas" panose="020B0609020204030204" pitchFamily="49" charset="0"/>
              </a:rPr>
              <a:t>() + "\" is ... "</a:t>
            </a:r>
          </a:p>
          <a:p>
            <a:pPr marL="0"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enumConstId.position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0" indent="0">
              <a:spcBef>
                <a:spcPts val="100"/>
              </a:spcBef>
              <a:buNone/>
            </a:pPr>
            <a:r>
              <a:rPr lang="en-US" sz="1800" dirty="0">
                <a:latin typeface="Consolas" panose="020B0609020204030204" pitchFamily="49" charset="0"/>
              </a:rPr>
              <a:t>  }</a:t>
            </a:r>
          </a:p>
          <a:p>
            <a:pPr marL="0" indent="0">
              <a:spcBef>
                <a:spcPts val="100"/>
              </a:spcBef>
              <a:buNone/>
            </a:pPr>
            <a:endParaRPr lang="en-US" sz="1800" dirty="0">
              <a:latin typeface="Consolas" panose="020B0609020204030204" pitchFamily="49" charset="0"/>
            </a:endParaRPr>
          </a:p>
          <a:p>
            <a:pPr marL="0" indent="0">
              <a:spcBef>
                <a:spcPts val="100"/>
              </a:spcBef>
              <a:buNone/>
            </a:pPr>
            <a:r>
              <a:rPr lang="en-US" sz="1800" dirty="0">
                <a:latin typeface="Consolas" panose="020B0609020204030204" pitchFamily="49" charset="0"/>
              </a:rPr>
              <a:t>var </a:t>
            </a:r>
            <a:r>
              <a:rPr lang="en-US" sz="1800" dirty="0" err="1">
                <a:latin typeface="Consolas" panose="020B0609020204030204" pitchFamily="49" charset="0"/>
              </a:rPr>
              <a:t>enumValStr</a:t>
            </a:r>
            <a:r>
              <a:rPr lang="en-US" sz="1800" dirty="0">
                <a:latin typeface="Consolas" panose="020B0609020204030204" pitchFamily="49" charset="0"/>
              </a:rPr>
              <a:t> = </a:t>
            </a:r>
            <a:r>
              <a:rPr lang="en-US" sz="1800" dirty="0" err="1">
                <a:latin typeface="Consolas" panose="020B0609020204030204" pitchFamily="49" charset="0"/>
              </a:rPr>
              <a:t>Integer.toString</a:t>
            </a:r>
            <a:r>
              <a:rPr lang="en-US" sz="1800" dirty="0">
                <a:latin typeface="Consolas" panose="020B0609020204030204" pitchFamily="49" charset="0"/>
              </a:rPr>
              <a:t>(</a:t>
            </a:r>
            <a:r>
              <a:rPr lang="en-US" sz="1800" dirty="0" err="1">
                <a:latin typeface="Consolas" panose="020B0609020204030204" pitchFamily="49" charset="0"/>
              </a:rPr>
              <a:t>enumValue</a:t>
            </a:r>
            <a:r>
              <a:rPr lang="en-US" sz="1800" dirty="0">
                <a:latin typeface="Consolas" panose="020B0609020204030204" pitchFamily="49" charset="0"/>
              </a:rPr>
              <a:t>);</a:t>
            </a:r>
          </a:p>
          <a:p>
            <a:pPr marL="0" indent="0">
              <a:spcBef>
                <a:spcPts val="100"/>
              </a:spcBef>
              <a:buNone/>
            </a:pPr>
            <a:r>
              <a:rPr lang="en-US" sz="1800" dirty="0">
                <a:latin typeface="Consolas" panose="020B0609020204030204" pitchFamily="49" charset="0"/>
              </a:rPr>
              <a:t>var position = </a:t>
            </a:r>
            <a:r>
              <a:rPr lang="en-US" sz="1800" dirty="0" err="1">
                <a:latin typeface="Consolas" panose="020B0609020204030204" pitchFamily="49" charset="0"/>
              </a:rPr>
              <a:t>enumConstId.position</a:t>
            </a:r>
            <a:r>
              <a:rPr lang="en-US" sz="1800" dirty="0">
                <a:latin typeface="Consolas" panose="020B0609020204030204" pitchFamily="49" charset="0"/>
              </a:rPr>
              <a:t>();</a:t>
            </a:r>
          </a:p>
          <a:p>
            <a:pPr marL="0" indent="0">
              <a:spcBef>
                <a:spcPts val="100"/>
              </a:spcBef>
              <a:buNone/>
            </a:pPr>
            <a:r>
              <a:rPr lang="en-US" sz="1800" dirty="0">
                <a:latin typeface="Consolas" panose="020B0609020204030204" pitchFamily="49" charset="0"/>
              </a:rPr>
              <a:t>var literal = new Token(</a:t>
            </a:r>
            <a:r>
              <a:rPr lang="en-US" sz="1800" dirty="0" err="1">
                <a:latin typeface="Consolas" panose="020B0609020204030204" pitchFamily="49" charset="0"/>
              </a:rPr>
              <a:t>Symbol.intLiteral</a:t>
            </a:r>
            <a:r>
              <a:rPr lang="en-US" sz="1800" dirty="0">
                <a:latin typeface="Consolas" panose="020B0609020204030204" pitchFamily="49" charset="0"/>
              </a:rPr>
              <a:t>, position, </a:t>
            </a:r>
            <a:r>
              <a:rPr lang="en-US" sz="1800" dirty="0" err="1">
                <a:latin typeface="Consolas" panose="020B0609020204030204" pitchFamily="49" charset="0"/>
              </a:rPr>
              <a:t>enumValStr</a:t>
            </a:r>
            <a:r>
              <a:rPr lang="en-US" sz="1800" dirty="0">
                <a:latin typeface="Consolas" panose="020B0609020204030204" pitchFamily="49" charset="0"/>
              </a:rPr>
              <a:t>);</a:t>
            </a:r>
          </a:p>
          <a:p>
            <a:pPr marL="0" indent="0">
              <a:spcBef>
                <a:spcPts val="100"/>
              </a:spcBef>
              <a:buNone/>
            </a:pPr>
            <a:endParaRPr lang="en-US" sz="1800" dirty="0">
              <a:latin typeface="Consolas" panose="020B0609020204030204" pitchFamily="49" charset="0"/>
            </a:endParaRPr>
          </a:p>
          <a:p>
            <a:pPr marL="0" indent="0">
              <a:spcBef>
                <a:spcPts val="100"/>
              </a:spcBef>
              <a:buNone/>
            </a:pPr>
            <a:r>
              <a:rPr lang="en-US" sz="1800" dirty="0">
                <a:latin typeface="Consolas" panose="020B0609020204030204" pitchFamily="49" charset="0"/>
              </a:rPr>
              <a:t>return new </a:t>
            </a:r>
            <a:r>
              <a:rPr lang="en-US" sz="1800" dirty="0" err="1">
                <a:latin typeface="Consolas" panose="020B0609020204030204" pitchFamily="49" charset="0"/>
              </a:rPr>
              <a:t>ConstValue</a:t>
            </a:r>
            <a:r>
              <a:rPr lang="en-US" sz="1800" dirty="0">
                <a:latin typeface="Consolas" panose="020B0609020204030204" pitchFamily="49" charset="0"/>
              </a:rPr>
              <a:t>(literal, </a:t>
            </a:r>
            <a:r>
              <a:rPr lang="en-US" sz="1800" dirty="0" err="1">
                <a:latin typeface="Consolas" panose="020B0609020204030204" pitchFamily="49" charset="0"/>
              </a:rPr>
              <a:t>enumType</a:t>
            </a:r>
            <a:r>
              <a:rPr lang="en-US" sz="1800" dirty="0">
                <a:latin typeface="Consolas" panose="020B0609020204030204" pitchFamily="49" charset="0"/>
              </a:rPr>
              <a:t>);</a:t>
            </a:r>
          </a:p>
          <a:p>
            <a:pPr marL="0" indent="0">
              <a:spcBef>
                <a:spcPts val="1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64F4BBAB-9F33-06CB-A6C6-1FC37F5C1C28}"/>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EFCEA0FF-A6CE-D4E3-948B-405CD94E5907}"/>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13</a:t>
            </a:fld>
            <a:endParaRPr lang="en-US"/>
          </a:p>
        </p:txBody>
      </p:sp>
    </p:spTree>
    <p:extLst>
      <p:ext uri="{BB962C8B-B14F-4D97-AF65-F5344CB8AC3E}">
        <p14:creationId xmlns:p14="http://schemas.microsoft.com/office/powerpoint/2010/main" val="1258831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3E6D8-37B4-B8C0-7821-D7F04501506C}"/>
              </a:ext>
            </a:extLst>
          </p:cNvPr>
          <p:cNvSpPr>
            <a:spLocks noGrp="1"/>
          </p:cNvSpPr>
          <p:nvPr>
            <p:ph type="title"/>
          </p:nvPr>
        </p:nvSpPr>
        <p:spPr>
          <a:xfrm>
            <a:off x="640080" y="138113"/>
            <a:ext cx="7863840" cy="1004887"/>
          </a:xfrm>
        </p:spPr>
        <p:txBody>
          <a:bodyPr/>
          <a:lstStyle/>
          <a:p>
            <a:r>
              <a:rPr lang="en-US" sz="2700" dirty="0"/>
              <a:t>Modification to Class </a:t>
            </a:r>
            <a:r>
              <a:rPr lang="en-US" sz="2650" dirty="0" err="1">
                <a:latin typeface="Consolas" panose="020B0609020204030204" pitchFamily="49" charset="0"/>
              </a:rPr>
              <a:t>ConstValue</a:t>
            </a:r>
            <a:r>
              <a:rPr lang="en-US" sz="2700" dirty="0"/>
              <a:t> for Enum Types</a:t>
            </a:r>
          </a:p>
        </p:txBody>
      </p:sp>
      <p:sp>
        <p:nvSpPr>
          <p:cNvPr id="3" name="Content Placeholder 2">
            <a:extLst>
              <a:ext uri="{FF2B5EF4-FFF2-40B4-BE49-F238E27FC236}">
                <a16:creationId xmlns:a16="http://schemas.microsoft.com/office/drawing/2014/main" id="{C5787AEE-C58F-8F65-CA74-E07E3C1F5E97}"/>
              </a:ext>
            </a:extLst>
          </p:cNvPr>
          <p:cNvSpPr>
            <a:spLocks noGrp="1"/>
          </p:cNvSpPr>
          <p:nvPr>
            <p:ph idx="1"/>
          </p:nvPr>
        </p:nvSpPr>
        <p:spPr/>
        <p:txBody>
          <a:bodyPr/>
          <a:lstStyle/>
          <a:p>
            <a:r>
              <a:rPr lang="en-US" dirty="0"/>
              <a:t>In method </a:t>
            </a:r>
            <a:r>
              <a:rPr lang="en-US" sz="2300" dirty="0">
                <a:latin typeface="Consolas" panose="020B0609020204030204" pitchFamily="49" charset="0"/>
              </a:rPr>
              <a:t>emit()</a:t>
            </a:r>
            <a:r>
              <a:rPr lang="en-US" dirty="0"/>
              <a:t>, treat enumerated types in the same way as type </a:t>
            </a:r>
            <a:r>
              <a:rPr lang="en-US" sz="2300" dirty="0">
                <a:latin typeface="Consolas" panose="020B0609020204030204" pitchFamily="49" charset="0"/>
              </a:rPr>
              <a:t>Integer</a:t>
            </a:r>
            <a:r>
              <a:rPr lang="en-US" dirty="0"/>
              <a:t>.</a:t>
            </a:r>
          </a:p>
          <a:p>
            <a:pPr marL="457200" lvl="1" indent="0">
              <a:buNone/>
            </a:pPr>
            <a:r>
              <a:rPr lang="en-US" sz="1800" dirty="0">
                <a:latin typeface="Consolas" panose="020B0609020204030204" pitchFamily="49" charset="0"/>
              </a:rPr>
              <a:t>if (type() == </a:t>
            </a:r>
            <a:r>
              <a:rPr lang="en-US" sz="1800" dirty="0" err="1">
                <a:latin typeface="Consolas" panose="020B0609020204030204" pitchFamily="49" charset="0"/>
              </a:rPr>
              <a:t>Type.Integer</a:t>
            </a:r>
            <a:r>
              <a:rPr lang="en-US" sz="1800" dirty="0">
                <a:latin typeface="Consolas" panose="020B0609020204030204" pitchFamily="49" charset="0"/>
              </a:rPr>
              <a:t> || </a:t>
            </a:r>
            <a:r>
              <a:rPr lang="en-US" sz="1800" b="1" dirty="0">
                <a:latin typeface="Consolas" panose="020B0609020204030204" pitchFamily="49" charset="0"/>
              </a:rPr>
              <a:t>type() </a:t>
            </a:r>
            <a:r>
              <a:rPr lang="en-US" sz="1800" b="1" dirty="0" err="1">
                <a:latin typeface="Consolas" panose="020B0609020204030204" pitchFamily="49" charset="0"/>
              </a:rPr>
              <a:t>instanceof</a:t>
            </a:r>
            <a:r>
              <a:rPr lang="en-US" sz="1800" b="1" dirty="0">
                <a:latin typeface="Consolas" panose="020B0609020204030204" pitchFamily="49" charset="0"/>
              </a:rPr>
              <a:t> EnumType</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    emit("LDCINT " + </a:t>
            </a:r>
            <a:r>
              <a:rPr lang="en-US" sz="1800" dirty="0" err="1">
                <a:latin typeface="Consolas" panose="020B0609020204030204" pitchFamily="49" charset="0"/>
              </a:rPr>
              <a:t>intValue</a:t>
            </a:r>
            <a:r>
              <a:rPr lang="en-US" sz="1800" dirty="0">
                <a:latin typeface="Consolas" panose="020B0609020204030204" pitchFamily="49" charset="0"/>
              </a:rPr>
              <a:t>()); </a:t>
            </a:r>
          </a:p>
          <a:p>
            <a:pPr marL="457200" lvl="1" indent="0">
              <a:buNone/>
            </a:pPr>
            <a:endParaRPr lang="en-US" dirty="0"/>
          </a:p>
        </p:txBody>
      </p:sp>
      <p:sp>
        <p:nvSpPr>
          <p:cNvPr id="4" name="Footer Placeholder 3">
            <a:extLst>
              <a:ext uri="{FF2B5EF4-FFF2-40B4-BE49-F238E27FC236}">
                <a16:creationId xmlns:a16="http://schemas.microsoft.com/office/drawing/2014/main" id="{0ADEF33D-BB68-FCEE-1334-DF59457FDF1A}"/>
              </a:ext>
            </a:extLst>
          </p:cNvPr>
          <p:cNvSpPr>
            <a:spLocks noGrp="1"/>
          </p:cNvSpPr>
          <p:nvPr>
            <p:ph type="ftr" sz="quarter" idx="10"/>
          </p:nvPr>
        </p:nvSpPr>
        <p:spPr/>
        <p:txBody>
          <a:bodyPr/>
          <a:lstStyle/>
          <a:p>
            <a:pPr>
              <a:defRPr/>
            </a:pPr>
            <a:r>
              <a:rPr lang="en-US"/>
              <a:t>©SoftMoore Consulting</a:t>
            </a:r>
          </a:p>
        </p:txBody>
      </p:sp>
      <p:sp>
        <p:nvSpPr>
          <p:cNvPr id="5" name="Slide Number Placeholder 4">
            <a:extLst>
              <a:ext uri="{FF2B5EF4-FFF2-40B4-BE49-F238E27FC236}">
                <a16:creationId xmlns:a16="http://schemas.microsoft.com/office/drawing/2014/main" id="{C6FA548B-5AF5-79B3-71B8-D7AF58564773}"/>
              </a:ext>
            </a:extLst>
          </p:cNvPr>
          <p:cNvSpPr>
            <a:spLocks noGrp="1"/>
          </p:cNvSpPr>
          <p:nvPr>
            <p:ph type="sldNum" sz="quarter" idx="11"/>
          </p:nvPr>
        </p:nvSpPr>
        <p:spPr/>
        <p:txBody>
          <a:bodyPr/>
          <a:lstStyle/>
          <a:p>
            <a:pPr>
              <a:defRPr/>
            </a:pPr>
            <a:r>
              <a:rPr lang="en-US"/>
              <a:t>Slide </a:t>
            </a:r>
            <a:fld id="{3A451E74-E241-4D9B-B11E-E03372E7FBBC}" type="slidenum">
              <a:rPr lang="en-US" smtClean="0"/>
              <a:pPr>
                <a:defRPr/>
              </a:pPr>
              <a:t>14</a:t>
            </a:fld>
            <a:endParaRPr lang="en-US"/>
          </a:p>
        </p:txBody>
      </p:sp>
    </p:spTree>
    <p:extLst>
      <p:ext uri="{BB962C8B-B14F-4D97-AF65-F5344CB8AC3E}">
        <p14:creationId xmlns:p14="http://schemas.microsoft.com/office/powerpoint/2010/main" val="2713262755"/>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4078</TotalTime>
  <Words>1103</Words>
  <Application>Microsoft Office PowerPoint</Application>
  <PresentationFormat>On-screen Show (4:3)</PresentationFormat>
  <Paragraphs>157</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SoftMoore2</vt:lpstr>
      <vt:lpstr>Enumerated Types</vt:lpstr>
      <vt:lpstr>Why Enumerated Types</vt:lpstr>
      <vt:lpstr>Enumerated Types in CPRL</vt:lpstr>
      <vt:lpstr>Using Enumerated Types</vt:lpstr>
      <vt:lpstr>Examples: Enumerated Types</vt:lpstr>
      <vt:lpstr>Examples: Enumerated Types (continued)</vt:lpstr>
      <vt:lpstr>Implementing CPRL Enumerated Types</vt:lpstr>
      <vt:lpstr>Constraint Rules for Enumerated Types</vt:lpstr>
      <vt:lpstr>Method parseEnumTypeDecl()</vt:lpstr>
      <vt:lpstr>Method parseEnumTypeDecl() (continued)</vt:lpstr>
      <vt:lpstr>Method parseEnumTypeDecl() (continued)</vt:lpstr>
      <vt:lpstr>Class EnumType</vt:lpstr>
      <vt:lpstr>Method parseEnumConstValue()</vt:lpstr>
      <vt:lpstr>Modification to Class ConstValue for Enum Types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John I. Moore, Jr.</dc:creator>
  <cp:lastModifiedBy>John Moore</cp:lastModifiedBy>
  <cp:revision>231</cp:revision>
  <cp:lastPrinted>2020-04-17T14:05:26Z</cp:lastPrinted>
  <dcterms:created xsi:type="dcterms:W3CDTF">2005-01-12T21:47:45Z</dcterms:created>
  <dcterms:modified xsi:type="dcterms:W3CDTF">2026-08-04T13:40:37Z</dcterms:modified>
</cp:coreProperties>
</file>